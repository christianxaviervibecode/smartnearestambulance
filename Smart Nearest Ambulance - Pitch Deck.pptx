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869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a:effectLst/>
      </p:bgPr>
    </p:bg>
    <p:spTree>
      <p:nvGrpSpPr>
        <p:cNvPr id="1" name=""/>
        <p:cNvGrpSpPr/>
        <p:nvPr/>
      </p:nvGrpSpPr>
      <p:grpSpPr>
        <a:xfrm>
          <a:off x="0" y="0"/>
          <a:ext cx="0" cy="0"/>
          <a:chOff x="0" y="0"/>
          <a:chExt cx="0" cy="0"/>
        </a:xfrm>
      </p:grpSpPr>
      <p:sp>
        <p:nvSpPr>
          <p:cNvPr id="2" name="Shape 0"/>
          <p:cNvSpPr/>
          <p:nvPr/>
        </p:nvSpPr>
        <p:spPr>
          <a:xfrm>
            <a:off x="8869680" y="-1463040"/>
            <a:ext cx="5029200" cy="5029200"/>
          </a:xfrm>
          <a:prstGeom prst="ellipse">
            <a:avLst/>
          </a:prstGeom>
          <a:solidFill>
            <a:srgbClr val="13294B"/>
          </a:solidFill>
          <a:ln/>
        </p:spPr>
      </p:sp>
      <p:sp>
        <p:nvSpPr>
          <p:cNvPr id="3" name="Shape 1"/>
          <p:cNvSpPr/>
          <p:nvPr/>
        </p:nvSpPr>
        <p:spPr>
          <a:xfrm>
            <a:off x="10332720" y="4297680"/>
            <a:ext cx="3657600" cy="3657600"/>
          </a:xfrm>
          <a:prstGeom prst="ellipse">
            <a:avLst/>
          </a:prstGeom>
          <a:solidFill>
            <a:srgbClr val="13294B"/>
          </a:solidFill>
          <a:ln/>
        </p:spPr>
      </p:sp>
      <p:sp>
        <p:nvSpPr>
          <p:cNvPr id="4" name="Shape 2"/>
          <p:cNvSpPr/>
          <p:nvPr/>
        </p:nvSpPr>
        <p:spPr>
          <a:xfrm>
            <a:off x="9646920" y="2331720"/>
            <a:ext cx="777240" cy="777240"/>
          </a:xfrm>
          <a:prstGeom prst="ellipse">
            <a:avLst/>
          </a:prstGeom>
          <a:ln w="28575">
            <a:solidFill>
              <a:srgbClr val="00C2D1"/>
            </a:solidFill>
            <a:prstDash val="solid"/>
          </a:ln>
        </p:spPr>
      </p:sp>
      <p:sp>
        <p:nvSpPr>
          <p:cNvPr id="5" name="Shape 3"/>
          <p:cNvSpPr/>
          <p:nvPr/>
        </p:nvSpPr>
        <p:spPr>
          <a:xfrm>
            <a:off x="9829800" y="2514600"/>
            <a:ext cx="411480" cy="411480"/>
          </a:xfrm>
          <a:prstGeom prst="ellipse">
            <a:avLst/>
          </a:prstGeom>
          <a:solidFill>
            <a:srgbClr val="00C2D1"/>
          </a:solidFill>
          <a:ln/>
        </p:spPr>
      </p:sp>
      <p:sp>
        <p:nvSpPr>
          <p:cNvPr id="6" name="Shape 4"/>
          <p:cNvSpPr/>
          <p:nvPr/>
        </p:nvSpPr>
        <p:spPr>
          <a:xfrm>
            <a:off x="7680960" y="3291840"/>
            <a:ext cx="3291840" cy="0"/>
          </a:xfrm>
          <a:prstGeom prst="line">
            <a:avLst/>
          </a:prstGeom>
          <a:noFill/>
          <a:ln w="19050">
            <a:solidFill>
              <a:srgbClr val="00C2D1"/>
            </a:solidFill>
            <a:prstDash val="dash"/>
          </a:ln>
        </p:spPr>
      </p:sp>
      <p:sp>
        <p:nvSpPr>
          <p:cNvPr id="7" name="Shape 5"/>
          <p:cNvSpPr/>
          <p:nvPr/>
        </p:nvSpPr>
        <p:spPr>
          <a:xfrm>
            <a:off x="7452360" y="3127248"/>
            <a:ext cx="320040" cy="320040"/>
          </a:xfrm>
          <a:prstGeom prst="ellipse">
            <a:avLst/>
          </a:prstGeom>
          <a:solidFill>
            <a:srgbClr val="E4392B"/>
          </a:solidFill>
          <a:ln/>
        </p:spPr>
      </p:sp>
      <p:sp>
        <p:nvSpPr>
          <p:cNvPr id="8" name="Text 6"/>
          <p:cNvSpPr/>
          <p:nvPr/>
        </p:nvSpPr>
        <p:spPr>
          <a:xfrm>
            <a:off x="640080" y="2331720"/>
            <a:ext cx="8229600" cy="365760"/>
          </a:xfrm>
          <a:prstGeom prst="rect">
            <a:avLst/>
          </a:prstGeom>
          <a:noFill/>
          <a:ln/>
        </p:spPr>
        <p:txBody>
          <a:bodyPr wrap="square" lIns="0" tIns="0" rIns="0" bIns="0"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HEALTHCARE TECHNOLOGY  ·  EMERGENCY RESPONSE  ·  SMART CITY</a:t>
            </a:r>
            <a:endParaRPr lang="en-US" sz="1200" dirty="0"/>
          </a:p>
        </p:txBody>
      </p:sp>
      <p:sp>
        <p:nvSpPr>
          <p:cNvPr id="9" name="Text 7"/>
          <p:cNvSpPr/>
          <p:nvPr/>
        </p:nvSpPr>
        <p:spPr>
          <a:xfrm>
            <a:off x="594360" y="2697480"/>
            <a:ext cx="8686800" cy="1737360"/>
          </a:xfrm>
          <a:prstGeom prst="rect">
            <a:avLst/>
          </a:prstGeom>
          <a:noFill/>
          <a:ln/>
        </p:spPr>
        <p:txBody>
          <a:bodyPr wrap="square" lIns="0" tIns="0" rIns="0" bIns="0" rtlCol="0" anchor="ctr"/>
          <a:lstStyle/>
          <a:p>
            <a:pPr marL="0" indent="0">
              <a:lnSpc>
                <a:spcPct val="100000"/>
              </a:lnSpc>
              <a:buNone/>
            </a:pPr>
            <a:r>
              <a:rPr lang="en-US" sz="5200" b="1" dirty="0">
                <a:solidFill>
                  <a:srgbClr val="FFFFFF"/>
                </a:solidFill>
                <a:latin typeface="Montserrat" pitchFamily="34" charset="0"/>
                <a:ea typeface="Montserrat" pitchFamily="34" charset="-122"/>
                <a:cs typeface="Montserrat" pitchFamily="34" charset="-120"/>
              </a:rPr>
              <a:t>SMART NEAREST</a:t>
            </a:r>
            <a:endParaRPr lang="en-US" sz="5200" dirty="0"/>
          </a:p>
          <a:p>
            <a:pPr marL="0" indent="0">
              <a:lnSpc>
                <a:spcPct val="100000"/>
              </a:lnSpc>
              <a:buNone/>
            </a:pPr>
            <a:r>
              <a:rPr lang="en-US" sz="5200" b="1" dirty="0">
                <a:solidFill>
                  <a:srgbClr val="FFFFFF"/>
                </a:solidFill>
                <a:latin typeface="Montserrat" pitchFamily="34" charset="0"/>
                <a:ea typeface="Montserrat" pitchFamily="34" charset="-122"/>
                <a:cs typeface="Montserrat" pitchFamily="34" charset="-120"/>
              </a:rPr>
              <a:t>AMBULANCE</a:t>
            </a:r>
            <a:endParaRPr lang="en-US" sz="5200" dirty="0"/>
          </a:p>
        </p:txBody>
      </p:sp>
      <p:sp>
        <p:nvSpPr>
          <p:cNvPr id="10" name="Text 8"/>
          <p:cNvSpPr/>
          <p:nvPr/>
        </p:nvSpPr>
        <p:spPr>
          <a:xfrm>
            <a:off x="640080" y="4343400"/>
            <a:ext cx="7772400" cy="685800"/>
          </a:xfrm>
          <a:prstGeom prst="rect">
            <a:avLst/>
          </a:prstGeom>
          <a:noFill/>
          <a:ln/>
        </p:spPr>
        <p:txBody>
          <a:bodyPr wrap="square" lIns="0" tIns="0" rIns="0" bIns="0" rtlCol="0" anchor="ctr"/>
          <a:lstStyle/>
          <a:p>
            <a:pPr marL="0" indent="0">
              <a:lnSpc>
                <a:spcPct val="115000"/>
              </a:lnSpc>
              <a:buNone/>
            </a:pPr>
            <a:r>
              <a:rPr lang="en-US" sz="1600" dirty="0">
                <a:solidFill>
                  <a:srgbClr val="AFC2DC"/>
                </a:solidFill>
                <a:latin typeface="Calibri" pitchFamily="34" charset="0"/>
                <a:ea typeface="Calibri" pitchFamily="34" charset="-122"/>
                <a:cs typeface="Calibri" pitchFamily="34" charset="-120"/>
              </a:rPr>
              <a:t>Real-Time GPS Ambulance Monitoring &amp; Nearest Ambulance</a:t>
            </a:r>
            <a:endParaRPr lang="en-US" sz="1600" dirty="0"/>
          </a:p>
          <a:p>
            <a:pPr marL="0" indent="0">
              <a:lnSpc>
                <a:spcPct val="115000"/>
              </a:lnSpc>
              <a:buNone/>
            </a:pPr>
            <a:r>
              <a:rPr lang="en-US" sz="1600" dirty="0">
                <a:solidFill>
                  <a:srgbClr val="AFC2DC"/>
                </a:solidFill>
                <a:latin typeface="Calibri" pitchFamily="34" charset="0"/>
                <a:ea typeface="Calibri" pitchFamily="34" charset="-122"/>
                <a:cs typeface="Calibri" pitchFamily="34" charset="-120"/>
              </a:rPr>
              <a:t>Recommendation System</a:t>
            </a:r>
            <a:endParaRPr lang="en-US" sz="1600" dirty="0"/>
          </a:p>
        </p:txBody>
      </p:sp>
      <p:sp>
        <p:nvSpPr>
          <p:cNvPr id="11" name="Shape 9"/>
          <p:cNvSpPr/>
          <p:nvPr/>
        </p:nvSpPr>
        <p:spPr>
          <a:xfrm>
            <a:off x="658368" y="5166360"/>
            <a:ext cx="1005840" cy="0"/>
          </a:xfrm>
          <a:prstGeom prst="line">
            <a:avLst/>
          </a:prstGeom>
          <a:noFill/>
          <a:ln w="38100">
            <a:solidFill>
              <a:srgbClr val="00C2D1"/>
            </a:solidFill>
            <a:prstDash val="solid"/>
          </a:ln>
        </p:spPr>
      </p:sp>
      <p:sp>
        <p:nvSpPr>
          <p:cNvPr id="12" name="Text 10"/>
          <p:cNvSpPr/>
          <p:nvPr/>
        </p:nvSpPr>
        <p:spPr>
          <a:xfrm>
            <a:off x="640080" y="5303520"/>
            <a:ext cx="8046720" cy="457200"/>
          </a:xfrm>
          <a:prstGeom prst="rect">
            <a:avLst/>
          </a:prstGeom>
          <a:noFill/>
          <a:ln/>
        </p:spPr>
        <p:txBody>
          <a:bodyPr wrap="square" lIns="0" tIns="0" rIns="0" bIns="0" rtlCol="0" anchor="ctr"/>
          <a:lstStyle/>
          <a:p>
            <a:pPr marL="0" indent="0">
              <a:buNone/>
            </a:pPr>
            <a:r>
              <a:rPr lang="en-US" sz="1500" i="1" dirty="0">
                <a:solidFill>
                  <a:srgbClr val="FFFFFF"/>
                </a:solidFill>
                <a:latin typeface="Montserrat" pitchFamily="34" charset="0"/>
                <a:ea typeface="Montserrat" pitchFamily="34" charset="-122"/>
                <a:cs typeface="Montserrat" pitchFamily="34" charset="-120"/>
              </a:rPr>
              <a:t>“Finding the Nearest Ambulance, Improving Emergency Response.”</a:t>
            </a:r>
            <a:endParaRPr lang="en-US" sz="1500" dirty="0"/>
          </a:p>
        </p:txBody>
      </p:sp>
      <p:sp>
        <p:nvSpPr>
          <p:cNvPr id="13" name="Text 11"/>
          <p:cNvSpPr/>
          <p:nvPr/>
        </p:nvSpPr>
        <p:spPr>
          <a:xfrm>
            <a:off x="640080" y="6309360"/>
            <a:ext cx="7315200" cy="320040"/>
          </a:xfrm>
          <a:prstGeom prst="rect">
            <a:avLst/>
          </a:prstGeom>
          <a:noFill/>
          <a:ln/>
        </p:spPr>
        <p:txBody>
          <a:bodyPr wrap="square" lIns="0" tIns="0" rIns="0" bIns="0" rtlCol="0" anchor="ctr"/>
          <a:lstStyle/>
          <a:p>
            <a:pPr marL="0" indent="0">
              <a:buNone/>
            </a:pPr>
            <a:r>
              <a:rPr lang="en-US" sz="1050" dirty="0">
                <a:solidFill>
                  <a:srgbClr val="AFC2DC"/>
                </a:solidFill>
                <a:latin typeface="Calibri" pitchFamily="34" charset="0"/>
                <a:ea typeface="Calibri" pitchFamily="34" charset="-122"/>
                <a:cs typeface="Calibri" pitchFamily="34" charset="-120"/>
              </a:rPr>
              <a:t>Academic Project Presentation  —  Business Requirements Overview</a:t>
            </a:r>
            <a:endParaRPr lang="en-US" sz="10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Latar Belakang</a:t>
            </a:r>
            <a:endParaRPr lang="en-US" sz="3200" dirty="0"/>
          </a:p>
        </p:txBody>
      </p:sp>
      <p:sp>
        <p:nvSpPr>
          <p:cNvPr id="4" name="Shape 2"/>
          <p:cNvSpPr/>
          <p:nvPr/>
        </p:nvSpPr>
        <p:spPr>
          <a:xfrm>
            <a:off x="548640" y="1600200"/>
            <a:ext cx="6903720" cy="4160520"/>
          </a:xfrm>
          <a:prstGeom prst="roundRect">
            <a:avLst>
              <a:gd name="adj" fmla="val 1758"/>
            </a:avLst>
          </a:prstGeom>
          <a:solidFill>
            <a:srgbClr val="F2F6FB"/>
          </a:solidFill>
          <a:ln/>
          <a:effectLst>
            <a:outerShdw blurRad="101600" dist="25400" dir="5400000" algn="bl" rotWithShape="0">
              <a:srgbClr val="9AAFC9">
                <a:alpha val="35000"/>
              </a:srgbClr>
            </a:outerShdw>
          </a:effectLst>
        </p:spPr>
      </p:sp>
      <p:sp>
        <p:nvSpPr>
          <p:cNvPr id="5" name="Text 3"/>
          <p:cNvSpPr/>
          <p:nvPr/>
        </p:nvSpPr>
        <p:spPr>
          <a:xfrm>
            <a:off x="868680" y="1874520"/>
            <a:ext cx="6263640" cy="1874520"/>
          </a:xfrm>
          <a:prstGeom prst="rect">
            <a:avLst/>
          </a:prstGeom>
          <a:noFill/>
          <a:ln/>
        </p:spPr>
        <p:txBody>
          <a:bodyPr wrap="square" lIns="0" tIns="0" rIns="0" bIns="0" rtlCol="0" anchor="t"/>
          <a:lstStyle/>
          <a:p>
            <a:pPr marL="0" indent="0" algn="l">
              <a:lnSpc>
                <a:spcPct val="128000"/>
              </a:lnSpc>
              <a:buNone/>
            </a:pPr>
            <a:r>
              <a:rPr lang="en-US" sz="1350" dirty="0">
                <a:solidFill>
                  <a:srgbClr val="0B1E3D"/>
                </a:solidFill>
                <a:latin typeface="Calibri" pitchFamily="34" charset="0"/>
                <a:ea typeface="Calibri" pitchFamily="34" charset="-122"/>
                <a:cs typeface="Calibri" pitchFamily="34" charset="-120"/>
              </a:rPr>
              <a:t>Dalam kondisi darurat medis, kecepatan respons ambulans menjadi salah satu faktor penting yang dapat meningkatkan peluang keselamatan pasien. Namun, pada banyak rumah sakit atau layanan ambulans, proses pemantauan armada masih dilakukan secara manual melalui panggilan telepon atau aplikasi pesan instan. Kondisi tersebut menyebabkan operator kesulitan mengetahui posisi setiap ambulans secara real-time serta menentukan ambulans yang paling dekat dengan lokasi pasien.</a:t>
            </a:r>
            <a:endParaRPr lang="en-US" sz="1350" dirty="0"/>
          </a:p>
        </p:txBody>
      </p:sp>
      <p:sp>
        <p:nvSpPr>
          <p:cNvPr id="6" name="Shape 4"/>
          <p:cNvSpPr/>
          <p:nvPr/>
        </p:nvSpPr>
        <p:spPr>
          <a:xfrm>
            <a:off x="868680" y="3913632"/>
            <a:ext cx="6263640" cy="0"/>
          </a:xfrm>
          <a:prstGeom prst="line">
            <a:avLst/>
          </a:prstGeom>
          <a:noFill/>
          <a:ln w="12700">
            <a:solidFill>
              <a:srgbClr val="DCE6F2"/>
            </a:solidFill>
            <a:prstDash val="solid"/>
          </a:ln>
        </p:spPr>
      </p:sp>
      <p:sp>
        <p:nvSpPr>
          <p:cNvPr id="7" name="Text 5"/>
          <p:cNvSpPr/>
          <p:nvPr/>
        </p:nvSpPr>
        <p:spPr>
          <a:xfrm>
            <a:off x="868680" y="4114800"/>
            <a:ext cx="6263640" cy="1508760"/>
          </a:xfrm>
          <a:prstGeom prst="rect">
            <a:avLst/>
          </a:prstGeom>
          <a:noFill/>
          <a:ln/>
        </p:spPr>
        <p:txBody>
          <a:bodyPr wrap="square" lIns="0" tIns="0" rIns="0" bIns="0" rtlCol="0" anchor="t"/>
          <a:lstStyle/>
          <a:p>
            <a:pPr marL="0" indent="0" algn="l">
              <a:lnSpc>
                <a:spcPct val="128000"/>
              </a:lnSpc>
              <a:buNone/>
            </a:pPr>
            <a:r>
              <a:rPr lang="en-US" sz="1350" dirty="0">
                <a:solidFill>
                  <a:srgbClr val="0B1E3D"/>
                </a:solidFill>
                <a:latin typeface="Calibri" pitchFamily="34" charset="0"/>
                <a:ea typeface="Calibri" pitchFamily="34" charset="-122"/>
                <a:cs typeface="Calibri" pitchFamily="34" charset="-120"/>
              </a:rPr>
              <a:t>Smart Nearest Ambulance dikembangkan sebagai sistem monitoring armada ambulans berbasis lokasi (GPS) yang membantu operator memantau posisi, status operasional, serta merekomendasikan ambulans terdekat secara otomatis sehingga proses dispatch menjadi lebih cepat, efektif, dan akurat.</a:t>
            </a:r>
            <a:endParaRPr lang="en-US" sz="1350" dirty="0"/>
          </a:p>
        </p:txBody>
      </p:sp>
      <p:sp>
        <p:nvSpPr>
          <p:cNvPr id="8" name="Shape 6"/>
          <p:cNvSpPr/>
          <p:nvPr/>
        </p:nvSpPr>
        <p:spPr>
          <a:xfrm>
            <a:off x="7772400" y="1600200"/>
            <a:ext cx="3886200" cy="2011680"/>
          </a:xfrm>
          <a:prstGeom prst="roundRect">
            <a:avLst>
              <a:gd name="adj" fmla="val 3636"/>
            </a:avLst>
          </a:prstGeom>
          <a:solidFill>
            <a:srgbClr val="13294B"/>
          </a:solidFill>
          <a:ln/>
          <a:effectLst>
            <a:outerShdw blurRad="101600" dist="25400" dir="5400000" algn="bl" rotWithShape="0">
              <a:srgbClr val="9AAFC9">
                <a:alpha val="35000"/>
              </a:srgbClr>
            </a:outerShdw>
          </a:effectLst>
        </p:spPr>
      </p:sp>
      <p:sp>
        <p:nvSpPr>
          <p:cNvPr id="9" name="Shape 7"/>
          <p:cNvSpPr/>
          <p:nvPr/>
        </p:nvSpPr>
        <p:spPr>
          <a:xfrm>
            <a:off x="8046720" y="1810512"/>
            <a:ext cx="502920" cy="502920"/>
          </a:xfrm>
          <a:prstGeom prst="ellipse">
            <a:avLst/>
          </a:prstGeom>
          <a:solidFill>
            <a:srgbClr val="E4392B"/>
          </a:solidFill>
          <a:ln/>
        </p:spPr>
      </p:sp>
      <p:sp>
        <p:nvSpPr>
          <p:cNvPr id="10" name="Text 8"/>
          <p:cNvSpPr/>
          <p:nvPr/>
        </p:nvSpPr>
        <p:spPr>
          <a:xfrm>
            <a:off x="8046720" y="1810512"/>
            <a:ext cx="502920" cy="50292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8732520" y="1810512"/>
            <a:ext cx="2697480" cy="365760"/>
          </a:xfrm>
          <a:prstGeom prst="rect">
            <a:avLst/>
          </a:prstGeom>
          <a:noFill/>
          <a:ln/>
        </p:spPr>
        <p:txBody>
          <a:bodyPr wrap="square" lIns="0" tIns="0" rIns="0" bIns="0" rtlCol="0" anchor="ctr"/>
          <a:lstStyle/>
          <a:p>
            <a:pPr marL="0" indent="0">
              <a:buNone/>
            </a:pPr>
            <a:r>
              <a:rPr lang="en-US" sz="1450" b="1" dirty="0">
                <a:solidFill>
                  <a:srgbClr val="FFFFFF"/>
                </a:solidFill>
                <a:latin typeface="Montserrat" pitchFamily="34" charset="0"/>
                <a:ea typeface="Montserrat" pitchFamily="34" charset="-122"/>
                <a:cs typeface="Montserrat" pitchFamily="34" charset="-120"/>
              </a:rPr>
              <a:t>Kondisi Saat Ini</a:t>
            </a:r>
            <a:endParaRPr lang="en-US" sz="1450" dirty="0"/>
          </a:p>
        </p:txBody>
      </p:sp>
      <p:sp>
        <p:nvSpPr>
          <p:cNvPr id="12" name="Text 10"/>
          <p:cNvSpPr/>
          <p:nvPr/>
        </p:nvSpPr>
        <p:spPr>
          <a:xfrm>
            <a:off x="8046720" y="2331720"/>
            <a:ext cx="3337560" cy="1143000"/>
          </a:xfrm>
          <a:prstGeom prst="rect">
            <a:avLst/>
          </a:prstGeom>
          <a:noFill/>
          <a:ln/>
        </p:spPr>
        <p:txBody>
          <a:bodyPr wrap="square" lIns="0" tIns="0" rIns="0" bIns="0" rtlCol="0" anchor="t"/>
          <a:lstStyle/>
          <a:p>
            <a:pPr marL="0" indent="0">
              <a:lnSpc>
                <a:spcPct val="120000"/>
              </a:lnSpc>
              <a:buNone/>
            </a:pPr>
            <a:r>
              <a:rPr lang="en-US" sz="1150" dirty="0">
                <a:solidFill>
                  <a:srgbClr val="AFC2DC"/>
                </a:solidFill>
                <a:latin typeface="Calibri" pitchFamily="34" charset="0"/>
                <a:ea typeface="Calibri" pitchFamily="34" charset="-122"/>
                <a:cs typeface="Calibri" pitchFamily="34" charset="-120"/>
              </a:rPr>
              <a:t>Pemantauan armada dilakukan secara manual melalui telepon atau aplikasi pesan instan, sehingga posisi ambulans sulit diketahui secara real-time.</a:t>
            </a:r>
            <a:endParaRPr lang="en-US" sz="1150" dirty="0"/>
          </a:p>
        </p:txBody>
      </p:sp>
      <p:sp>
        <p:nvSpPr>
          <p:cNvPr id="13" name="Shape 11"/>
          <p:cNvSpPr/>
          <p:nvPr/>
        </p:nvSpPr>
        <p:spPr>
          <a:xfrm>
            <a:off x="9550908" y="3703320"/>
            <a:ext cx="329184" cy="362102"/>
          </a:xfrm>
          <a:prstGeom prst="downArrow">
            <a:avLst/>
          </a:prstGeom>
          <a:solidFill>
            <a:srgbClr val="1B5FAE"/>
          </a:solidFill>
          <a:ln/>
        </p:spPr>
      </p:sp>
      <p:sp>
        <p:nvSpPr>
          <p:cNvPr id="14" name="Shape 12"/>
          <p:cNvSpPr/>
          <p:nvPr/>
        </p:nvSpPr>
        <p:spPr>
          <a:xfrm>
            <a:off x="7772400" y="4114800"/>
            <a:ext cx="3886200" cy="2103120"/>
          </a:xfrm>
          <a:prstGeom prst="roundRect">
            <a:avLst>
              <a:gd name="adj" fmla="val 3478"/>
            </a:avLst>
          </a:prstGeom>
          <a:solidFill>
            <a:srgbClr val="F2F6FB"/>
          </a:solidFill>
          <a:ln/>
          <a:effectLst>
            <a:outerShdw blurRad="101600" dist="25400" dir="5400000" algn="bl" rotWithShape="0">
              <a:srgbClr val="9AAFC9">
                <a:alpha val="35000"/>
              </a:srgbClr>
            </a:outerShdw>
          </a:effectLst>
        </p:spPr>
      </p:sp>
      <p:sp>
        <p:nvSpPr>
          <p:cNvPr id="15" name="Shape 13"/>
          <p:cNvSpPr/>
          <p:nvPr/>
        </p:nvSpPr>
        <p:spPr>
          <a:xfrm>
            <a:off x="8046720" y="4325112"/>
            <a:ext cx="502920" cy="502920"/>
          </a:xfrm>
          <a:prstGeom prst="ellipse">
            <a:avLst/>
          </a:prstGeom>
          <a:solidFill>
            <a:srgbClr val="1B5FAE"/>
          </a:solidFill>
          <a:ln/>
        </p:spPr>
      </p:sp>
      <p:sp>
        <p:nvSpPr>
          <p:cNvPr id="16" name="Text 14"/>
          <p:cNvSpPr/>
          <p:nvPr/>
        </p:nvSpPr>
        <p:spPr>
          <a:xfrm>
            <a:off x="8046720" y="4325112"/>
            <a:ext cx="502920" cy="50292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8732520" y="4325112"/>
            <a:ext cx="2697480" cy="365760"/>
          </a:xfrm>
          <a:prstGeom prst="rect">
            <a:avLst/>
          </a:prstGeom>
          <a:noFill/>
          <a:ln/>
        </p:spPr>
        <p:txBody>
          <a:bodyPr wrap="square" lIns="0" tIns="0" rIns="0" bIns="0" rtlCol="0" anchor="ctr"/>
          <a:lstStyle/>
          <a:p>
            <a:pPr marL="0" indent="0">
              <a:buNone/>
            </a:pPr>
            <a:r>
              <a:rPr lang="en-US" sz="1450" b="1" dirty="0">
                <a:solidFill>
                  <a:srgbClr val="0B1E3D"/>
                </a:solidFill>
                <a:latin typeface="Montserrat" pitchFamily="34" charset="0"/>
                <a:ea typeface="Montserrat" pitchFamily="34" charset="-122"/>
                <a:cs typeface="Montserrat" pitchFamily="34" charset="-120"/>
              </a:rPr>
              <a:t>Solusi yang Ditawarkan</a:t>
            </a:r>
            <a:endParaRPr lang="en-US" sz="1450" dirty="0"/>
          </a:p>
        </p:txBody>
      </p:sp>
      <p:sp>
        <p:nvSpPr>
          <p:cNvPr id="18" name="Text 16"/>
          <p:cNvSpPr/>
          <p:nvPr/>
        </p:nvSpPr>
        <p:spPr>
          <a:xfrm>
            <a:off x="8046720" y="4846320"/>
            <a:ext cx="3337560" cy="1234440"/>
          </a:xfrm>
          <a:prstGeom prst="rect">
            <a:avLst/>
          </a:prstGeom>
          <a:noFill/>
          <a:ln/>
        </p:spPr>
        <p:txBody>
          <a:bodyPr wrap="square" lIns="0" tIns="0" rIns="0" bIns="0" rtlCol="0" anchor="t"/>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Monitoring berbasis GPS yang menampilkan posisi dan status ambulans secara real-time serta rekomendasi ambulans terdekat secara otomatis.</a:t>
            </a:r>
            <a:endParaRPr lang="en-US" sz="1150" dirty="0"/>
          </a:p>
        </p:txBody>
      </p:sp>
      <p:sp>
        <p:nvSpPr>
          <p:cNvPr id="19" name="Text 17"/>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LATAR BELAKANG</a:t>
            </a:r>
            <a:endParaRPr lang="en-US" sz="900" dirty="0"/>
          </a:p>
        </p:txBody>
      </p:sp>
      <p:sp>
        <p:nvSpPr>
          <p:cNvPr id="20" name="Text 18"/>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02 / 20</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749808"/>
            <a:ext cx="82296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Pernyataan Masalah</a:t>
            </a:r>
            <a:endParaRPr lang="en-US" sz="3200" dirty="0"/>
          </a:p>
        </p:txBody>
      </p:sp>
      <p:sp>
        <p:nvSpPr>
          <p:cNvPr id="4" name="Shape 2"/>
          <p:cNvSpPr/>
          <p:nvPr/>
        </p:nvSpPr>
        <p:spPr>
          <a:xfrm>
            <a:off x="548640" y="1600200"/>
            <a:ext cx="5440680"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5" name="Shape 3"/>
          <p:cNvSpPr/>
          <p:nvPr/>
        </p:nvSpPr>
        <p:spPr>
          <a:xfrm>
            <a:off x="822960" y="1874520"/>
            <a:ext cx="502920" cy="502920"/>
          </a:xfrm>
          <a:prstGeom prst="ellipse">
            <a:avLst/>
          </a:prstGeom>
          <a:solidFill>
            <a:srgbClr val="0B1E3D"/>
          </a:solidFill>
          <a:ln/>
        </p:spPr>
      </p:sp>
      <p:sp>
        <p:nvSpPr>
          <p:cNvPr id="6" name="Text 4"/>
          <p:cNvSpPr/>
          <p:nvPr/>
        </p:nvSpPr>
        <p:spPr>
          <a:xfrm>
            <a:off x="822960" y="1874520"/>
            <a:ext cx="502920" cy="502920"/>
          </a:xfrm>
          <a:prstGeom prst="rect">
            <a:avLst/>
          </a:prstGeom>
          <a:noFill/>
          <a:ln/>
        </p:spPr>
        <p:txBody>
          <a:bodyPr wrap="square" lIns="0" tIns="0" rIns="0" bIns="0" rtlCol="0" anchor="ctr"/>
          <a:lstStyle/>
          <a:p>
            <a:pPr marL="0" indent="0" algn="ctr">
              <a:buNone/>
            </a:pPr>
            <a:r>
              <a:rPr lang="en-US" sz="1200" b="1" dirty="0">
                <a:solidFill>
                  <a:srgbClr val="00C2D1"/>
                </a:solidFill>
                <a:latin typeface="Montserrat" pitchFamily="34" charset="0"/>
                <a:ea typeface="Montserrat" pitchFamily="34" charset="-122"/>
                <a:cs typeface="Montserrat" pitchFamily="34" charset="-120"/>
              </a:rPr>
              <a:t>01</a:t>
            </a:r>
            <a:endParaRPr lang="en-US" sz="1200" dirty="0"/>
          </a:p>
        </p:txBody>
      </p:sp>
      <p:sp>
        <p:nvSpPr>
          <p:cNvPr id="7" name="Text 5"/>
          <p:cNvSpPr/>
          <p:nvPr/>
        </p:nvSpPr>
        <p:spPr>
          <a:xfrm>
            <a:off x="1508760" y="1856232"/>
            <a:ext cx="4206240" cy="594360"/>
          </a:xfrm>
          <a:prstGeom prst="rect">
            <a:avLst/>
          </a:prstGeom>
          <a:noFill/>
          <a:ln/>
        </p:spPr>
        <p:txBody>
          <a:bodyPr wrap="square" lIns="0" tIns="0" rIns="0" bIns="0" rtlCol="0" anchor="t"/>
          <a:lstStyle/>
          <a:p>
            <a:pPr marL="0" indent="0">
              <a:lnSpc>
                <a:spcPct val="110000"/>
              </a:lnSpc>
              <a:buNone/>
            </a:pPr>
            <a:r>
              <a:rPr lang="en-US" sz="1350" b="1" dirty="0">
                <a:solidFill>
                  <a:srgbClr val="0B1E3D"/>
                </a:solidFill>
                <a:latin typeface="Montserrat" pitchFamily="34" charset="0"/>
                <a:ea typeface="Montserrat" pitchFamily="34" charset="-122"/>
                <a:cs typeface="Montserrat" pitchFamily="34" charset="-120"/>
              </a:rPr>
              <a:t>Sulit Mengetahui Posisi Ambulans Secara Real-Time</a:t>
            </a:r>
            <a:endParaRPr lang="en-US" sz="1350" dirty="0"/>
          </a:p>
        </p:txBody>
      </p:sp>
      <p:sp>
        <p:nvSpPr>
          <p:cNvPr id="8" name="Text 6"/>
          <p:cNvSpPr/>
          <p:nvPr/>
        </p:nvSpPr>
        <p:spPr>
          <a:xfrm>
            <a:off x="822960" y="2532888"/>
            <a:ext cx="4892040" cy="914400"/>
          </a:xfrm>
          <a:prstGeom prst="rect">
            <a:avLst/>
          </a:prstGeom>
          <a:noFill/>
          <a:ln/>
        </p:spPr>
        <p:txBody>
          <a:bodyPr wrap="square" lIns="0" tIns="0" rIns="0" bIns="0" rtlCol="0" anchor="t"/>
          <a:lstStyle/>
          <a:p>
            <a:pPr marL="0" indent="0">
              <a:lnSpc>
                <a:spcPct val="122000"/>
              </a:lnSpc>
              <a:buNone/>
            </a:pPr>
            <a:r>
              <a:rPr lang="en-US" sz="1150" dirty="0">
                <a:solidFill>
                  <a:srgbClr val="5B6B82"/>
                </a:solidFill>
                <a:latin typeface="Calibri" pitchFamily="34" charset="0"/>
                <a:ea typeface="Calibri" pitchFamily="34" charset="-122"/>
                <a:cs typeface="Calibri" pitchFamily="34" charset="-120"/>
              </a:rPr>
              <a:t>Operator harus menghubungi sopir secara manual untuk mengetahui lokasi ambulans yang sedang bertugas.</a:t>
            </a:r>
            <a:endParaRPr lang="en-US" sz="1150" dirty="0"/>
          </a:p>
        </p:txBody>
      </p:sp>
      <p:sp>
        <p:nvSpPr>
          <p:cNvPr id="9" name="Shape 7"/>
          <p:cNvSpPr/>
          <p:nvPr/>
        </p:nvSpPr>
        <p:spPr>
          <a:xfrm>
            <a:off x="6263640" y="1600200"/>
            <a:ext cx="5440680"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10" name="Shape 8"/>
          <p:cNvSpPr/>
          <p:nvPr/>
        </p:nvSpPr>
        <p:spPr>
          <a:xfrm>
            <a:off x="6537960" y="1874520"/>
            <a:ext cx="502920" cy="502920"/>
          </a:xfrm>
          <a:prstGeom prst="ellipse">
            <a:avLst/>
          </a:prstGeom>
          <a:solidFill>
            <a:srgbClr val="0B1E3D"/>
          </a:solidFill>
          <a:ln/>
        </p:spPr>
      </p:sp>
      <p:sp>
        <p:nvSpPr>
          <p:cNvPr id="11" name="Text 9"/>
          <p:cNvSpPr/>
          <p:nvPr/>
        </p:nvSpPr>
        <p:spPr>
          <a:xfrm>
            <a:off x="6537960" y="1874520"/>
            <a:ext cx="502920" cy="502920"/>
          </a:xfrm>
          <a:prstGeom prst="rect">
            <a:avLst/>
          </a:prstGeom>
          <a:noFill/>
          <a:ln/>
        </p:spPr>
        <p:txBody>
          <a:bodyPr wrap="square" lIns="0" tIns="0" rIns="0" bIns="0" rtlCol="0" anchor="ctr"/>
          <a:lstStyle/>
          <a:p>
            <a:pPr marL="0" indent="0" algn="ctr">
              <a:buNone/>
            </a:pPr>
            <a:r>
              <a:rPr lang="en-US" sz="1200" b="1" dirty="0">
                <a:solidFill>
                  <a:srgbClr val="00C2D1"/>
                </a:solidFill>
                <a:latin typeface="Montserrat" pitchFamily="34" charset="0"/>
                <a:ea typeface="Montserrat" pitchFamily="34" charset="-122"/>
                <a:cs typeface="Montserrat" pitchFamily="34" charset="-120"/>
              </a:rPr>
              <a:t>02</a:t>
            </a:r>
            <a:endParaRPr lang="en-US" sz="1200" dirty="0"/>
          </a:p>
        </p:txBody>
      </p:sp>
      <p:sp>
        <p:nvSpPr>
          <p:cNvPr id="12" name="Text 10"/>
          <p:cNvSpPr/>
          <p:nvPr/>
        </p:nvSpPr>
        <p:spPr>
          <a:xfrm>
            <a:off x="7223760" y="1856232"/>
            <a:ext cx="4206240" cy="594360"/>
          </a:xfrm>
          <a:prstGeom prst="rect">
            <a:avLst/>
          </a:prstGeom>
          <a:noFill/>
          <a:ln/>
        </p:spPr>
        <p:txBody>
          <a:bodyPr wrap="square" lIns="0" tIns="0" rIns="0" bIns="0" rtlCol="0" anchor="t"/>
          <a:lstStyle/>
          <a:p>
            <a:pPr marL="0" indent="0">
              <a:lnSpc>
                <a:spcPct val="110000"/>
              </a:lnSpc>
              <a:buNone/>
            </a:pPr>
            <a:r>
              <a:rPr lang="en-US" sz="1350" b="1" dirty="0">
                <a:solidFill>
                  <a:srgbClr val="0B1E3D"/>
                </a:solidFill>
                <a:latin typeface="Montserrat" pitchFamily="34" charset="0"/>
                <a:ea typeface="Montserrat" pitchFamily="34" charset="-122"/>
                <a:cs typeface="Montserrat" pitchFamily="34" charset="-120"/>
              </a:rPr>
              <a:t>Proses Dispatch Kurang Optimal</a:t>
            </a:r>
            <a:endParaRPr lang="en-US" sz="1350" dirty="0"/>
          </a:p>
        </p:txBody>
      </p:sp>
      <p:sp>
        <p:nvSpPr>
          <p:cNvPr id="13" name="Text 11"/>
          <p:cNvSpPr/>
          <p:nvPr/>
        </p:nvSpPr>
        <p:spPr>
          <a:xfrm>
            <a:off x="6537960" y="2532888"/>
            <a:ext cx="4892040" cy="914400"/>
          </a:xfrm>
          <a:prstGeom prst="rect">
            <a:avLst/>
          </a:prstGeom>
          <a:noFill/>
          <a:ln/>
        </p:spPr>
        <p:txBody>
          <a:bodyPr wrap="square" lIns="0" tIns="0" rIns="0" bIns="0" rtlCol="0" anchor="t"/>
          <a:lstStyle/>
          <a:p>
            <a:pPr marL="0" indent="0">
              <a:lnSpc>
                <a:spcPct val="122000"/>
              </a:lnSpc>
              <a:buNone/>
            </a:pPr>
            <a:r>
              <a:rPr lang="en-US" sz="1150" dirty="0">
                <a:solidFill>
                  <a:srgbClr val="5B6B82"/>
                </a:solidFill>
                <a:latin typeface="Calibri" pitchFamily="34" charset="0"/>
                <a:ea typeface="Calibri" pitchFamily="34" charset="-122"/>
                <a:cs typeface="Calibri" pitchFamily="34" charset="-120"/>
              </a:rPr>
              <a:t>Penentuan ambulans yang akan ditugaskan masih berdasarkan perkiraan atau pengalaman operator sehingga berpotensi memilih ambulans yang bukan paling dekat.</a:t>
            </a:r>
            <a:endParaRPr lang="en-US" sz="1150" dirty="0"/>
          </a:p>
        </p:txBody>
      </p:sp>
      <p:sp>
        <p:nvSpPr>
          <p:cNvPr id="14" name="Shape 12"/>
          <p:cNvSpPr/>
          <p:nvPr/>
        </p:nvSpPr>
        <p:spPr>
          <a:xfrm>
            <a:off x="548640" y="3840480"/>
            <a:ext cx="5440680"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15" name="Shape 13"/>
          <p:cNvSpPr/>
          <p:nvPr/>
        </p:nvSpPr>
        <p:spPr>
          <a:xfrm>
            <a:off x="822960" y="4114800"/>
            <a:ext cx="502920" cy="502920"/>
          </a:xfrm>
          <a:prstGeom prst="ellipse">
            <a:avLst/>
          </a:prstGeom>
          <a:solidFill>
            <a:srgbClr val="0B1E3D"/>
          </a:solidFill>
          <a:ln/>
        </p:spPr>
      </p:sp>
      <p:sp>
        <p:nvSpPr>
          <p:cNvPr id="16" name="Text 14"/>
          <p:cNvSpPr/>
          <p:nvPr/>
        </p:nvSpPr>
        <p:spPr>
          <a:xfrm>
            <a:off x="822960" y="4114800"/>
            <a:ext cx="502920" cy="502920"/>
          </a:xfrm>
          <a:prstGeom prst="rect">
            <a:avLst/>
          </a:prstGeom>
          <a:noFill/>
          <a:ln/>
        </p:spPr>
        <p:txBody>
          <a:bodyPr wrap="square" lIns="0" tIns="0" rIns="0" bIns="0" rtlCol="0" anchor="ctr"/>
          <a:lstStyle/>
          <a:p>
            <a:pPr marL="0" indent="0" algn="ctr">
              <a:buNone/>
            </a:pPr>
            <a:r>
              <a:rPr lang="en-US" sz="1200" b="1" dirty="0">
                <a:solidFill>
                  <a:srgbClr val="00C2D1"/>
                </a:solidFill>
                <a:latin typeface="Montserrat" pitchFamily="34" charset="0"/>
                <a:ea typeface="Montserrat" pitchFamily="34" charset="-122"/>
                <a:cs typeface="Montserrat" pitchFamily="34" charset="-120"/>
              </a:rPr>
              <a:t>03</a:t>
            </a:r>
            <a:endParaRPr lang="en-US" sz="1200" dirty="0"/>
          </a:p>
        </p:txBody>
      </p:sp>
      <p:sp>
        <p:nvSpPr>
          <p:cNvPr id="17" name="Text 15"/>
          <p:cNvSpPr/>
          <p:nvPr/>
        </p:nvSpPr>
        <p:spPr>
          <a:xfrm>
            <a:off x="1508760" y="4096512"/>
            <a:ext cx="4206240" cy="594360"/>
          </a:xfrm>
          <a:prstGeom prst="rect">
            <a:avLst/>
          </a:prstGeom>
          <a:noFill/>
          <a:ln/>
        </p:spPr>
        <p:txBody>
          <a:bodyPr wrap="square" lIns="0" tIns="0" rIns="0" bIns="0" rtlCol="0" anchor="t"/>
          <a:lstStyle/>
          <a:p>
            <a:pPr marL="0" indent="0">
              <a:lnSpc>
                <a:spcPct val="110000"/>
              </a:lnSpc>
              <a:buNone/>
            </a:pPr>
            <a:r>
              <a:rPr lang="en-US" sz="1350" b="1" dirty="0">
                <a:solidFill>
                  <a:srgbClr val="0B1E3D"/>
                </a:solidFill>
                <a:latin typeface="Montserrat" pitchFamily="34" charset="0"/>
                <a:ea typeface="Montserrat" pitchFamily="34" charset="-122"/>
                <a:cs typeface="Montserrat" pitchFamily="34" charset="-120"/>
              </a:rPr>
              <a:t>Kurangnya Visibilitas Kondisi Armada</a:t>
            </a:r>
            <a:endParaRPr lang="en-US" sz="1350" dirty="0"/>
          </a:p>
        </p:txBody>
      </p:sp>
      <p:sp>
        <p:nvSpPr>
          <p:cNvPr id="18" name="Text 16"/>
          <p:cNvSpPr/>
          <p:nvPr/>
        </p:nvSpPr>
        <p:spPr>
          <a:xfrm>
            <a:off x="822960" y="4773168"/>
            <a:ext cx="4892040" cy="914400"/>
          </a:xfrm>
          <a:prstGeom prst="rect">
            <a:avLst/>
          </a:prstGeom>
          <a:noFill/>
          <a:ln/>
        </p:spPr>
        <p:txBody>
          <a:bodyPr wrap="square" lIns="0" tIns="0" rIns="0" bIns="0" rtlCol="0" anchor="t"/>
          <a:lstStyle/>
          <a:p>
            <a:pPr marL="0" indent="0">
              <a:lnSpc>
                <a:spcPct val="122000"/>
              </a:lnSpc>
              <a:buNone/>
            </a:pPr>
            <a:r>
              <a:rPr lang="en-US" sz="1150" dirty="0">
                <a:solidFill>
                  <a:srgbClr val="5B6B82"/>
                </a:solidFill>
                <a:latin typeface="Calibri" pitchFamily="34" charset="0"/>
                <a:ea typeface="Calibri" pitchFamily="34" charset="-122"/>
                <a:cs typeface="Calibri" pitchFamily="34" charset="-120"/>
              </a:rPr>
              <a:t>Operator tidak mengetahui apakah ambulans sedang tersedia, sedang membawa pasien, atau sedang tidak aktif.</a:t>
            </a:r>
            <a:endParaRPr lang="en-US" sz="1150" dirty="0"/>
          </a:p>
        </p:txBody>
      </p:sp>
      <p:sp>
        <p:nvSpPr>
          <p:cNvPr id="19" name="Shape 17"/>
          <p:cNvSpPr/>
          <p:nvPr/>
        </p:nvSpPr>
        <p:spPr>
          <a:xfrm>
            <a:off x="6263640" y="3840480"/>
            <a:ext cx="5440680"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20" name="Shape 18"/>
          <p:cNvSpPr/>
          <p:nvPr/>
        </p:nvSpPr>
        <p:spPr>
          <a:xfrm>
            <a:off x="6537960" y="4114800"/>
            <a:ext cx="502920" cy="502920"/>
          </a:xfrm>
          <a:prstGeom prst="ellipse">
            <a:avLst/>
          </a:prstGeom>
          <a:solidFill>
            <a:srgbClr val="0B1E3D"/>
          </a:solidFill>
          <a:ln/>
        </p:spPr>
      </p:sp>
      <p:sp>
        <p:nvSpPr>
          <p:cNvPr id="21" name="Text 19"/>
          <p:cNvSpPr/>
          <p:nvPr/>
        </p:nvSpPr>
        <p:spPr>
          <a:xfrm>
            <a:off x="6537960" y="4114800"/>
            <a:ext cx="502920" cy="502920"/>
          </a:xfrm>
          <a:prstGeom prst="rect">
            <a:avLst/>
          </a:prstGeom>
          <a:noFill/>
          <a:ln/>
        </p:spPr>
        <p:txBody>
          <a:bodyPr wrap="square" lIns="0" tIns="0" rIns="0" bIns="0" rtlCol="0" anchor="ctr"/>
          <a:lstStyle/>
          <a:p>
            <a:pPr marL="0" indent="0" algn="ctr">
              <a:buNone/>
            </a:pPr>
            <a:r>
              <a:rPr lang="en-US" sz="1200" b="1" dirty="0">
                <a:solidFill>
                  <a:srgbClr val="00C2D1"/>
                </a:solidFill>
                <a:latin typeface="Montserrat" pitchFamily="34" charset="0"/>
                <a:ea typeface="Montserrat" pitchFamily="34" charset="-122"/>
                <a:cs typeface="Montserrat" pitchFamily="34" charset="-120"/>
              </a:rPr>
              <a:t>04</a:t>
            </a:r>
            <a:endParaRPr lang="en-US" sz="1200" dirty="0"/>
          </a:p>
        </p:txBody>
      </p:sp>
      <p:sp>
        <p:nvSpPr>
          <p:cNvPr id="22" name="Text 20"/>
          <p:cNvSpPr/>
          <p:nvPr/>
        </p:nvSpPr>
        <p:spPr>
          <a:xfrm>
            <a:off x="7223760" y="4096512"/>
            <a:ext cx="4206240" cy="594360"/>
          </a:xfrm>
          <a:prstGeom prst="rect">
            <a:avLst/>
          </a:prstGeom>
          <a:noFill/>
          <a:ln/>
        </p:spPr>
        <p:txBody>
          <a:bodyPr wrap="square" lIns="0" tIns="0" rIns="0" bIns="0" rtlCol="0" anchor="t"/>
          <a:lstStyle/>
          <a:p>
            <a:pPr marL="0" indent="0">
              <a:lnSpc>
                <a:spcPct val="110000"/>
              </a:lnSpc>
              <a:buNone/>
            </a:pPr>
            <a:r>
              <a:rPr lang="en-US" sz="1350" b="1" dirty="0">
                <a:solidFill>
                  <a:srgbClr val="0B1E3D"/>
                </a:solidFill>
                <a:latin typeface="Montserrat" pitchFamily="34" charset="0"/>
                <a:ea typeface="Montserrat" pitchFamily="34" charset="-122"/>
                <a:cs typeface="Montserrat" pitchFamily="34" charset="-120"/>
              </a:rPr>
              <a:t>Tidak Adanya Riwayat Operasional</a:t>
            </a:r>
            <a:endParaRPr lang="en-US" sz="1350" dirty="0"/>
          </a:p>
        </p:txBody>
      </p:sp>
      <p:sp>
        <p:nvSpPr>
          <p:cNvPr id="23" name="Text 21"/>
          <p:cNvSpPr/>
          <p:nvPr/>
        </p:nvSpPr>
        <p:spPr>
          <a:xfrm>
            <a:off x="6537960" y="4773168"/>
            <a:ext cx="4892040" cy="914400"/>
          </a:xfrm>
          <a:prstGeom prst="rect">
            <a:avLst/>
          </a:prstGeom>
          <a:noFill/>
          <a:ln/>
        </p:spPr>
        <p:txBody>
          <a:bodyPr wrap="square" lIns="0" tIns="0" rIns="0" bIns="0" rtlCol="0" anchor="t"/>
          <a:lstStyle/>
          <a:p>
            <a:pPr marL="0" indent="0">
              <a:lnSpc>
                <a:spcPct val="122000"/>
              </a:lnSpc>
              <a:buNone/>
            </a:pPr>
            <a:r>
              <a:rPr lang="en-US" sz="1150" dirty="0">
                <a:solidFill>
                  <a:srgbClr val="5B6B82"/>
                </a:solidFill>
                <a:latin typeface="Calibri" pitchFamily="34" charset="0"/>
                <a:ea typeface="Calibri" pitchFamily="34" charset="-122"/>
                <a:cs typeface="Calibri" pitchFamily="34" charset="-120"/>
              </a:rPr>
              <a:t>Rumah sakit kesulitan melakukan evaluasi terhadap aktivitas dan pergerakan armada ambulans.</a:t>
            </a:r>
            <a:endParaRPr lang="en-US" sz="1150" dirty="0"/>
          </a:p>
        </p:txBody>
      </p:sp>
      <p:sp>
        <p:nvSpPr>
          <p:cNvPr id="24" name="Shape 22"/>
          <p:cNvSpPr/>
          <p:nvPr/>
        </p:nvSpPr>
        <p:spPr>
          <a:xfrm>
            <a:off x="548640" y="5806440"/>
            <a:ext cx="2514600" cy="457200"/>
          </a:xfrm>
          <a:prstGeom prst="roundRect">
            <a:avLst>
              <a:gd name="adj" fmla="val 12000"/>
            </a:avLst>
          </a:prstGeom>
          <a:solidFill>
            <a:srgbClr val="13294B"/>
          </a:solidFill>
          <a:ln/>
        </p:spPr>
      </p:sp>
      <p:sp>
        <p:nvSpPr>
          <p:cNvPr id="25" name="Text 23"/>
          <p:cNvSpPr/>
          <p:nvPr/>
        </p:nvSpPr>
        <p:spPr>
          <a:xfrm>
            <a:off x="548640" y="5806440"/>
            <a:ext cx="251460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Manual</a:t>
            </a:r>
            <a:endParaRPr lang="en-US" sz="1150" dirty="0"/>
          </a:p>
        </p:txBody>
      </p:sp>
      <p:sp>
        <p:nvSpPr>
          <p:cNvPr id="26" name="Shape 24"/>
          <p:cNvSpPr/>
          <p:nvPr/>
        </p:nvSpPr>
        <p:spPr>
          <a:xfrm>
            <a:off x="3072384" y="5952744"/>
            <a:ext cx="118872" cy="164592"/>
          </a:xfrm>
          <a:prstGeom prst="chevron">
            <a:avLst/>
          </a:prstGeom>
          <a:solidFill>
            <a:srgbClr val="5B6B82"/>
          </a:solidFill>
          <a:ln/>
        </p:spPr>
      </p:sp>
      <p:sp>
        <p:nvSpPr>
          <p:cNvPr id="27" name="Shape 25"/>
          <p:cNvSpPr/>
          <p:nvPr/>
        </p:nvSpPr>
        <p:spPr>
          <a:xfrm>
            <a:off x="3200400" y="5806440"/>
            <a:ext cx="2514600" cy="457200"/>
          </a:xfrm>
          <a:prstGeom prst="roundRect">
            <a:avLst>
              <a:gd name="adj" fmla="val 12000"/>
            </a:avLst>
          </a:prstGeom>
          <a:solidFill>
            <a:srgbClr val="13294B"/>
          </a:solidFill>
          <a:ln/>
        </p:spPr>
      </p:sp>
      <p:sp>
        <p:nvSpPr>
          <p:cNvPr id="28" name="Text 26"/>
          <p:cNvSpPr/>
          <p:nvPr/>
        </p:nvSpPr>
        <p:spPr>
          <a:xfrm>
            <a:off x="3200400" y="5806440"/>
            <a:ext cx="251460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Tidak Terlihat</a:t>
            </a:r>
            <a:endParaRPr lang="en-US" sz="1150" dirty="0"/>
          </a:p>
        </p:txBody>
      </p:sp>
      <p:sp>
        <p:nvSpPr>
          <p:cNvPr id="29" name="Shape 27"/>
          <p:cNvSpPr/>
          <p:nvPr/>
        </p:nvSpPr>
        <p:spPr>
          <a:xfrm>
            <a:off x="5724144" y="5952744"/>
            <a:ext cx="118872" cy="164592"/>
          </a:xfrm>
          <a:prstGeom prst="chevron">
            <a:avLst/>
          </a:prstGeom>
          <a:solidFill>
            <a:srgbClr val="5B6B82"/>
          </a:solidFill>
          <a:ln/>
        </p:spPr>
      </p:sp>
      <p:sp>
        <p:nvSpPr>
          <p:cNvPr id="30" name="Shape 28"/>
          <p:cNvSpPr/>
          <p:nvPr/>
        </p:nvSpPr>
        <p:spPr>
          <a:xfrm>
            <a:off x="5852160" y="5806440"/>
            <a:ext cx="2514600" cy="457200"/>
          </a:xfrm>
          <a:prstGeom prst="roundRect">
            <a:avLst>
              <a:gd name="adj" fmla="val 12000"/>
            </a:avLst>
          </a:prstGeom>
          <a:solidFill>
            <a:srgbClr val="13294B"/>
          </a:solidFill>
          <a:ln/>
        </p:spPr>
      </p:sp>
      <p:sp>
        <p:nvSpPr>
          <p:cNvPr id="31" name="Text 29"/>
          <p:cNvSpPr/>
          <p:nvPr/>
        </p:nvSpPr>
        <p:spPr>
          <a:xfrm>
            <a:off x="5852160" y="5806440"/>
            <a:ext cx="251460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Lambat</a:t>
            </a:r>
            <a:endParaRPr lang="en-US" sz="1150" dirty="0"/>
          </a:p>
        </p:txBody>
      </p:sp>
      <p:sp>
        <p:nvSpPr>
          <p:cNvPr id="32" name="Shape 30"/>
          <p:cNvSpPr/>
          <p:nvPr/>
        </p:nvSpPr>
        <p:spPr>
          <a:xfrm>
            <a:off x="8375904" y="5952744"/>
            <a:ext cx="118872" cy="164592"/>
          </a:xfrm>
          <a:prstGeom prst="chevron">
            <a:avLst/>
          </a:prstGeom>
          <a:solidFill>
            <a:srgbClr val="5B6B82"/>
          </a:solidFill>
          <a:ln/>
        </p:spPr>
      </p:sp>
      <p:sp>
        <p:nvSpPr>
          <p:cNvPr id="33" name="Shape 31"/>
          <p:cNvSpPr/>
          <p:nvPr/>
        </p:nvSpPr>
        <p:spPr>
          <a:xfrm>
            <a:off x="8503920" y="5806440"/>
            <a:ext cx="2514600" cy="457200"/>
          </a:xfrm>
          <a:prstGeom prst="roundRect">
            <a:avLst>
              <a:gd name="adj" fmla="val 12000"/>
            </a:avLst>
          </a:prstGeom>
          <a:solidFill>
            <a:srgbClr val="E4392B"/>
          </a:solidFill>
          <a:ln/>
        </p:spPr>
      </p:sp>
      <p:sp>
        <p:nvSpPr>
          <p:cNvPr id="34" name="Text 32"/>
          <p:cNvSpPr/>
          <p:nvPr/>
        </p:nvSpPr>
        <p:spPr>
          <a:xfrm>
            <a:off x="8503920" y="5806440"/>
            <a:ext cx="251460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Sulit Dievaluasi</a:t>
            </a:r>
            <a:endParaRPr lang="en-US" sz="115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PROBLEM STATEMENT</a:t>
            </a:r>
            <a:endParaRPr lang="en-US" sz="900" dirty="0"/>
          </a:p>
        </p:txBody>
      </p:sp>
      <p:sp>
        <p:nvSpPr>
          <p:cNvPr id="36" name="Text 34"/>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03 / 20</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00C2D1"/>
                </a:solidFill>
                <a:latin typeface="Calibri" pitchFamily="34" charset="0"/>
                <a:ea typeface="Calibri" pitchFamily="34" charset="-122"/>
                <a:cs typeface="Calibri" pitchFamily="34" charset="-120"/>
              </a:rPr>
              <a:t>BUSINESS OBJECTIVES</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FFFFFF"/>
                </a:solidFill>
                <a:latin typeface="Montserrat" pitchFamily="34" charset="0"/>
                <a:ea typeface="Montserrat" pitchFamily="34" charset="-122"/>
                <a:cs typeface="Montserrat" pitchFamily="34" charset="-120"/>
              </a:rPr>
              <a:t>Tujuan Bisnis</a:t>
            </a:r>
            <a:endParaRPr lang="en-US" sz="3200" dirty="0"/>
          </a:p>
        </p:txBody>
      </p:sp>
      <p:sp>
        <p:nvSpPr>
          <p:cNvPr id="4" name="Shape 2"/>
          <p:cNvSpPr/>
          <p:nvPr/>
        </p:nvSpPr>
        <p:spPr>
          <a:xfrm>
            <a:off x="548640" y="1645920"/>
            <a:ext cx="2651760" cy="283464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5" name="Shape 3"/>
          <p:cNvSpPr/>
          <p:nvPr/>
        </p:nvSpPr>
        <p:spPr>
          <a:xfrm>
            <a:off x="1508760" y="1965960"/>
            <a:ext cx="731520" cy="731520"/>
          </a:xfrm>
          <a:prstGeom prst="ellipse">
            <a:avLst/>
          </a:prstGeom>
          <a:solidFill>
            <a:srgbClr val="1B5FAE"/>
          </a:solidFill>
          <a:ln/>
        </p:spPr>
      </p:sp>
      <p:sp>
        <p:nvSpPr>
          <p:cNvPr id="6" name="Text 4"/>
          <p:cNvSpPr/>
          <p:nvPr/>
        </p:nvSpPr>
        <p:spPr>
          <a:xfrm>
            <a:off x="1508760" y="1965960"/>
            <a:ext cx="731520" cy="73152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731520" y="2880360"/>
            <a:ext cx="2286000" cy="54864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Monitoring Real-Time</a:t>
            </a:r>
            <a:endParaRPr lang="en-US" sz="1350" dirty="0"/>
          </a:p>
        </p:txBody>
      </p:sp>
      <p:sp>
        <p:nvSpPr>
          <p:cNvPr id="8" name="Text 6"/>
          <p:cNvSpPr/>
          <p:nvPr/>
        </p:nvSpPr>
        <p:spPr>
          <a:xfrm>
            <a:off x="777240" y="3429000"/>
            <a:ext cx="2194560" cy="960120"/>
          </a:xfrm>
          <a:prstGeom prst="rect">
            <a:avLst/>
          </a:prstGeom>
          <a:noFill/>
          <a:ln/>
        </p:spPr>
        <p:txBody>
          <a:bodyPr wrap="square" lIns="0" tIns="0" rIns="0" bIns="0" rtlCol="0" anchor="ctr"/>
          <a:lstStyle/>
          <a:p>
            <a:pPr marL="0" indent="0" algn="ctr">
              <a:lnSpc>
                <a:spcPct val="122000"/>
              </a:lnSpc>
              <a:buNone/>
            </a:pPr>
            <a:r>
              <a:rPr lang="en-US" sz="1050" dirty="0">
                <a:solidFill>
                  <a:srgbClr val="AFC2DC"/>
                </a:solidFill>
                <a:latin typeface="Calibri" pitchFamily="34" charset="0"/>
                <a:ea typeface="Calibri" pitchFamily="34" charset="-122"/>
                <a:cs typeface="Calibri" pitchFamily="34" charset="-120"/>
              </a:rPr>
              <a:t>Membantu operator memantau lokasi seluruh ambulans secara real-time.</a:t>
            </a:r>
            <a:endParaRPr lang="en-US" sz="1050" dirty="0"/>
          </a:p>
        </p:txBody>
      </p:sp>
      <p:sp>
        <p:nvSpPr>
          <p:cNvPr id="9" name="Shape 7"/>
          <p:cNvSpPr/>
          <p:nvPr/>
        </p:nvSpPr>
        <p:spPr>
          <a:xfrm>
            <a:off x="3401568" y="1645920"/>
            <a:ext cx="2651760" cy="283464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10" name="Shape 8"/>
          <p:cNvSpPr/>
          <p:nvPr/>
        </p:nvSpPr>
        <p:spPr>
          <a:xfrm>
            <a:off x="4361688" y="1965960"/>
            <a:ext cx="731520" cy="731520"/>
          </a:xfrm>
          <a:prstGeom prst="ellipse">
            <a:avLst/>
          </a:prstGeom>
          <a:solidFill>
            <a:srgbClr val="1B5FAE"/>
          </a:solidFill>
          <a:ln/>
        </p:spPr>
      </p:sp>
      <p:sp>
        <p:nvSpPr>
          <p:cNvPr id="11" name="Text 9"/>
          <p:cNvSpPr/>
          <p:nvPr/>
        </p:nvSpPr>
        <p:spPr>
          <a:xfrm>
            <a:off x="4361688" y="1965960"/>
            <a:ext cx="731520" cy="73152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2" name="Text 10"/>
          <p:cNvSpPr/>
          <p:nvPr/>
        </p:nvSpPr>
        <p:spPr>
          <a:xfrm>
            <a:off x="3584448" y="2880360"/>
            <a:ext cx="2286000" cy="54864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Faster Dispatch</a:t>
            </a:r>
            <a:endParaRPr lang="en-US" sz="1350" dirty="0"/>
          </a:p>
        </p:txBody>
      </p:sp>
      <p:sp>
        <p:nvSpPr>
          <p:cNvPr id="13" name="Text 11"/>
          <p:cNvSpPr/>
          <p:nvPr/>
        </p:nvSpPr>
        <p:spPr>
          <a:xfrm>
            <a:off x="3630168" y="3429000"/>
            <a:ext cx="2194560" cy="960120"/>
          </a:xfrm>
          <a:prstGeom prst="rect">
            <a:avLst/>
          </a:prstGeom>
          <a:noFill/>
          <a:ln/>
        </p:spPr>
        <p:txBody>
          <a:bodyPr wrap="square" lIns="0" tIns="0" rIns="0" bIns="0" rtlCol="0" anchor="ctr"/>
          <a:lstStyle/>
          <a:p>
            <a:pPr marL="0" indent="0" algn="ctr">
              <a:lnSpc>
                <a:spcPct val="122000"/>
              </a:lnSpc>
              <a:buNone/>
            </a:pPr>
            <a:r>
              <a:rPr lang="en-US" sz="1050" dirty="0">
                <a:solidFill>
                  <a:srgbClr val="AFC2DC"/>
                </a:solidFill>
                <a:latin typeface="Calibri" pitchFamily="34" charset="0"/>
                <a:ea typeface="Calibri" pitchFamily="34" charset="-122"/>
                <a:cs typeface="Calibri" pitchFamily="34" charset="-120"/>
              </a:rPr>
              <a:t>Mempercepat proses penentuan ambulans yang akan ditugaskan kepada pasien melalui rekomendasi ambulans terdekat.</a:t>
            </a:r>
            <a:endParaRPr lang="en-US" sz="1050" dirty="0"/>
          </a:p>
        </p:txBody>
      </p:sp>
      <p:sp>
        <p:nvSpPr>
          <p:cNvPr id="14" name="Shape 12"/>
          <p:cNvSpPr/>
          <p:nvPr/>
        </p:nvSpPr>
        <p:spPr>
          <a:xfrm>
            <a:off x="6254496" y="1645920"/>
            <a:ext cx="2651760" cy="283464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15" name="Shape 13"/>
          <p:cNvSpPr/>
          <p:nvPr/>
        </p:nvSpPr>
        <p:spPr>
          <a:xfrm>
            <a:off x="7214616" y="1965960"/>
            <a:ext cx="731520" cy="731520"/>
          </a:xfrm>
          <a:prstGeom prst="ellipse">
            <a:avLst/>
          </a:prstGeom>
          <a:solidFill>
            <a:srgbClr val="1B5FAE"/>
          </a:solidFill>
          <a:ln/>
        </p:spPr>
      </p:sp>
      <p:sp>
        <p:nvSpPr>
          <p:cNvPr id="16" name="Text 14"/>
          <p:cNvSpPr/>
          <p:nvPr/>
        </p:nvSpPr>
        <p:spPr>
          <a:xfrm>
            <a:off x="7214616" y="1965960"/>
            <a:ext cx="731520" cy="73152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7" name="Text 15"/>
          <p:cNvSpPr/>
          <p:nvPr/>
        </p:nvSpPr>
        <p:spPr>
          <a:xfrm>
            <a:off x="6437376" y="2880360"/>
            <a:ext cx="2286000" cy="54864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Better Coordination</a:t>
            </a:r>
            <a:endParaRPr lang="en-US" sz="1350" dirty="0"/>
          </a:p>
        </p:txBody>
      </p:sp>
      <p:sp>
        <p:nvSpPr>
          <p:cNvPr id="18" name="Text 16"/>
          <p:cNvSpPr/>
          <p:nvPr/>
        </p:nvSpPr>
        <p:spPr>
          <a:xfrm>
            <a:off x="6483096" y="3429000"/>
            <a:ext cx="2194560" cy="960120"/>
          </a:xfrm>
          <a:prstGeom prst="rect">
            <a:avLst/>
          </a:prstGeom>
          <a:noFill/>
          <a:ln/>
        </p:spPr>
        <p:txBody>
          <a:bodyPr wrap="square" lIns="0" tIns="0" rIns="0" bIns="0" rtlCol="0" anchor="ctr"/>
          <a:lstStyle/>
          <a:p>
            <a:pPr marL="0" indent="0" algn="ctr">
              <a:lnSpc>
                <a:spcPct val="122000"/>
              </a:lnSpc>
              <a:buNone/>
            </a:pPr>
            <a:r>
              <a:rPr lang="en-US" sz="1050" dirty="0">
                <a:solidFill>
                  <a:srgbClr val="AFC2DC"/>
                </a:solidFill>
                <a:latin typeface="Calibri" pitchFamily="34" charset="0"/>
                <a:ea typeface="Calibri" pitchFamily="34" charset="-122"/>
                <a:cs typeface="Calibri" pitchFamily="34" charset="-120"/>
              </a:rPr>
              <a:t>Meningkatkan efisiensi koordinasi antara operator dan sopir ambulans.</a:t>
            </a:r>
            <a:endParaRPr lang="en-US" sz="1050" dirty="0"/>
          </a:p>
        </p:txBody>
      </p:sp>
      <p:sp>
        <p:nvSpPr>
          <p:cNvPr id="19" name="Shape 17"/>
          <p:cNvSpPr/>
          <p:nvPr/>
        </p:nvSpPr>
        <p:spPr>
          <a:xfrm>
            <a:off x="9107424" y="1645920"/>
            <a:ext cx="2651760" cy="283464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20" name="Shape 18"/>
          <p:cNvSpPr/>
          <p:nvPr/>
        </p:nvSpPr>
        <p:spPr>
          <a:xfrm>
            <a:off x="10067544" y="1965960"/>
            <a:ext cx="731520" cy="731520"/>
          </a:xfrm>
          <a:prstGeom prst="ellipse">
            <a:avLst/>
          </a:prstGeom>
          <a:solidFill>
            <a:srgbClr val="1B5FAE"/>
          </a:solidFill>
          <a:ln/>
        </p:spPr>
      </p:sp>
      <p:sp>
        <p:nvSpPr>
          <p:cNvPr id="21" name="Text 19"/>
          <p:cNvSpPr/>
          <p:nvPr/>
        </p:nvSpPr>
        <p:spPr>
          <a:xfrm>
            <a:off x="10067544" y="1965960"/>
            <a:ext cx="731520" cy="73152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22" name="Text 20"/>
          <p:cNvSpPr/>
          <p:nvPr/>
        </p:nvSpPr>
        <p:spPr>
          <a:xfrm>
            <a:off x="9290304" y="2880360"/>
            <a:ext cx="2286000" cy="54864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Operational Evaluation</a:t>
            </a:r>
            <a:endParaRPr lang="en-US" sz="1350" dirty="0"/>
          </a:p>
        </p:txBody>
      </p:sp>
      <p:sp>
        <p:nvSpPr>
          <p:cNvPr id="23" name="Text 21"/>
          <p:cNvSpPr/>
          <p:nvPr/>
        </p:nvSpPr>
        <p:spPr>
          <a:xfrm>
            <a:off x="9336024" y="3429000"/>
            <a:ext cx="2194560" cy="960120"/>
          </a:xfrm>
          <a:prstGeom prst="rect">
            <a:avLst/>
          </a:prstGeom>
          <a:noFill/>
          <a:ln/>
        </p:spPr>
        <p:txBody>
          <a:bodyPr wrap="square" lIns="0" tIns="0" rIns="0" bIns="0" rtlCol="0" anchor="ctr"/>
          <a:lstStyle/>
          <a:p>
            <a:pPr marL="0" indent="0" algn="ctr">
              <a:lnSpc>
                <a:spcPct val="122000"/>
              </a:lnSpc>
              <a:buNone/>
            </a:pPr>
            <a:r>
              <a:rPr lang="en-US" sz="1050" dirty="0">
                <a:solidFill>
                  <a:srgbClr val="AFC2DC"/>
                </a:solidFill>
                <a:latin typeface="Calibri" pitchFamily="34" charset="0"/>
                <a:ea typeface="Calibri" pitchFamily="34" charset="-122"/>
                <a:cs typeface="Calibri" pitchFamily="34" charset="-120"/>
              </a:rPr>
              <a:t>Menyediakan riwayat perjalanan dan status operasional ambulans sebagai bahan evaluasi pelayanan.</a:t>
            </a:r>
            <a:endParaRPr lang="en-US" sz="1050" dirty="0"/>
          </a:p>
        </p:txBody>
      </p:sp>
      <p:sp>
        <p:nvSpPr>
          <p:cNvPr id="24" name="Shape 22"/>
          <p:cNvSpPr/>
          <p:nvPr/>
        </p:nvSpPr>
        <p:spPr>
          <a:xfrm>
            <a:off x="685800" y="4892040"/>
            <a:ext cx="2423160" cy="502920"/>
          </a:xfrm>
          <a:prstGeom prst="roundRect">
            <a:avLst>
              <a:gd name="adj" fmla="val 50909"/>
            </a:avLst>
          </a:prstGeom>
          <a:solidFill>
            <a:srgbClr val="00C2D1"/>
          </a:solidFill>
          <a:ln/>
        </p:spPr>
      </p:sp>
      <p:sp>
        <p:nvSpPr>
          <p:cNvPr id="25" name="Text 23"/>
          <p:cNvSpPr/>
          <p:nvPr/>
        </p:nvSpPr>
        <p:spPr>
          <a:xfrm>
            <a:off x="685800" y="4892040"/>
            <a:ext cx="2423160" cy="502920"/>
          </a:xfrm>
          <a:prstGeom prst="rect">
            <a:avLst/>
          </a:prstGeom>
          <a:noFill/>
          <a:ln/>
        </p:spPr>
        <p:txBody>
          <a:bodyPr wrap="square" lIns="0" tIns="0" rIns="0" bIns="0" rtlCol="0" anchor="ctr"/>
          <a:lstStyle/>
          <a:p>
            <a:pPr marL="0" indent="0" algn="ctr">
              <a:buNone/>
            </a:pPr>
            <a:r>
              <a:rPr lang="en-US" sz="1200" b="1" dirty="0">
                <a:solidFill>
                  <a:srgbClr val="0B1E3D"/>
                </a:solidFill>
                <a:latin typeface="Calibri" pitchFamily="34" charset="0"/>
                <a:ea typeface="Calibri" pitchFamily="34" charset="-122"/>
                <a:cs typeface="Calibri" pitchFamily="34" charset="-120"/>
              </a:rPr>
              <a:t>Monitor</a:t>
            </a:r>
            <a:endParaRPr lang="en-US" sz="1200" dirty="0"/>
          </a:p>
        </p:txBody>
      </p:sp>
      <p:sp>
        <p:nvSpPr>
          <p:cNvPr id="26" name="Text 24"/>
          <p:cNvSpPr/>
          <p:nvPr/>
        </p:nvSpPr>
        <p:spPr>
          <a:xfrm>
            <a:off x="3108960" y="489204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3611880" y="4892040"/>
            <a:ext cx="2423160" cy="502920"/>
          </a:xfrm>
          <a:prstGeom prst="roundRect">
            <a:avLst>
              <a:gd name="adj" fmla="val 50909"/>
            </a:avLst>
          </a:prstGeom>
          <a:solidFill>
            <a:srgbClr val="1B5FAE"/>
          </a:solidFill>
          <a:ln/>
        </p:spPr>
      </p:sp>
      <p:sp>
        <p:nvSpPr>
          <p:cNvPr id="28" name="Text 26"/>
          <p:cNvSpPr/>
          <p:nvPr/>
        </p:nvSpPr>
        <p:spPr>
          <a:xfrm>
            <a:off x="3611880" y="4892040"/>
            <a:ext cx="2423160" cy="502920"/>
          </a:xfrm>
          <a:prstGeom prst="rect">
            <a:avLst/>
          </a:prstGeom>
          <a:noFill/>
          <a:ln/>
        </p:spPr>
        <p:txBody>
          <a:bodyPr wrap="square" lIns="0" tIns="0" rIns="0" bIns="0" rtlCol="0" anchor="ctr"/>
          <a:lstStyle/>
          <a:p>
            <a:pPr marL="0" indent="0" algn="ctr">
              <a:buNone/>
            </a:pPr>
            <a:r>
              <a:rPr lang="en-US" sz="1200" b="1" dirty="0">
                <a:solidFill>
                  <a:srgbClr val="0B1E3D"/>
                </a:solidFill>
                <a:latin typeface="Calibri" pitchFamily="34" charset="0"/>
                <a:ea typeface="Calibri" pitchFamily="34" charset="-122"/>
                <a:cs typeface="Calibri" pitchFamily="34" charset="-120"/>
              </a:rPr>
              <a:t>Recommend</a:t>
            </a:r>
            <a:endParaRPr lang="en-US" sz="1200" dirty="0"/>
          </a:p>
        </p:txBody>
      </p:sp>
      <p:sp>
        <p:nvSpPr>
          <p:cNvPr id="29" name="Text 27"/>
          <p:cNvSpPr/>
          <p:nvPr/>
        </p:nvSpPr>
        <p:spPr>
          <a:xfrm>
            <a:off x="6035040" y="489204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6537960" y="4892040"/>
            <a:ext cx="2423160" cy="502920"/>
          </a:xfrm>
          <a:prstGeom prst="roundRect">
            <a:avLst>
              <a:gd name="adj" fmla="val 50909"/>
            </a:avLst>
          </a:prstGeom>
          <a:solidFill>
            <a:srgbClr val="00C2D1"/>
          </a:solidFill>
          <a:ln/>
        </p:spPr>
      </p:sp>
      <p:sp>
        <p:nvSpPr>
          <p:cNvPr id="31" name="Text 29"/>
          <p:cNvSpPr/>
          <p:nvPr/>
        </p:nvSpPr>
        <p:spPr>
          <a:xfrm>
            <a:off x="6537960" y="4892040"/>
            <a:ext cx="2423160" cy="502920"/>
          </a:xfrm>
          <a:prstGeom prst="rect">
            <a:avLst/>
          </a:prstGeom>
          <a:noFill/>
          <a:ln/>
        </p:spPr>
        <p:txBody>
          <a:bodyPr wrap="square" lIns="0" tIns="0" rIns="0" bIns="0" rtlCol="0" anchor="ctr"/>
          <a:lstStyle/>
          <a:p>
            <a:pPr marL="0" indent="0" algn="ctr">
              <a:buNone/>
            </a:pPr>
            <a:r>
              <a:rPr lang="en-US" sz="1200" b="1" dirty="0">
                <a:solidFill>
                  <a:srgbClr val="0B1E3D"/>
                </a:solidFill>
                <a:latin typeface="Calibri" pitchFamily="34" charset="0"/>
                <a:ea typeface="Calibri" pitchFamily="34" charset="-122"/>
                <a:cs typeface="Calibri" pitchFamily="34" charset="-120"/>
              </a:rPr>
              <a:t>Coordinate</a:t>
            </a:r>
            <a:endParaRPr lang="en-US" sz="1200" dirty="0"/>
          </a:p>
        </p:txBody>
      </p:sp>
      <p:sp>
        <p:nvSpPr>
          <p:cNvPr id="32" name="Text 30"/>
          <p:cNvSpPr/>
          <p:nvPr/>
        </p:nvSpPr>
        <p:spPr>
          <a:xfrm>
            <a:off x="8961120" y="489204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33" name="Shape 31"/>
          <p:cNvSpPr/>
          <p:nvPr/>
        </p:nvSpPr>
        <p:spPr>
          <a:xfrm>
            <a:off x="9464040" y="4892040"/>
            <a:ext cx="2423160" cy="502920"/>
          </a:xfrm>
          <a:prstGeom prst="roundRect">
            <a:avLst>
              <a:gd name="adj" fmla="val 50909"/>
            </a:avLst>
          </a:prstGeom>
          <a:solidFill>
            <a:srgbClr val="1B5FAE"/>
          </a:solidFill>
          <a:ln/>
        </p:spPr>
      </p:sp>
      <p:sp>
        <p:nvSpPr>
          <p:cNvPr id="34" name="Text 32"/>
          <p:cNvSpPr/>
          <p:nvPr/>
        </p:nvSpPr>
        <p:spPr>
          <a:xfrm>
            <a:off x="9464040" y="4892040"/>
            <a:ext cx="2423160" cy="502920"/>
          </a:xfrm>
          <a:prstGeom prst="rect">
            <a:avLst/>
          </a:prstGeom>
          <a:noFill/>
          <a:ln/>
        </p:spPr>
        <p:txBody>
          <a:bodyPr wrap="square" lIns="0" tIns="0" rIns="0" bIns="0" rtlCol="0" anchor="ctr"/>
          <a:lstStyle/>
          <a:p>
            <a:pPr marL="0" indent="0" algn="ctr">
              <a:buNone/>
            </a:pPr>
            <a:r>
              <a:rPr lang="en-US" sz="1200" b="1" dirty="0">
                <a:solidFill>
                  <a:srgbClr val="0B1E3D"/>
                </a:solidFill>
                <a:latin typeface="Calibri" pitchFamily="34" charset="0"/>
                <a:ea typeface="Calibri" pitchFamily="34" charset="-122"/>
                <a:cs typeface="Calibri" pitchFamily="34" charset="-120"/>
              </a:rPr>
              <a:t>Evaluate</a:t>
            </a:r>
            <a:endParaRPr lang="en-US" sz="120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AFC2DC"/>
                </a:solidFill>
                <a:latin typeface="Calibri" pitchFamily="34" charset="0"/>
                <a:ea typeface="Calibri" pitchFamily="34" charset="-122"/>
                <a:cs typeface="Calibri" pitchFamily="34" charset="-120"/>
              </a:rPr>
              <a:t>BUSINESS OBJECTIVES</a:t>
            </a:r>
            <a:endParaRPr lang="en-US" sz="900" dirty="0"/>
          </a:p>
        </p:txBody>
      </p:sp>
      <p:sp>
        <p:nvSpPr>
          <p:cNvPr id="36" name="Text 34"/>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AFC2DC"/>
                </a:solidFill>
                <a:latin typeface="Calibri" pitchFamily="34" charset="0"/>
                <a:ea typeface="Calibri" pitchFamily="34" charset="-122"/>
                <a:cs typeface="Calibri" pitchFamily="34" charset="-120"/>
              </a:rPr>
              <a:t>04 / 20</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749808"/>
            <a:ext cx="9144000" cy="822960"/>
          </a:xfrm>
          <a:prstGeom prst="rect">
            <a:avLst/>
          </a:prstGeom>
          <a:noFill/>
          <a:ln/>
        </p:spPr>
        <p:txBody>
          <a:bodyPr wrap="square" lIns="0" tIns="0" rIns="0" bIns="0" rtlCol="0" anchor="ctr"/>
          <a:lstStyle/>
          <a:p>
            <a:pPr marL="0" indent="0" algn="l">
              <a:lnSpc>
                <a:spcPct val="102000"/>
              </a:lnSpc>
              <a:buNone/>
            </a:pPr>
            <a:r>
              <a:rPr lang="en-US" sz="3000" b="1" dirty="0">
                <a:solidFill>
                  <a:srgbClr val="0B1E3D"/>
                </a:solidFill>
                <a:latin typeface="Montserrat" pitchFamily="34" charset="0"/>
                <a:ea typeface="Montserrat" pitchFamily="34" charset="-122"/>
                <a:cs typeface="Montserrat" pitchFamily="34" charset="-120"/>
              </a:rPr>
              <a:t>Introducing Smart Nearest Ambulance</a:t>
            </a:r>
            <a:endParaRPr lang="en-US" sz="3000" dirty="0"/>
          </a:p>
        </p:txBody>
      </p:sp>
      <p:sp>
        <p:nvSpPr>
          <p:cNvPr id="4" name="Shape 2"/>
          <p:cNvSpPr/>
          <p:nvPr/>
        </p:nvSpPr>
        <p:spPr>
          <a:xfrm>
            <a:off x="548640" y="1691640"/>
            <a:ext cx="4754880" cy="4480560"/>
          </a:xfrm>
          <a:prstGeom prst="roundRect">
            <a:avLst>
              <a:gd name="adj" fmla="val 1633"/>
            </a:avLst>
          </a:prstGeom>
          <a:solidFill>
            <a:srgbClr val="F2F6FB"/>
          </a:solidFill>
          <a:ln/>
          <a:effectLst>
            <a:outerShdw blurRad="101600" dist="25400" dir="5400000" algn="bl" rotWithShape="0">
              <a:srgbClr val="9AAFC9">
                <a:alpha val="35000"/>
              </a:srgbClr>
            </a:outerShdw>
          </a:effectLst>
        </p:spPr>
      </p:sp>
      <p:sp>
        <p:nvSpPr>
          <p:cNvPr id="5" name="Text 3"/>
          <p:cNvSpPr/>
          <p:nvPr/>
        </p:nvSpPr>
        <p:spPr>
          <a:xfrm>
            <a:off x="868680" y="2011680"/>
            <a:ext cx="4160520" cy="1828800"/>
          </a:xfrm>
          <a:prstGeom prst="rect">
            <a:avLst/>
          </a:prstGeom>
          <a:noFill/>
          <a:ln/>
        </p:spPr>
        <p:txBody>
          <a:bodyPr wrap="square" lIns="0" tIns="0" rIns="0" bIns="0" rtlCol="0" anchor="t"/>
          <a:lstStyle/>
          <a:p>
            <a:pPr marL="0" indent="0">
              <a:lnSpc>
                <a:spcPct val="130000"/>
              </a:lnSpc>
              <a:buNone/>
            </a:pPr>
            <a:r>
              <a:rPr lang="en-US" sz="1450" dirty="0">
                <a:solidFill>
                  <a:srgbClr val="0B1E3D"/>
                </a:solidFill>
                <a:latin typeface="Calibri" pitchFamily="34" charset="0"/>
                <a:ea typeface="Calibri" pitchFamily="34" charset="-122"/>
                <a:cs typeface="Calibri" pitchFamily="34" charset="-120"/>
              </a:rPr>
              <a:t>Smart Nearest Ambulance adalah sistem monitoring armada ambulans berbasis GPS yang membantu operator memantau posisi, status operasional, serta merekomendasikan ambulans terdekat secara otomatis.</a:t>
            </a:r>
            <a:endParaRPr lang="en-US" sz="1450" dirty="0"/>
          </a:p>
        </p:txBody>
      </p:sp>
      <p:sp>
        <p:nvSpPr>
          <p:cNvPr id="6" name="Shape 4"/>
          <p:cNvSpPr/>
          <p:nvPr/>
        </p:nvSpPr>
        <p:spPr>
          <a:xfrm>
            <a:off x="868680" y="3977640"/>
            <a:ext cx="4160520" cy="0"/>
          </a:xfrm>
          <a:prstGeom prst="line">
            <a:avLst/>
          </a:prstGeom>
          <a:noFill/>
          <a:ln w="12700">
            <a:solidFill>
              <a:srgbClr val="DCE6F2"/>
            </a:solidFill>
            <a:prstDash val="solid"/>
          </a:ln>
        </p:spPr>
      </p:sp>
      <p:sp>
        <p:nvSpPr>
          <p:cNvPr id="7" name="Text 5"/>
          <p:cNvSpPr/>
          <p:nvPr/>
        </p:nvSpPr>
        <p:spPr>
          <a:xfrm>
            <a:off x="868680" y="4160520"/>
            <a:ext cx="4160520" cy="320040"/>
          </a:xfrm>
          <a:prstGeom prst="rect">
            <a:avLst/>
          </a:prstGeom>
          <a:noFill/>
          <a:ln/>
        </p:spPr>
        <p:txBody>
          <a:bodyPr wrap="square" lIns="0" tIns="0" rIns="0" bIns="0" rtlCol="0" anchor="ctr"/>
          <a:lstStyle/>
          <a:p>
            <a:pPr marL="0" indent="0">
              <a:buNone/>
            </a:pPr>
            <a:r>
              <a:rPr lang="en-US" sz="1300" b="1" dirty="0">
                <a:solidFill>
                  <a:srgbClr val="0B1E3D"/>
                </a:solidFill>
                <a:latin typeface="Montserrat" pitchFamily="34" charset="0"/>
                <a:ea typeface="Montserrat" pitchFamily="34" charset="-122"/>
                <a:cs typeface="Montserrat" pitchFamily="34" charset="-120"/>
              </a:rPr>
              <a:t>Fokus utama sistem:</a:t>
            </a:r>
            <a:endParaRPr lang="en-US" sz="1300" dirty="0"/>
          </a:p>
        </p:txBody>
      </p:sp>
      <p:sp>
        <p:nvSpPr>
          <p:cNvPr id="8" name="Text 6"/>
          <p:cNvSpPr/>
          <p:nvPr/>
        </p:nvSpPr>
        <p:spPr>
          <a:xfrm>
            <a:off x="868680" y="4526280"/>
            <a:ext cx="4160520" cy="411480"/>
          </a:xfrm>
          <a:prstGeom prst="rect">
            <a:avLst/>
          </a:prstGeom>
          <a:noFill/>
          <a:ln/>
        </p:spPr>
        <p:txBody>
          <a:bodyPr wrap="square" lIns="0" tIns="0" rIns="0" bIns="0" rtlCol="0" anchor="ctr"/>
          <a:lstStyle/>
          <a:p>
            <a:pPr marL="0" indent="0">
              <a:lnSpc>
                <a:spcPct val="115000"/>
              </a:lnSpc>
              <a:buNone/>
            </a:pPr>
            <a:r>
              <a:rPr lang="en-US" sz="1200" dirty="0">
                <a:solidFill>
                  <a:srgbClr val="5B6B82"/>
                </a:solidFill>
                <a:latin typeface="Calibri" pitchFamily="34" charset="0"/>
                <a:ea typeface="Calibri" pitchFamily="34" charset="-122"/>
                <a:cs typeface="Calibri" pitchFamily="34" charset="-120"/>
              </a:rPr>
              <a:t>• Memantau posisi ambulans secara real-time</a:t>
            </a:r>
            <a:endParaRPr lang="en-US" sz="1200" dirty="0"/>
          </a:p>
        </p:txBody>
      </p:sp>
      <p:sp>
        <p:nvSpPr>
          <p:cNvPr id="9" name="Text 7"/>
          <p:cNvSpPr/>
          <p:nvPr/>
        </p:nvSpPr>
        <p:spPr>
          <a:xfrm>
            <a:off x="868680" y="4983480"/>
            <a:ext cx="4160520" cy="411480"/>
          </a:xfrm>
          <a:prstGeom prst="rect">
            <a:avLst/>
          </a:prstGeom>
          <a:noFill/>
          <a:ln/>
        </p:spPr>
        <p:txBody>
          <a:bodyPr wrap="square" lIns="0" tIns="0" rIns="0" bIns="0" rtlCol="0" anchor="ctr"/>
          <a:lstStyle/>
          <a:p>
            <a:pPr marL="0" indent="0">
              <a:lnSpc>
                <a:spcPct val="115000"/>
              </a:lnSpc>
              <a:buNone/>
            </a:pPr>
            <a:r>
              <a:rPr lang="en-US" sz="1200" dirty="0">
                <a:solidFill>
                  <a:srgbClr val="5B6B82"/>
                </a:solidFill>
                <a:latin typeface="Calibri" pitchFamily="34" charset="0"/>
                <a:ea typeface="Calibri" pitchFamily="34" charset="-122"/>
                <a:cs typeface="Calibri" pitchFamily="34" charset="-120"/>
              </a:rPr>
              <a:t>• Mengelola status operasional armada</a:t>
            </a:r>
            <a:endParaRPr lang="en-US" sz="1200" dirty="0"/>
          </a:p>
        </p:txBody>
      </p:sp>
      <p:sp>
        <p:nvSpPr>
          <p:cNvPr id="10" name="Text 8"/>
          <p:cNvSpPr/>
          <p:nvPr/>
        </p:nvSpPr>
        <p:spPr>
          <a:xfrm>
            <a:off x="868680" y="5440680"/>
            <a:ext cx="4160520" cy="411480"/>
          </a:xfrm>
          <a:prstGeom prst="rect">
            <a:avLst/>
          </a:prstGeom>
          <a:noFill/>
          <a:ln/>
        </p:spPr>
        <p:txBody>
          <a:bodyPr wrap="square" lIns="0" tIns="0" rIns="0" bIns="0" rtlCol="0" anchor="ctr"/>
          <a:lstStyle/>
          <a:p>
            <a:pPr marL="0" indent="0">
              <a:lnSpc>
                <a:spcPct val="115000"/>
              </a:lnSpc>
              <a:buNone/>
            </a:pPr>
            <a:r>
              <a:rPr lang="en-US" sz="1200" dirty="0">
                <a:solidFill>
                  <a:srgbClr val="5B6B82"/>
                </a:solidFill>
                <a:latin typeface="Calibri" pitchFamily="34" charset="0"/>
                <a:ea typeface="Calibri" pitchFamily="34" charset="-122"/>
                <a:cs typeface="Calibri" pitchFamily="34" charset="-120"/>
              </a:rPr>
              <a:t>• Merekomendasikan ambulans terdekat secara otomatis</a:t>
            </a:r>
            <a:endParaRPr lang="en-US" sz="1200" dirty="0"/>
          </a:p>
        </p:txBody>
      </p:sp>
      <p:sp>
        <p:nvSpPr>
          <p:cNvPr id="11" name="Shape 9"/>
          <p:cNvSpPr/>
          <p:nvPr/>
        </p:nvSpPr>
        <p:spPr>
          <a:xfrm>
            <a:off x="5806440" y="1691640"/>
            <a:ext cx="5806440" cy="566928"/>
          </a:xfrm>
          <a:prstGeom prst="roundRect">
            <a:avLst>
              <a:gd name="adj" fmla="val 14516"/>
            </a:avLst>
          </a:prstGeom>
          <a:solidFill>
            <a:srgbClr val="0B1E3D"/>
          </a:solidFill>
          <a:ln/>
        </p:spPr>
      </p:sp>
      <p:sp>
        <p:nvSpPr>
          <p:cNvPr id="12" name="Text 10"/>
          <p:cNvSpPr/>
          <p:nvPr/>
        </p:nvSpPr>
        <p:spPr>
          <a:xfrm>
            <a:off x="5806440" y="1691640"/>
            <a:ext cx="58064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Driver Mobile App</a:t>
            </a:r>
            <a:endParaRPr lang="en-US" sz="1300" dirty="0"/>
          </a:p>
        </p:txBody>
      </p:sp>
      <p:sp>
        <p:nvSpPr>
          <p:cNvPr id="13" name="Shape 11"/>
          <p:cNvSpPr/>
          <p:nvPr/>
        </p:nvSpPr>
        <p:spPr>
          <a:xfrm>
            <a:off x="8609076" y="2240280"/>
            <a:ext cx="201168" cy="178308"/>
          </a:xfrm>
          <a:prstGeom prst="downArrow">
            <a:avLst/>
          </a:prstGeom>
          <a:solidFill>
            <a:srgbClr val="5B6B82"/>
          </a:solidFill>
          <a:ln/>
        </p:spPr>
      </p:sp>
      <p:sp>
        <p:nvSpPr>
          <p:cNvPr id="14" name="Shape 12"/>
          <p:cNvSpPr/>
          <p:nvPr/>
        </p:nvSpPr>
        <p:spPr>
          <a:xfrm>
            <a:off x="5806440" y="2382012"/>
            <a:ext cx="5806440" cy="566928"/>
          </a:xfrm>
          <a:prstGeom prst="roundRect">
            <a:avLst>
              <a:gd name="adj" fmla="val 14516"/>
            </a:avLst>
          </a:prstGeom>
          <a:solidFill>
            <a:srgbClr val="1B5FAE"/>
          </a:solidFill>
          <a:ln/>
        </p:spPr>
      </p:sp>
      <p:sp>
        <p:nvSpPr>
          <p:cNvPr id="15" name="Text 13"/>
          <p:cNvSpPr/>
          <p:nvPr/>
        </p:nvSpPr>
        <p:spPr>
          <a:xfrm>
            <a:off x="5806440" y="2382012"/>
            <a:ext cx="58064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GPS Location</a:t>
            </a:r>
            <a:endParaRPr lang="en-US" sz="1300" dirty="0"/>
          </a:p>
        </p:txBody>
      </p:sp>
      <p:sp>
        <p:nvSpPr>
          <p:cNvPr id="16" name="Shape 14"/>
          <p:cNvSpPr/>
          <p:nvPr/>
        </p:nvSpPr>
        <p:spPr>
          <a:xfrm>
            <a:off x="8609076" y="2930652"/>
            <a:ext cx="201168" cy="178308"/>
          </a:xfrm>
          <a:prstGeom prst="downArrow">
            <a:avLst/>
          </a:prstGeom>
          <a:solidFill>
            <a:srgbClr val="5B6B82"/>
          </a:solidFill>
          <a:ln/>
        </p:spPr>
      </p:sp>
      <p:sp>
        <p:nvSpPr>
          <p:cNvPr id="17" name="Shape 15"/>
          <p:cNvSpPr/>
          <p:nvPr/>
        </p:nvSpPr>
        <p:spPr>
          <a:xfrm>
            <a:off x="5806440" y="3072384"/>
            <a:ext cx="5806440" cy="566928"/>
          </a:xfrm>
          <a:prstGeom prst="roundRect">
            <a:avLst>
              <a:gd name="adj" fmla="val 14516"/>
            </a:avLst>
          </a:prstGeom>
          <a:solidFill>
            <a:srgbClr val="0B1E3D"/>
          </a:solidFill>
          <a:ln/>
        </p:spPr>
      </p:sp>
      <p:sp>
        <p:nvSpPr>
          <p:cNvPr id="18" name="Text 16"/>
          <p:cNvSpPr/>
          <p:nvPr/>
        </p:nvSpPr>
        <p:spPr>
          <a:xfrm>
            <a:off x="5806440" y="3072384"/>
            <a:ext cx="58064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p:txBody>
      </p:sp>
      <p:sp>
        <p:nvSpPr>
          <p:cNvPr id="19" name="Shape 17"/>
          <p:cNvSpPr/>
          <p:nvPr/>
        </p:nvSpPr>
        <p:spPr>
          <a:xfrm>
            <a:off x="8609076" y="3621024"/>
            <a:ext cx="201168" cy="178308"/>
          </a:xfrm>
          <a:prstGeom prst="downArrow">
            <a:avLst/>
          </a:prstGeom>
          <a:solidFill>
            <a:srgbClr val="5B6B82"/>
          </a:solidFill>
          <a:ln/>
        </p:spPr>
      </p:sp>
      <p:sp>
        <p:nvSpPr>
          <p:cNvPr id="20" name="Shape 18"/>
          <p:cNvSpPr/>
          <p:nvPr/>
        </p:nvSpPr>
        <p:spPr>
          <a:xfrm>
            <a:off x="5806440" y="3762756"/>
            <a:ext cx="5806440" cy="566928"/>
          </a:xfrm>
          <a:prstGeom prst="roundRect">
            <a:avLst>
              <a:gd name="adj" fmla="val 14516"/>
            </a:avLst>
          </a:prstGeom>
          <a:solidFill>
            <a:srgbClr val="1B5FAE"/>
          </a:solidFill>
          <a:ln/>
        </p:spPr>
      </p:sp>
      <p:sp>
        <p:nvSpPr>
          <p:cNvPr id="21" name="Text 19"/>
          <p:cNvSpPr/>
          <p:nvPr/>
        </p:nvSpPr>
        <p:spPr>
          <a:xfrm>
            <a:off x="5806440" y="3762756"/>
            <a:ext cx="58064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Operator Dashboard</a:t>
            </a:r>
            <a:endParaRPr lang="en-US" sz="1300" dirty="0"/>
          </a:p>
        </p:txBody>
      </p:sp>
      <p:sp>
        <p:nvSpPr>
          <p:cNvPr id="22" name="Shape 20"/>
          <p:cNvSpPr/>
          <p:nvPr/>
        </p:nvSpPr>
        <p:spPr>
          <a:xfrm>
            <a:off x="8609076" y="4311396"/>
            <a:ext cx="201168" cy="178308"/>
          </a:xfrm>
          <a:prstGeom prst="downArrow">
            <a:avLst/>
          </a:prstGeom>
          <a:solidFill>
            <a:srgbClr val="5B6B82"/>
          </a:solidFill>
          <a:ln/>
        </p:spPr>
      </p:sp>
      <p:sp>
        <p:nvSpPr>
          <p:cNvPr id="23" name="Shape 21"/>
          <p:cNvSpPr/>
          <p:nvPr/>
        </p:nvSpPr>
        <p:spPr>
          <a:xfrm>
            <a:off x="5806440" y="4453128"/>
            <a:ext cx="5806440" cy="566928"/>
          </a:xfrm>
          <a:prstGeom prst="roundRect">
            <a:avLst>
              <a:gd name="adj" fmla="val 14516"/>
            </a:avLst>
          </a:prstGeom>
          <a:solidFill>
            <a:srgbClr val="0B1E3D"/>
          </a:solidFill>
          <a:ln/>
        </p:spPr>
      </p:sp>
      <p:sp>
        <p:nvSpPr>
          <p:cNvPr id="24" name="Text 22"/>
          <p:cNvSpPr/>
          <p:nvPr/>
        </p:nvSpPr>
        <p:spPr>
          <a:xfrm>
            <a:off x="5806440" y="4453128"/>
            <a:ext cx="58064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Nearest Ambulance Recommendation</a:t>
            </a:r>
            <a:endParaRPr lang="en-US" sz="1300" dirty="0"/>
          </a:p>
        </p:txBody>
      </p:sp>
      <p:sp>
        <p:nvSpPr>
          <p:cNvPr id="25" name="Shape 23"/>
          <p:cNvSpPr/>
          <p:nvPr/>
        </p:nvSpPr>
        <p:spPr>
          <a:xfrm>
            <a:off x="8609076" y="5001768"/>
            <a:ext cx="201168" cy="178308"/>
          </a:xfrm>
          <a:prstGeom prst="downArrow">
            <a:avLst/>
          </a:prstGeom>
          <a:solidFill>
            <a:srgbClr val="5B6B82"/>
          </a:solidFill>
          <a:ln/>
        </p:spPr>
      </p:sp>
      <p:sp>
        <p:nvSpPr>
          <p:cNvPr id="26" name="Shape 24"/>
          <p:cNvSpPr/>
          <p:nvPr/>
        </p:nvSpPr>
        <p:spPr>
          <a:xfrm>
            <a:off x="5806440" y="5143500"/>
            <a:ext cx="5806440" cy="566928"/>
          </a:xfrm>
          <a:prstGeom prst="roundRect">
            <a:avLst>
              <a:gd name="adj" fmla="val 14516"/>
            </a:avLst>
          </a:prstGeom>
          <a:solidFill>
            <a:srgbClr val="E4392B"/>
          </a:solidFill>
          <a:ln/>
        </p:spPr>
      </p:sp>
      <p:sp>
        <p:nvSpPr>
          <p:cNvPr id="27" name="Text 25"/>
          <p:cNvSpPr/>
          <p:nvPr/>
        </p:nvSpPr>
        <p:spPr>
          <a:xfrm>
            <a:off x="5806440" y="5143500"/>
            <a:ext cx="580644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Dispatch</a:t>
            </a:r>
            <a:endParaRPr lang="en-US" sz="1300" dirty="0"/>
          </a:p>
        </p:txBody>
      </p:sp>
      <p:sp>
        <p:nvSpPr>
          <p:cNvPr id="28" name="Text 26"/>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SOLUSI</a:t>
            </a:r>
            <a:endParaRPr lang="en-US" sz="900" dirty="0"/>
          </a:p>
        </p:txBody>
      </p:sp>
      <p:sp>
        <p:nvSpPr>
          <p:cNvPr id="29" name="Text 27"/>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05 / 20</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49808"/>
            <a:ext cx="91440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Bagaimana Sistem Bekerja?</a:t>
            </a:r>
            <a:endParaRPr lang="en-US" sz="3200" dirty="0"/>
          </a:p>
        </p:txBody>
      </p:sp>
      <p:sp>
        <p:nvSpPr>
          <p:cNvPr id="4" name="Shape 2"/>
          <p:cNvSpPr/>
          <p:nvPr/>
        </p:nvSpPr>
        <p:spPr>
          <a:xfrm>
            <a:off x="548640" y="1828800"/>
            <a:ext cx="2157984" cy="3749040"/>
          </a:xfrm>
          <a:prstGeom prst="roundRect">
            <a:avLst>
              <a:gd name="adj" fmla="val 3390"/>
            </a:avLst>
          </a:prstGeom>
          <a:solidFill>
            <a:srgbClr val="F2F6FB"/>
          </a:solidFill>
          <a:ln/>
          <a:effectLst>
            <a:outerShdw blurRad="101600" dist="25400" dir="5400000" algn="bl" rotWithShape="0">
              <a:srgbClr val="9AAFC9">
                <a:alpha val="35000"/>
              </a:srgbClr>
            </a:outerShdw>
          </a:effectLst>
        </p:spPr>
      </p:sp>
      <p:sp>
        <p:nvSpPr>
          <p:cNvPr id="5" name="Shape 3"/>
          <p:cNvSpPr/>
          <p:nvPr/>
        </p:nvSpPr>
        <p:spPr>
          <a:xfrm>
            <a:off x="1335024" y="2103120"/>
            <a:ext cx="585216" cy="585216"/>
          </a:xfrm>
          <a:prstGeom prst="ellipse">
            <a:avLst/>
          </a:prstGeom>
          <a:solidFill>
            <a:srgbClr val="1B5FAE"/>
          </a:solidFill>
          <a:ln/>
        </p:spPr>
      </p:sp>
      <p:sp>
        <p:nvSpPr>
          <p:cNvPr id="6" name="Text 4"/>
          <p:cNvSpPr/>
          <p:nvPr/>
        </p:nvSpPr>
        <p:spPr>
          <a:xfrm>
            <a:off x="1335024" y="2103120"/>
            <a:ext cx="585216"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01</a:t>
            </a:r>
            <a:endParaRPr lang="en-US" sz="1400" dirty="0"/>
          </a:p>
        </p:txBody>
      </p:sp>
      <p:sp>
        <p:nvSpPr>
          <p:cNvPr id="7" name="Text 5"/>
          <p:cNvSpPr/>
          <p:nvPr/>
        </p:nvSpPr>
        <p:spPr>
          <a:xfrm>
            <a:off x="713232" y="2926080"/>
            <a:ext cx="1828800" cy="777240"/>
          </a:xfrm>
          <a:prstGeom prst="rect">
            <a:avLst/>
          </a:prstGeom>
          <a:noFill/>
          <a:ln/>
        </p:spPr>
        <p:txBody>
          <a:bodyPr wrap="square" lIns="0" tIns="0" rIns="0" bIns="0" rtlCol="0" anchor="t"/>
          <a:lstStyle/>
          <a:p>
            <a:pPr marL="0" indent="0" algn="ctr">
              <a:lnSpc>
                <a:spcPct val="110000"/>
              </a:lnSpc>
              <a:buNone/>
            </a:pPr>
            <a:r>
              <a:rPr lang="en-US" sz="1300" b="1" dirty="0">
                <a:solidFill>
                  <a:srgbClr val="0B1E3D"/>
                </a:solidFill>
                <a:latin typeface="Montserrat" pitchFamily="34" charset="0"/>
                <a:ea typeface="Montserrat" pitchFamily="34" charset="-122"/>
                <a:cs typeface="Montserrat" pitchFamily="34" charset="-120"/>
              </a:rPr>
              <a:t>Driver Login</a:t>
            </a:r>
            <a:endParaRPr lang="en-US" sz="1300" dirty="0"/>
          </a:p>
        </p:txBody>
      </p:sp>
      <p:sp>
        <p:nvSpPr>
          <p:cNvPr id="8" name="Text 6"/>
          <p:cNvSpPr/>
          <p:nvPr/>
        </p:nvSpPr>
        <p:spPr>
          <a:xfrm>
            <a:off x="731520" y="3749040"/>
            <a:ext cx="1792224" cy="1691640"/>
          </a:xfrm>
          <a:prstGeom prst="rect">
            <a:avLst/>
          </a:prstGeom>
          <a:noFill/>
          <a:ln/>
        </p:spPr>
        <p:txBody>
          <a:bodyPr wrap="square" lIns="0" tIns="0" rIns="0" bIns="0" rtlCol="0" anchor="t"/>
          <a:lstStyle/>
          <a:p>
            <a:pPr marL="0" indent="0" algn="ctr">
              <a:lnSpc>
                <a:spcPct val="125000"/>
              </a:lnSpc>
              <a:buNone/>
            </a:pPr>
            <a:r>
              <a:rPr lang="en-US" sz="1050" dirty="0">
                <a:solidFill>
                  <a:srgbClr val="5B6B82"/>
                </a:solidFill>
                <a:latin typeface="Calibri" pitchFamily="34" charset="0"/>
                <a:ea typeface="Calibri" pitchFamily="34" charset="-122"/>
                <a:cs typeface="Calibri" pitchFamily="34" charset="-120"/>
              </a:rPr>
              <a:t>Sopir melakukan login menggunakan akun yang telah diberikan.</a:t>
            </a:r>
            <a:endParaRPr lang="en-US" sz="1050" dirty="0"/>
          </a:p>
        </p:txBody>
      </p:sp>
      <p:sp>
        <p:nvSpPr>
          <p:cNvPr id="9" name="Text 7"/>
          <p:cNvSpPr/>
          <p:nvPr/>
        </p:nvSpPr>
        <p:spPr>
          <a:xfrm>
            <a:off x="2688336" y="3502152"/>
            <a:ext cx="146304" cy="402336"/>
          </a:xfrm>
          <a:prstGeom prst="rect">
            <a:avLst/>
          </a:prstGeom>
          <a:noFill/>
          <a:ln/>
        </p:spPr>
        <p:txBody>
          <a:bodyPr wrap="square" lIns="0" tIns="0" rIns="0" bIns="0" rtlCol="0" anchor="ctr"/>
          <a:lstStyle/>
          <a:p>
            <a:pPr marL="0" indent="0" algn="ctr">
              <a:buNone/>
            </a:pPr>
            <a:r>
              <a:rPr lang="en-US" sz="1600" b="1" dirty="0">
                <a:solidFill>
                  <a:srgbClr val="00C2D1"/>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816352" y="1828800"/>
            <a:ext cx="2157984" cy="3749040"/>
          </a:xfrm>
          <a:prstGeom prst="roundRect">
            <a:avLst>
              <a:gd name="adj" fmla="val 3390"/>
            </a:avLst>
          </a:prstGeom>
          <a:solidFill>
            <a:srgbClr val="F2F6FB"/>
          </a:solidFill>
          <a:ln/>
          <a:effectLst>
            <a:outerShdw blurRad="101600" dist="25400" dir="5400000" algn="bl" rotWithShape="0">
              <a:srgbClr val="9AAFC9">
                <a:alpha val="35000"/>
              </a:srgbClr>
            </a:outerShdw>
          </a:effectLst>
        </p:spPr>
      </p:sp>
      <p:sp>
        <p:nvSpPr>
          <p:cNvPr id="11" name="Shape 9"/>
          <p:cNvSpPr/>
          <p:nvPr/>
        </p:nvSpPr>
        <p:spPr>
          <a:xfrm>
            <a:off x="3602736" y="2103120"/>
            <a:ext cx="585216" cy="585216"/>
          </a:xfrm>
          <a:prstGeom prst="ellipse">
            <a:avLst/>
          </a:prstGeom>
          <a:solidFill>
            <a:srgbClr val="1B5FAE"/>
          </a:solidFill>
          <a:ln/>
        </p:spPr>
      </p:sp>
      <p:sp>
        <p:nvSpPr>
          <p:cNvPr id="12" name="Text 10"/>
          <p:cNvSpPr/>
          <p:nvPr/>
        </p:nvSpPr>
        <p:spPr>
          <a:xfrm>
            <a:off x="3602736" y="2103120"/>
            <a:ext cx="585216"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02</a:t>
            </a:r>
            <a:endParaRPr lang="en-US" sz="1400" dirty="0"/>
          </a:p>
        </p:txBody>
      </p:sp>
      <p:sp>
        <p:nvSpPr>
          <p:cNvPr id="13" name="Text 11"/>
          <p:cNvSpPr/>
          <p:nvPr/>
        </p:nvSpPr>
        <p:spPr>
          <a:xfrm>
            <a:off x="2980944" y="2926080"/>
            <a:ext cx="1828800" cy="777240"/>
          </a:xfrm>
          <a:prstGeom prst="rect">
            <a:avLst/>
          </a:prstGeom>
          <a:noFill/>
          <a:ln/>
        </p:spPr>
        <p:txBody>
          <a:bodyPr wrap="square" lIns="0" tIns="0" rIns="0" bIns="0" rtlCol="0" anchor="t"/>
          <a:lstStyle/>
          <a:p>
            <a:pPr marL="0" indent="0" algn="ctr">
              <a:lnSpc>
                <a:spcPct val="110000"/>
              </a:lnSpc>
              <a:buNone/>
            </a:pPr>
            <a:r>
              <a:rPr lang="en-US" sz="1300" b="1" dirty="0">
                <a:solidFill>
                  <a:srgbClr val="0B1E3D"/>
                </a:solidFill>
                <a:latin typeface="Montserrat" pitchFamily="34" charset="0"/>
                <a:ea typeface="Montserrat" pitchFamily="34" charset="-122"/>
                <a:cs typeface="Montserrat" pitchFamily="34" charset="-120"/>
              </a:rPr>
              <a:t>GPS Tracking</a:t>
            </a:r>
            <a:endParaRPr lang="en-US" sz="1300" dirty="0"/>
          </a:p>
        </p:txBody>
      </p:sp>
      <p:sp>
        <p:nvSpPr>
          <p:cNvPr id="14" name="Text 12"/>
          <p:cNvSpPr/>
          <p:nvPr/>
        </p:nvSpPr>
        <p:spPr>
          <a:xfrm>
            <a:off x="2999232" y="3749040"/>
            <a:ext cx="1792224" cy="1691640"/>
          </a:xfrm>
          <a:prstGeom prst="rect">
            <a:avLst/>
          </a:prstGeom>
          <a:noFill/>
          <a:ln/>
        </p:spPr>
        <p:txBody>
          <a:bodyPr wrap="square" lIns="0" tIns="0" rIns="0" bIns="0" rtlCol="0" anchor="t"/>
          <a:lstStyle/>
          <a:p>
            <a:pPr marL="0" indent="0" algn="ctr">
              <a:lnSpc>
                <a:spcPct val="125000"/>
              </a:lnSpc>
              <a:buNone/>
            </a:pPr>
            <a:r>
              <a:rPr lang="en-US" sz="1050" dirty="0">
                <a:solidFill>
                  <a:srgbClr val="5B6B82"/>
                </a:solidFill>
                <a:latin typeface="Calibri" pitchFamily="34" charset="0"/>
                <a:ea typeface="Calibri" pitchFamily="34" charset="-122"/>
                <a:cs typeface="Calibri" pitchFamily="34" charset="-120"/>
              </a:rPr>
              <a:t>Aplikasi mengirimkan lokasi GPS ambulans ke server secara berkala.</a:t>
            </a:r>
            <a:endParaRPr lang="en-US" sz="1050" dirty="0"/>
          </a:p>
        </p:txBody>
      </p:sp>
      <p:sp>
        <p:nvSpPr>
          <p:cNvPr id="15" name="Text 13"/>
          <p:cNvSpPr/>
          <p:nvPr/>
        </p:nvSpPr>
        <p:spPr>
          <a:xfrm>
            <a:off x="4956048" y="3502152"/>
            <a:ext cx="146304" cy="402336"/>
          </a:xfrm>
          <a:prstGeom prst="rect">
            <a:avLst/>
          </a:prstGeom>
          <a:noFill/>
          <a:ln/>
        </p:spPr>
        <p:txBody>
          <a:bodyPr wrap="square" lIns="0" tIns="0" rIns="0" bIns="0" rtlCol="0" anchor="ctr"/>
          <a:lstStyle/>
          <a:p>
            <a:pPr marL="0" indent="0" algn="ctr">
              <a:buNone/>
            </a:pPr>
            <a:r>
              <a:rPr lang="en-US" sz="1600" b="1" dirty="0">
                <a:solidFill>
                  <a:srgbClr val="00C2D1"/>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084064" y="1828800"/>
            <a:ext cx="2157984" cy="3749040"/>
          </a:xfrm>
          <a:prstGeom prst="roundRect">
            <a:avLst>
              <a:gd name="adj" fmla="val 3390"/>
            </a:avLst>
          </a:prstGeom>
          <a:solidFill>
            <a:srgbClr val="F2F6FB"/>
          </a:solidFill>
          <a:ln/>
          <a:effectLst>
            <a:outerShdw blurRad="101600" dist="25400" dir="5400000" algn="bl" rotWithShape="0">
              <a:srgbClr val="9AAFC9">
                <a:alpha val="35000"/>
              </a:srgbClr>
            </a:outerShdw>
          </a:effectLst>
        </p:spPr>
      </p:sp>
      <p:sp>
        <p:nvSpPr>
          <p:cNvPr id="17" name="Shape 15"/>
          <p:cNvSpPr/>
          <p:nvPr/>
        </p:nvSpPr>
        <p:spPr>
          <a:xfrm>
            <a:off x="5870448" y="2103120"/>
            <a:ext cx="585216" cy="585216"/>
          </a:xfrm>
          <a:prstGeom prst="ellipse">
            <a:avLst/>
          </a:prstGeom>
          <a:solidFill>
            <a:srgbClr val="1B5FAE"/>
          </a:solidFill>
          <a:ln/>
        </p:spPr>
      </p:sp>
      <p:sp>
        <p:nvSpPr>
          <p:cNvPr id="18" name="Text 16"/>
          <p:cNvSpPr/>
          <p:nvPr/>
        </p:nvSpPr>
        <p:spPr>
          <a:xfrm>
            <a:off x="5870448" y="2103120"/>
            <a:ext cx="585216"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03</a:t>
            </a:r>
            <a:endParaRPr lang="en-US" sz="1400" dirty="0"/>
          </a:p>
        </p:txBody>
      </p:sp>
      <p:sp>
        <p:nvSpPr>
          <p:cNvPr id="19" name="Text 17"/>
          <p:cNvSpPr/>
          <p:nvPr/>
        </p:nvSpPr>
        <p:spPr>
          <a:xfrm>
            <a:off x="5248656" y="2926080"/>
            <a:ext cx="1828800" cy="777240"/>
          </a:xfrm>
          <a:prstGeom prst="rect">
            <a:avLst/>
          </a:prstGeom>
          <a:noFill/>
          <a:ln/>
        </p:spPr>
        <p:txBody>
          <a:bodyPr wrap="square" lIns="0" tIns="0" rIns="0" bIns="0" rtlCol="0" anchor="t"/>
          <a:lstStyle/>
          <a:p>
            <a:pPr marL="0" indent="0" algn="ctr">
              <a:lnSpc>
                <a:spcPct val="110000"/>
              </a:lnSpc>
              <a:buNone/>
            </a:pPr>
            <a:r>
              <a:rPr lang="en-US" sz="1300" b="1" dirty="0">
                <a:solidFill>
                  <a:srgbClr val="0B1E3D"/>
                </a:solidFill>
                <a:latin typeface="Montserrat" pitchFamily="34" charset="0"/>
                <a:ea typeface="Montserrat" pitchFamily="34" charset="-122"/>
                <a:cs typeface="Montserrat" pitchFamily="34" charset="-120"/>
              </a:rPr>
              <a:t>Fleet Monitoring</a:t>
            </a:r>
            <a:endParaRPr lang="en-US" sz="1300" dirty="0"/>
          </a:p>
        </p:txBody>
      </p:sp>
      <p:sp>
        <p:nvSpPr>
          <p:cNvPr id="20" name="Text 18"/>
          <p:cNvSpPr/>
          <p:nvPr/>
        </p:nvSpPr>
        <p:spPr>
          <a:xfrm>
            <a:off x="5266944" y="3749040"/>
            <a:ext cx="1792224" cy="1691640"/>
          </a:xfrm>
          <a:prstGeom prst="rect">
            <a:avLst/>
          </a:prstGeom>
          <a:noFill/>
          <a:ln/>
        </p:spPr>
        <p:txBody>
          <a:bodyPr wrap="square" lIns="0" tIns="0" rIns="0" bIns="0" rtlCol="0" anchor="t"/>
          <a:lstStyle/>
          <a:p>
            <a:pPr marL="0" indent="0" algn="ctr">
              <a:lnSpc>
                <a:spcPct val="125000"/>
              </a:lnSpc>
              <a:buNone/>
            </a:pPr>
            <a:r>
              <a:rPr lang="en-US" sz="1050" dirty="0">
                <a:solidFill>
                  <a:srgbClr val="5B6B82"/>
                </a:solidFill>
                <a:latin typeface="Calibri" pitchFamily="34" charset="0"/>
                <a:ea typeface="Calibri" pitchFamily="34" charset="-122"/>
                <a:cs typeface="Calibri" pitchFamily="34" charset="-120"/>
              </a:rPr>
              <a:t>Operator dapat melihat lokasi dan status operasional ambulans.</a:t>
            </a:r>
            <a:endParaRPr lang="en-US" sz="1050" dirty="0"/>
          </a:p>
        </p:txBody>
      </p:sp>
      <p:sp>
        <p:nvSpPr>
          <p:cNvPr id="21" name="Text 19"/>
          <p:cNvSpPr/>
          <p:nvPr/>
        </p:nvSpPr>
        <p:spPr>
          <a:xfrm>
            <a:off x="7223760" y="3502152"/>
            <a:ext cx="146304" cy="402336"/>
          </a:xfrm>
          <a:prstGeom prst="rect">
            <a:avLst/>
          </a:prstGeom>
          <a:noFill/>
          <a:ln/>
        </p:spPr>
        <p:txBody>
          <a:bodyPr wrap="square" lIns="0" tIns="0" rIns="0" bIns="0" rtlCol="0" anchor="ctr"/>
          <a:lstStyle/>
          <a:p>
            <a:pPr marL="0" indent="0" algn="ctr">
              <a:buNone/>
            </a:pPr>
            <a:r>
              <a:rPr lang="en-US" sz="1600" b="1" dirty="0">
                <a:solidFill>
                  <a:srgbClr val="00C2D1"/>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351776" y="1828800"/>
            <a:ext cx="2157984" cy="3749040"/>
          </a:xfrm>
          <a:prstGeom prst="roundRect">
            <a:avLst>
              <a:gd name="adj" fmla="val 3390"/>
            </a:avLst>
          </a:prstGeom>
          <a:solidFill>
            <a:srgbClr val="F2F6FB"/>
          </a:solidFill>
          <a:ln/>
          <a:effectLst>
            <a:outerShdw blurRad="101600" dist="25400" dir="5400000" algn="bl" rotWithShape="0">
              <a:srgbClr val="9AAFC9">
                <a:alpha val="35000"/>
              </a:srgbClr>
            </a:outerShdw>
          </a:effectLst>
        </p:spPr>
      </p:sp>
      <p:sp>
        <p:nvSpPr>
          <p:cNvPr id="23" name="Shape 21"/>
          <p:cNvSpPr/>
          <p:nvPr/>
        </p:nvSpPr>
        <p:spPr>
          <a:xfrm>
            <a:off x="8138160" y="2103120"/>
            <a:ext cx="585216" cy="585216"/>
          </a:xfrm>
          <a:prstGeom prst="ellipse">
            <a:avLst/>
          </a:prstGeom>
          <a:solidFill>
            <a:srgbClr val="1B5FAE"/>
          </a:solidFill>
          <a:ln/>
        </p:spPr>
      </p:sp>
      <p:sp>
        <p:nvSpPr>
          <p:cNvPr id="24" name="Text 22"/>
          <p:cNvSpPr/>
          <p:nvPr/>
        </p:nvSpPr>
        <p:spPr>
          <a:xfrm>
            <a:off x="8138160" y="2103120"/>
            <a:ext cx="585216"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04</a:t>
            </a:r>
            <a:endParaRPr lang="en-US" sz="1400" dirty="0"/>
          </a:p>
        </p:txBody>
      </p:sp>
      <p:sp>
        <p:nvSpPr>
          <p:cNvPr id="25" name="Text 23"/>
          <p:cNvSpPr/>
          <p:nvPr/>
        </p:nvSpPr>
        <p:spPr>
          <a:xfrm>
            <a:off x="7516368" y="2926080"/>
            <a:ext cx="1828800" cy="777240"/>
          </a:xfrm>
          <a:prstGeom prst="rect">
            <a:avLst/>
          </a:prstGeom>
          <a:noFill/>
          <a:ln/>
        </p:spPr>
        <p:txBody>
          <a:bodyPr wrap="square" lIns="0" tIns="0" rIns="0" bIns="0" rtlCol="0" anchor="t"/>
          <a:lstStyle/>
          <a:p>
            <a:pPr marL="0" indent="0" algn="ctr">
              <a:lnSpc>
                <a:spcPct val="110000"/>
              </a:lnSpc>
              <a:buNone/>
            </a:pPr>
            <a:r>
              <a:rPr lang="en-US" sz="1300" b="1" dirty="0">
                <a:solidFill>
                  <a:srgbClr val="0B1E3D"/>
                </a:solidFill>
                <a:latin typeface="Montserrat" pitchFamily="34" charset="0"/>
                <a:ea typeface="Montserrat" pitchFamily="34" charset="-122"/>
                <a:cs typeface="Montserrat" pitchFamily="34" charset="-120"/>
              </a:rPr>
              <a:t>Location-Based Recommendation</a:t>
            </a:r>
            <a:endParaRPr lang="en-US" sz="1300" dirty="0"/>
          </a:p>
        </p:txBody>
      </p:sp>
      <p:sp>
        <p:nvSpPr>
          <p:cNvPr id="26" name="Text 24"/>
          <p:cNvSpPr/>
          <p:nvPr/>
        </p:nvSpPr>
        <p:spPr>
          <a:xfrm>
            <a:off x="7534656" y="3749040"/>
            <a:ext cx="1792224" cy="1691640"/>
          </a:xfrm>
          <a:prstGeom prst="rect">
            <a:avLst/>
          </a:prstGeom>
          <a:noFill/>
          <a:ln/>
        </p:spPr>
        <p:txBody>
          <a:bodyPr wrap="square" lIns="0" tIns="0" rIns="0" bIns="0" rtlCol="0" anchor="t"/>
          <a:lstStyle/>
          <a:p>
            <a:pPr marL="0" indent="0" algn="ctr">
              <a:lnSpc>
                <a:spcPct val="125000"/>
              </a:lnSpc>
              <a:buNone/>
            </a:pPr>
            <a:r>
              <a:rPr lang="en-US" sz="1050" dirty="0">
                <a:solidFill>
                  <a:srgbClr val="5B6B82"/>
                </a:solidFill>
                <a:latin typeface="Calibri" pitchFamily="34" charset="0"/>
                <a:ea typeface="Calibri" pitchFamily="34" charset="-122"/>
                <a:cs typeface="Calibri" pitchFamily="34" charset="-120"/>
              </a:rPr>
              <a:t>Sistem memberikan rekomendasi ambulans terdekat berdasarkan lokasi pasien dan status armada.</a:t>
            </a:r>
            <a:endParaRPr lang="en-US" sz="1050" dirty="0"/>
          </a:p>
        </p:txBody>
      </p:sp>
      <p:sp>
        <p:nvSpPr>
          <p:cNvPr id="27" name="Text 25"/>
          <p:cNvSpPr/>
          <p:nvPr/>
        </p:nvSpPr>
        <p:spPr>
          <a:xfrm>
            <a:off x="9491472" y="3502152"/>
            <a:ext cx="146304" cy="402336"/>
          </a:xfrm>
          <a:prstGeom prst="rect">
            <a:avLst/>
          </a:prstGeom>
          <a:noFill/>
          <a:ln/>
        </p:spPr>
        <p:txBody>
          <a:bodyPr wrap="square" lIns="0" tIns="0" rIns="0" bIns="0" rtlCol="0" anchor="ctr"/>
          <a:lstStyle/>
          <a:p>
            <a:pPr marL="0" indent="0" algn="ctr">
              <a:buNone/>
            </a:pPr>
            <a:r>
              <a:rPr lang="en-US" sz="1600" b="1" dirty="0">
                <a:solidFill>
                  <a:srgbClr val="00C2D1"/>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619488" y="1828800"/>
            <a:ext cx="2157984" cy="3749040"/>
          </a:xfrm>
          <a:prstGeom prst="roundRect">
            <a:avLst>
              <a:gd name="adj" fmla="val 3390"/>
            </a:avLst>
          </a:prstGeom>
          <a:solidFill>
            <a:srgbClr val="F2F6FB"/>
          </a:solidFill>
          <a:ln/>
          <a:effectLst>
            <a:outerShdw blurRad="101600" dist="25400" dir="5400000" algn="bl" rotWithShape="0">
              <a:srgbClr val="9AAFC9">
                <a:alpha val="35000"/>
              </a:srgbClr>
            </a:outerShdw>
          </a:effectLst>
        </p:spPr>
      </p:sp>
      <p:sp>
        <p:nvSpPr>
          <p:cNvPr id="29" name="Shape 27"/>
          <p:cNvSpPr/>
          <p:nvPr/>
        </p:nvSpPr>
        <p:spPr>
          <a:xfrm>
            <a:off x="10405872" y="2103120"/>
            <a:ext cx="585216" cy="585216"/>
          </a:xfrm>
          <a:prstGeom prst="ellipse">
            <a:avLst/>
          </a:prstGeom>
          <a:solidFill>
            <a:srgbClr val="E4392B"/>
          </a:solidFill>
          <a:ln/>
        </p:spPr>
      </p:sp>
      <p:sp>
        <p:nvSpPr>
          <p:cNvPr id="30" name="Text 28"/>
          <p:cNvSpPr/>
          <p:nvPr/>
        </p:nvSpPr>
        <p:spPr>
          <a:xfrm>
            <a:off x="10405872" y="2103120"/>
            <a:ext cx="585216"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itchFamily="34" charset="0"/>
                <a:ea typeface="Montserrat" pitchFamily="34" charset="-122"/>
                <a:cs typeface="Montserrat" pitchFamily="34" charset="-120"/>
              </a:rPr>
              <a:t>05</a:t>
            </a:r>
            <a:endParaRPr lang="en-US" sz="1400" dirty="0"/>
          </a:p>
        </p:txBody>
      </p:sp>
      <p:sp>
        <p:nvSpPr>
          <p:cNvPr id="31" name="Text 29"/>
          <p:cNvSpPr/>
          <p:nvPr/>
        </p:nvSpPr>
        <p:spPr>
          <a:xfrm>
            <a:off x="9784080" y="2926080"/>
            <a:ext cx="1828800" cy="777240"/>
          </a:xfrm>
          <a:prstGeom prst="rect">
            <a:avLst/>
          </a:prstGeom>
          <a:noFill/>
          <a:ln/>
        </p:spPr>
        <p:txBody>
          <a:bodyPr wrap="square" lIns="0" tIns="0" rIns="0" bIns="0" rtlCol="0" anchor="t"/>
          <a:lstStyle/>
          <a:p>
            <a:pPr marL="0" indent="0" algn="ctr">
              <a:lnSpc>
                <a:spcPct val="110000"/>
              </a:lnSpc>
              <a:buNone/>
            </a:pPr>
            <a:r>
              <a:rPr lang="en-US" sz="1300" b="1" dirty="0">
                <a:solidFill>
                  <a:srgbClr val="0B1E3D"/>
                </a:solidFill>
                <a:latin typeface="Montserrat" pitchFamily="34" charset="0"/>
                <a:ea typeface="Montserrat" pitchFamily="34" charset="-122"/>
                <a:cs typeface="Montserrat" pitchFamily="34" charset="-120"/>
              </a:rPr>
              <a:t>Dispatch</a:t>
            </a:r>
            <a:endParaRPr lang="en-US" sz="1300" dirty="0"/>
          </a:p>
        </p:txBody>
      </p:sp>
      <p:sp>
        <p:nvSpPr>
          <p:cNvPr id="32" name="Text 30"/>
          <p:cNvSpPr/>
          <p:nvPr/>
        </p:nvSpPr>
        <p:spPr>
          <a:xfrm>
            <a:off x="9802368" y="3749040"/>
            <a:ext cx="1792224" cy="1691640"/>
          </a:xfrm>
          <a:prstGeom prst="rect">
            <a:avLst/>
          </a:prstGeom>
          <a:noFill/>
          <a:ln/>
        </p:spPr>
        <p:txBody>
          <a:bodyPr wrap="square" lIns="0" tIns="0" rIns="0" bIns="0" rtlCol="0" anchor="t"/>
          <a:lstStyle/>
          <a:p>
            <a:pPr marL="0" indent="0" algn="ctr">
              <a:lnSpc>
                <a:spcPct val="125000"/>
              </a:lnSpc>
              <a:buNone/>
            </a:pPr>
            <a:r>
              <a:rPr lang="en-US" sz="1050" dirty="0">
                <a:solidFill>
                  <a:srgbClr val="5B6B82"/>
                </a:solidFill>
                <a:latin typeface="Calibri" pitchFamily="34" charset="0"/>
                <a:ea typeface="Calibri" pitchFamily="34" charset="-122"/>
                <a:cs typeface="Calibri" pitchFamily="34" charset="-120"/>
              </a:rPr>
              <a:t>Operator menggunakan informasi tersebut untuk menentukan ambulans yang akan ditugaskan.</a:t>
            </a:r>
            <a:endParaRPr lang="en-US" sz="1050" dirty="0"/>
          </a:p>
        </p:txBody>
      </p:sp>
      <p:sp>
        <p:nvSpPr>
          <p:cNvPr id="33" name="Text 31"/>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HOW THE SYSTEM WORKS</a:t>
            </a:r>
            <a:endParaRPr lang="en-US" sz="900" dirty="0"/>
          </a:p>
        </p:txBody>
      </p:sp>
      <p:sp>
        <p:nvSpPr>
          <p:cNvPr id="34" name="Text 32"/>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06 / 20</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KEY FEATURES</a:t>
            </a:r>
            <a:endParaRPr lang="en-US" sz="1200" dirty="0"/>
          </a:p>
        </p:txBody>
      </p:sp>
      <p:sp>
        <p:nvSpPr>
          <p:cNvPr id="3" name="Text 1"/>
          <p:cNvSpPr/>
          <p:nvPr/>
        </p:nvSpPr>
        <p:spPr>
          <a:xfrm>
            <a:off x="548640" y="749808"/>
            <a:ext cx="82296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Fitur Utama Sistem</a:t>
            </a:r>
            <a:endParaRPr lang="en-US" sz="3200" dirty="0"/>
          </a:p>
        </p:txBody>
      </p:sp>
      <p:sp>
        <p:nvSpPr>
          <p:cNvPr id="4" name="Shape 2"/>
          <p:cNvSpPr/>
          <p:nvPr/>
        </p:nvSpPr>
        <p:spPr>
          <a:xfrm>
            <a:off x="548640" y="1600200"/>
            <a:ext cx="3639312"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5" name="Shape 3"/>
          <p:cNvSpPr/>
          <p:nvPr/>
        </p:nvSpPr>
        <p:spPr>
          <a:xfrm>
            <a:off x="777240" y="1828800"/>
            <a:ext cx="594360" cy="594360"/>
          </a:xfrm>
          <a:prstGeom prst="ellipse">
            <a:avLst/>
          </a:prstGeom>
          <a:solidFill>
            <a:srgbClr val="1B5FAE"/>
          </a:solidFill>
          <a:ln/>
        </p:spPr>
      </p:sp>
      <p:sp>
        <p:nvSpPr>
          <p:cNvPr id="6" name="Text 4"/>
          <p:cNvSpPr/>
          <p:nvPr/>
        </p:nvSpPr>
        <p:spPr>
          <a:xfrm>
            <a:off x="777240" y="1828800"/>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777240" y="2514600"/>
            <a:ext cx="3182112" cy="411480"/>
          </a:xfrm>
          <a:prstGeom prst="rect">
            <a:avLst/>
          </a:prstGeom>
          <a:noFill/>
          <a:ln/>
        </p:spPr>
        <p:txBody>
          <a:bodyPr wrap="square" lIns="0" tIns="0" rIns="0" bIns="0" rtlCol="0" anchor="ctr"/>
          <a:lstStyle/>
          <a:p>
            <a:pPr marL="0" indent="0">
              <a:lnSpc>
                <a:spcPct val="105000"/>
              </a:lnSpc>
              <a:buNone/>
            </a:pPr>
            <a:r>
              <a:rPr lang="en-US" sz="1300" b="1" dirty="0">
                <a:solidFill>
                  <a:srgbClr val="0B1E3D"/>
                </a:solidFill>
                <a:latin typeface="Montserrat" pitchFamily="34" charset="0"/>
                <a:ea typeface="Montserrat" pitchFamily="34" charset="-122"/>
                <a:cs typeface="Montserrat" pitchFamily="34" charset="-120"/>
              </a:rPr>
              <a:t>Real-Time GPS Tracking</a:t>
            </a:r>
            <a:endParaRPr lang="en-US" sz="1300" dirty="0"/>
          </a:p>
        </p:txBody>
      </p:sp>
      <p:sp>
        <p:nvSpPr>
          <p:cNvPr id="8" name="Text 6"/>
          <p:cNvSpPr/>
          <p:nvPr/>
        </p:nvSpPr>
        <p:spPr>
          <a:xfrm>
            <a:off x="777240" y="2916936"/>
            <a:ext cx="3182112" cy="594360"/>
          </a:xfrm>
          <a:prstGeom prst="rect">
            <a:avLst/>
          </a:prstGeom>
          <a:noFill/>
          <a:ln/>
        </p:spPr>
        <p:txBody>
          <a:bodyPr wrap="square" lIns="0" tIns="0" rIns="0" bIns="0" rtlCol="0" anchor="t"/>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Pengiriman lokasi ambulans ke server secara berkala selama aplikasi aktif.</a:t>
            </a:r>
            <a:endParaRPr lang="en-US" sz="1050" dirty="0"/>
          </a:p>
        </p:txBody>
      </p:sp>
      <p:sp>
        <p:nvSpPr>
          <p:cNvPr id="9" name="Shape 7"/>
          <p:cNvSpPr/>
          <p:nvPr/>
        </p:nvSpPr>
        <p:spPr>
          <a:xfrm>
            <a:off x="4370832" y="1600200"/>
            <a:ext cx="3639312"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10" name="Shape 8"/>
          <p:cNvSpPr/>
          <p:nvPr/>
        </p:nvSpPr>
        <p:spPr>
          <a:xfrm>
            <a:off x="4599432" y="1828800"/>
            <a:ext cx="594360" cy="594360"/>
          </a:xfrm>
          <a:prstGeom prst="ellipse">
            <a:avLst/>
          </a:prstGeom>
          <a:solidFill>
            <a:srgbClr val="1B5FAE"/>
          </a:solidFill>
          <a:ln/>
        </p:spPr>
      </p:sp>
      <p:sp>
        <p:nvSpPr>
          <p:cNvPr id="11" name="Text 9"/>
          <p:cNvSpPr/>
          <p:nvPr/>
        </p:nvSpPr>
        <p:spPr>
          <a:xfrm>
            <a:off x="4599432" y="1828800"/>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4599432" y="2514600"/>
            <a:ext cx="3182112" cy="411480"/>
          </a:xfrm>
          <a:prstGeom prst="rect">
            <a:avLst/>
          </a:prstGeom>
          <a:noFill/>
          <a:ln/>
        </p:spPr>
        <p:txBody>
          <a:bodyPr wrap="square" lIns="0" tIns="0" rIns="0" bIns="0" rtlCol="0" anchor="ctr"/>
          <a:lstStyle/>
          <a:p>
            <a:pPr marL="0" indent="0">
              <a:lnSpc>
                <a:spcPct val="105000"/>
              </a:lnSpc>
              <a:buNone/>
            </a:pPr>
            <a:r>
              <a:rPr lang="en-US" sz="1300" b="1" dirty="0">
                <a:solidFill>
                  <a:srgbClr val="0B1E3D"/>
                </a:solidFill>
                <a:latin typeface="Montserrat" pitchFamily="34" charset="0"/>
                <a:ea typeface="Montserrat" pitchFamily="34" charset="-122"/>
                <a:cs typeface="Montserrat" pitchFamily="34" charset="-120"/>
              </a:rPr>
              <a:t>Fleet </a:t>
            </a:r>
            <a:r>
              <a:rPr lang="en-US" sz="1300" b="1" dirty="0" smtClean="0">
                <a:solidFill>
                  <a:srgbClr val="0B1E3D"/>
                </a:solidFill>
                <a:latin typeface="Montserrat" pitchFamily="34" charset="0"/>
                <a:ea typeface="Montserrat" pitchFamily="34" charset="-122"/>
                <a:cs typeface="Montserrat" pitchFamily="34" charset="-120"/>
              </a:rPr>
              <a:t>Status </a:t>
            </a:r>
            <a:r>
              <a:rPr lang="en-US" sz="1300" b="1" dirty="0">
                <a:solidFill>
                  <a:srgbClr val="0B1E3D"/>
                </a:solidFill>
                <a:latin typeface="Montserrat" pitchFamily="34" charset="0"/>
                <a:ea typeface="Montserrat" pitchFamily="34" charset="-122"/>
                <a:cs typeface="Montserrat" pitchFamily="34" charset="-120"/>
              </a:rPr>
              <a:t>Management</a:t>
            </a:r>
            <a:endParaRPr lang="en-US" sz="1300" dirty="0"/>
          </a:p>
        </p:txBody>
      </p:sp>
      <p:sp>
        <p:nvSpPr>
          <p:cNvPr id="13" name="Text 11"/>
          <p:cNvSpPr/>
          <p:nvPr/>
        </p:nvSpPr>
        <p:spPr>
          <a:xfrm>
            <a:off x="4599432" y="2916936"/>
            <a:ext cx="3182112" cy="594360"/>
          </a:xfrm>
          <a:prstGeom prst="rect">
            <a:avLst/>
          </a:prstGeom>
          <a:noFill/>
          <a:ln/>
        </p:spPr>
        <p:txBody>
          <a:bodyPr wrap="square" lIns="0" tIns="0" rIns="0" bIns="0" rtlCol="0" anchor="t"/>
          <a:lstStyle/>
          <a:p>
            <a:pPr marL="0" indent="0">
              <a:lnSpc>
                <a:spcPct val="120000"/>
              </a:lnSpc>
              <a:buNone/>
            </a:pPr>
            <a:r>
              <a:rPr lang="en-US" sz="1050" dirty="0" err="1">
                <a:solidFill>
                  <a:srgbClr val="5B6B82"/>
                </a:solidFill>
                <a:latin typeface="Calibri" pitchFamily="34" charset="0"/>
                <a:ea typeface="Calibri" pitchFamily="34" charset="-122"/>
                <a:cs typeface="Calibri" pitchFamily="34" charset="-120"/>
              </a:rPr>
              <a:t>Pengelolaan</a:t>
            </a:r>
            <a:r>
              <a:rPr lang="en-US" sz="1050" dirty="0">
                <a:solidFill>
                  <a:srgbClr val="5B6B82"/>
                </a:solidFill>
                <a:latin typeface="Calibri" pitchFamily="34" charset="0"/>
                <a:ea typeface="Calibri" pitchFamily="34" charset="-122"/>
                <a:cs typeface="Calibri" pitchFamily="34" charset="-120"/>
              </a:rPr>
              <a:t> </a:t>
            </a:r>
            <a:r>
              <a:rPr lang="en-US" sz="1050" dirty="0" smtClean="0">
                <a:solidFill>
                  <a:srgbClr val="5B6B82"/>
                </a:solidFill>
                <a:latin typeface="Calibri" pitchFamily="34" charset="0"/>
                <a:ea typeface="Calibri" pitchFamily="34" charset="-122"/>
                <a:cs typeface="Calibri" pitchFamily="34" charset="-120"/>
              </a:rPr>
              <a:t>status Available</a:t>
            </a:r>
            <a:r>
              <a:rPr lang="en-US" sz="1050" dirty="0">
                <a:solidFill>
                  <a:srgbClr val="5B6B82"/>
                </a:solidFill>
                <a:latin typeface="Calibri" pitchFamily="34" charset="0"/>
                <a:ea typeface="Calibri" pitchFamily="34" charset="-122"/>
                <a:cs typeface="Calibri" pitchFamily="34" charset="-120"/>
              </a:rPr>
              <a:t>, On Mission, Maintenance, dan Offline.</a:t>
            </a:r>
            <a:endParaRPr lang="en-US" sz="1050" dirty="0"/>
          </a:p>
        </p:txBody>
      </p:sp>
      <p:sp>
        <p:nvSpPr>
          <p:cNvPr id="14" name="Shape 12"/>
          <p:cNvSpPr/>
          <p:nvPr/>
        </p:nvSpPr>
        <p:spPr>
          <a:xfrm>
            <a:off x="8193024" y="1600200"/>
            <a:ext cx="3639312"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15" name="Shape 13"/>
          <p:cNvSpPr/>
          <p:nvPr/>
        </p:nvSpPr>
        <p:spPr>
          <a:xfrm>
            <a:off x="8421624" y="1828800"/>
            <a:ext cx="594360" cy="594360"/>
          </a:xfrm>
          <a:prstGeom prst="ellipse">
            <a:avLst/>
          </a:prstGeom>
          <a:solidFill>
            <a:srgbClr val="1B5FAE"/>
          </a:solidFill>
          <a:ln/>
        </p:spPr>
      </p:sp>
      <p:sp>
        <p:nvSpPr>
          <p:cNvPr id="16" name="Text 14"/>
          <p:cNvSpPr/>
          <p:nvPr/>
        </p:nvSpPr>
        <p:spPr>
          <a:xfrm>
            <a:off x="8421624" y="1828800"/>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8421624" y="2514600"/>
            <a:ext cx="3182112" cy="411480"/>
          </a:xfrm>
          <a:prstGeom prst="rect">
            <a:avLst/>
          </a:prstGeom>
          <a:noFill/>
          <a:ln/>
        </p:spPr>
        <p:txBody>
          <a:bodyPr wrap="square" lIns="0" tIns="0" rIns="0" bIns="0" rtlCol="0" anchor="ctr"/>
          <a:lstStyle/>
          <a:p>
            <a:pPr marL="0" indent="0">
              <a:lnSpc>
                <a:spcPct val="105000"/>
              </a:lnSpc>
              <a:buNone/>
            </a:pPr>
            <a:r>
              <a:rPr lang="en-US" sz="1300" b="1" dirty="0">
                <a:solidFill>
                  <a:srgbClr val="0B1E3D"/>
                </a:solidFill>
                <a:latin typeface="Montserrat" pitchFamily="34" charset="0"/>
                <a:ea typeface="Montserrat" pitchFamily="34" charset="-122"/>
                <a:cs typeface="Montserrat" pitchFamily="34" charset="-120"/>
              </a:rPr>
              <a:t>Nearest Ambulance Recommendation</a:t>
            </a:r>
            <a:endParaRPr lang="en-US" sz="1300" dirty="0"/>
          </a:p>
        </p:txBody>
      </p:sp>
      <p:sp>
        <p:nvSpPr>
          <p:cNvPr id="18" name="Text 16"/>
          <p:cNvSpPr/>
          <p:nvPr/>
        </p:nvSpPr>
        <p:spPr>
          <a:xfrm>
            <a:off x="8421624" y="2916936"/>
            <a:ext cx="3182112" cy="594360"/>
          </a:xfrm>
          <a:prstGeom prst="rect">
            <a:avLst/>
          </a:prstGeom>
          <a:noFill/>
          <a:ln/>
        </p:spPr>
        <p:txBody>
          <a:bodyPr wrap="square" lIns="0" tIns="0" rIns="0" bIns="0" rtlCol="0" anchor="t"/>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Rekomendasi ambulans terdekat berdasarkan lokasi pasien dan status armada.</a:t>
            </a:r>
            <a:endParaRPr lang="en-US" sz="1050" dirty="0"/>
          </a:p>
        </p:txBody>
      </p:sp>
      <p:sp>
        <p:nvSpPr>
          <p:cNvPr id="19" name="Shape 17"/>
          <p:cNvSpPr/>
          <p:nvPr/>
        </p:nvSpPr>
        <p:spPr>
          <a:xfrm>
            <a:off x="548640" y="3767328"/>
            <a:ext cx="3639312"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20" name="Shape 18"/>
          <p:cNvSpPr/>
          <p:nvPr/>
        </p:nvSpPr>
        <p:spPr>
          <a:xfrm>
            <a:off x="777240" y="3995928"/>
            <a:ext cx="594360" cy="594360"/>
          </a:xfrm>
          <a:prstGeom prst="ellipse">
            <a:avLst/>
          </a:prstGeom>
          <a:solidFill>
            <a:srgbClr val="1B5FAE"/>
          </a:solidFill>
          <a:ln/>
        </p:spPr>
      </p:sp>
      <p:sp>
        <p:nvSpPr>
          <p:cNvPr id="21" name="Text 19"/>
          <p:cNvSpPr/>
          <p:nvPr/>
        </p:nvSpPr>
        <p:spPr>
          <a:xfrm>
            <a:off x="777240" y="3995928"/>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777240" y="4681728"/>
            <a:ext cx="3182112" cy="411480"/>
          </a:xfrm>
          <a:prstGeom prst="rect">
            <a:avLst/>
          </a:prstGeom>
          <a:noFill/>
          <a:ln/>
        </p:spPr>
        <p:txBody>
          <a:bodyPr wrap="square" lIns="0" tIns="0" rIns="0" bIns="0" rtlCol="0" anchor="ctr"/>
          <a:lstStyle/>
          <a:p>
            <a:pPr marL="0" indent="0">
              <a:lnSpc>
                <a:spcPct val="105000"/>
              </a:lnSpc>
              <a:buNone/>
            </a:pPr>
            <a:r>
              <a:rPr lang="en-US" sz="1300" b="1" dirty="0">
                <a:solidFill>
                  <a:srgbClr val="0B1E3D"/>
                </a:solidFill>
                <a:latin typeface="Montserrat" pitchFamily="34" charset="0"/>
                <a:ea typeface="Montserrat" pitchFamily="34" charset="-122"/>
                <a:cs typeface="Montserrat" pitchFamily="34" charset="-120"/>
              </a:rPr>
              <a:t>Last Seen</a:t>
            </a:r>
            <a:endParaRPr lang="en-US" sz="1300" dirty="0"/>
          </a:p>
        </p:txBody>
      </p:sp>
      <p:sp>
        <p:nvSpPr>
          <p:cNvPr id="23" name="Text 21"/>
          <p:cNvSpPr/>
          <p:nvPr/>
        </p:nvSpPr>
        <p:spPr>
          <a:xfrm>
            <a:off x="777240" y="5084064"/>
            <a:ext cx="3182112" cy="594360"/>
          </a:xfrm>
          <a:prstGeom prst="rect">
            <a:avLst/>
          </a:prstGeom>
          <a:noFill/>
          <a:ln/>
        </p:spPr>
        <p:txBody>
          <a:bodyPr wrap="square" lIns="0" tIns="0" rIns="0" bIns="0" rtlCol="0" anchor="t"/>
          <a:lstStyle/>
          <a:p>
            <a:pPr marL="0" indent="0">
              <a:lnSpc>
                <a:spcPct val="120000"/>
              </a:lnSpc>
              <a:buNone/>
            </a:pPr>
            <a:r>
              <a:rPr lang="en-US" sz="1050" dirty="0">
                <a:solidFill>
                  <a:srgbClr val="5B6B82"/>
                </a:solidFill>
                <a:latin typeface="Calibri" pitchFamily="34" charset="0"/>
                <a:ea typeface="Calibri" pitchFamily="34" charset="-122"/>
                <a:cs typeface="Calibri" pitchFamily="34" charset="-120"/>
              </a:rPr>
              <a:t>Informasi waktu terakhir lokasi ambulans diperbarui.</a:t>
            </a:r>
            <a:endParaRPr lang="en-US" sz="1050" dirty="0"/>
          </a:p>
        </p:txBody>
      </p:sp>
      <p:sp>
        <p:nvSpPr>
          <p:cNvPr id="24" name="Shape 22"/>
          <p:cNvSpPr/>
          <p:nvPr/>
        </p:nvSpPr>
        <p:spPr>
          <a:xfrm>
            <a:off x="4370832" y="3767328"/>
            <a:ext cx="3639312"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25" name="Shape 23"/>
          <p:cNvSpPr/>
          <p:nvPr/>
        </p:nvSpPr>
        <p:spPr>
          <a:xfrm>
            <a:off x="4694362" y="3822192"/>
            <a:ext cx="594360" cy="594360"/>
          </a:xfrm>
          <a:prstGeom prst="ellipse">
            <a:avLst/>
          </a:prstGeom>
          <a:solidFill>
            <a:srgbClr val="1B5FAE"/>
          </a:solidFill>
          <a:ln/>
        </p:spPr>
      </p:sp>
      <p:sp>
        <p:nvSpPr>
          <p:cNvPr id="26" name="Text 24"/>
          <p:cNvSpPr/>
          <p:nvPr/>
        </p:nvSpPr>
        <p:spPr>
          <a:xfrm>
            <a:off x="4679440" y="3849624"/>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4599432" y="4681728"/>
            <a:ext cx="3182112" cy="411480"/>
          </a:xfrm>
          <a:prstGeom prst="rect">
            <a:avLst/>
          </a:prstGeom>
          <a:noFill/>
          <a:ln/>
        </p:spPr>
        <p:txBody>
          <a:bodyPr wrap="square" lIns="0" tIns="0" rIns="0" bIns="0" rtlCol="0" anchor="ctr"/>
          <a:lstStyle/>
          <a:p>
            <a:pPr marL="0" indent="0">
              <a:lnSpc>
                <a:spcPct val="105000"/>
              </a:lnSpc>
              <a:buNone/>
            </a:pPr>
            <a:r>
              <a:rPr lang="en-US" sz="1300" b="1" dirty="0">
                <a:solidFill>
                  <a:srgbClr val="0B1E3D"/>
                </a:solidFill>
                <a:latin typeface="Montserrat" pitchFamily="34" charset="0"/>
                <a:ea typeface="Montserrat" pitchFamily="34" charset="-122"/>
                <a:cs typeface="Montserrat" pitchFamily="34" charset="-120"/>
              </a:rPr>
              <a:t>Trip </a:t>
            </a:r>
            <a:r>
              <a:rPr lang="en-US" sz="1300" b="1" dirty="0" smtClean="0">
                <a:solidFill>
                  <a:srgbClr val="0B1E3D"/>
                </a:solidFill>
                <a:latin typeface="Montserrat" pitchFamily="34" charset="0"/>
                <a:ea typeface="Montserrat" pitchFamily="34" charset="-122"/>
                <a:cs typeface="Montserrat" pitchFamily="34" charset="-120"/>
              </a:rPr>
              <a:t>History</a:t>
            </a:r>
            <a:endParaRPr lang="en-US" sz="1300" dirty="0"/>
          </a:p>
        </p:txBody>
      </p:sp>
      <p:sp>
        <p:nvSpPr>
          <p:cNvPr id="28" name="Text 26"/>
          <p:cNvSpPr/>
          <p:nvPr/>
        </p:nvSpPr>
        <p:spPr>
          <a:xfrm>
            <a:off x="4599432" y="5084064"/>
            <a:ext cx="3182112" cy="594360"/>
          </a:xfrm>
          <a:prstGeom prst="rect">
            <a:avLst/>
          </a:prstGeom>
          <a:noFill/>
          <a:ln/>
        </p:spPr>
        <p:txBody>
          <a:bodyPr wrap="square" lIns="0" tIns="0" rIns="0" bIns="0" rtlCol="0" anchor="t"/>
          <a:lstStyle/>
          <a:p>
            <a:pPr marL="0" indent="0">
              <a:lnSpc>
                <a:spcPct val="120000"/>
              </a:lnSpc>
              <a:buNone/>
            </a:pPr>
            <a:r>
              <a:rPr lang="en-US" sz="1050" dirty="0" err="1" smtClean="0">
                <a:solidFill>
                  <a:srgbClr val="5B6B82"/>
                </a:solidFill>
                <a:latin typeface="Calibri" pitchFamily="34" charset="0"/>
                <a:ea typeface="Calibri" pitchFamily="34" charset="-122"/>
                <a:cs typeface="Calibri" pitchFamily="34" charset="-120"/>
              </a:rPr>
              <a:t>Riwayat</a:t>
            </a:r>
            <a:r>
              <a:rPr lang="en-US" sz="1050" dirty="0" smtClean="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perjalanan</a:t>
            </a:r>
            <a:r>
              <a:rPr lang="en-US" sz="1050" dirty="0" smtClean="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ambulans</a:t>
            </a:r>
            <a:r>
              <a:rPr lang="en-US" sz="1050" dirty="0" smtClean="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untuk</a:t>
            </a:r>
            <a:r>
              <a:rPr lang="en-US" sz="1050" dirty="0" smtClean="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kebutuhan</a:t>
            </a:r>
            <a:r>
              <a:rPr lang="en-US" sz="1050" dirty="0" smtClean="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evaluasi</a:t>
            </a:r>
            <a:r>
              <a:rPr lang="en-US" sz="1050" dirty="0" smtClean="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operasional</a:t>
            </a:r>
            <a:r>
              <a:rPr lang="en-US" sz="1050" dirty="0" smtClean="0">
                <a:solidFill>
                  <a:srgbClr val="5B6B82"/>
                </a:solidFill>
                <a:latin typeface="Calibri" pitchFamily="34" charset="0"/>
                <a:ea typeface="Calibri" pitchFamily="34" charset="-122"/>
                <a:cs typeface="Calibri" pitchFamily="34" charset="-120"/>
              </a:rPr>
              <a:t>.</a:t>
            </a:r>
            <a:endParaRPr lang="en-US" sz="1050" dirty="0"/>
          </a:p>
        </p:txBody>
      </p:sp>
      <p:sp>
        <p:nvSpPr>
          <p:cNvPr id="31" name="Text 29"/>
          <p:cNvSpPr/>
          <p:nvPr/>
        </p:nvSpPr>
        <p:spPr>
          <a:xfrm>
            <a:off x="8421624" y="3995928"/>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34" name="Text 3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KEY FEATURES</a:t>
            </a:r>
            <a:endParaRPr lang="en-US" sz="900" dirty="0"/>
          </a:p>
        </p:txBody>
      </p:sp>
      <p:sp>
        <p:nvSpPr>
          <p:cNvPr id="35" name="Text 33"/>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07 / 20</a:t>
            </a:r>
            <a:endParaRPr lang="en-US" sz="900" dirty="0"/>
          </a:p>
        </p:txBody>
      </p:sp>
      <p:sp>
        <p:nvSpPr>
          <p:cNvPr id="41" name="Shape 12"/>
          <p:cNvSpPr/>
          <p:nvPr/>
        </p:nvSpPr>
        <p:spPr>
          <a:xfrm>
            <a:off x="8186527" y="3767328"/>
            <a:ext cx="3639312"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42" name="Text 31"/>
          <p:cNvSpPr/>
          <p:nvPr/>
        </p:nvSpPr>
        <p:spPr>
          <a:xfrm>
            <a:off x="8421624" y="4927734"/>
            <a:ext cx="3182112" cy="594360"/>
          </a:xfrm>
          <a:prstGeom prst="rect">
            <a:avLst/>
          </a:prstGeom>
          <a:noFill/>
          <a:ln/>
        </p:spPr>
        <p:txBody>
          <a:bodyPr wrap="square" lIns="0" tIns="0" rIns="0" bIns="0" rtlCol="0" anchor="t"/>
          <a:lstStyle/>
          <a:p>
            <a:pPr marL="0" indent="0">
              <a:lnSpc>
                <a:spcPct val="120000"/>
              </a:lnSpc>
              <a:buNone/>
            </a:pPr>
            <a:r>
              <a:rPr lang="en-US" sz="1050" dirty="0" err="1">
                <a:solidFill>
                  <a:srgbClr val="5B6B82"/>
                </a:solidFill>
                <a:latin typeface="Calibri" pitchFamily="34" charset="0"/>
                <a:ea typeface="Calibri" pitchFamily="34" charset="-122"/>
                <a:cs typeface="Calibri" pitchFamily="34" charset="-120"/>
              </a:rPr>
              <a:t>Tombol</a:t>
            </a:r>
            <a:r>
              <a:rPr lang="en-US" sz="1050" dirty="0">
                <a:solidFill>
                  <a:srgbClr val="5B6B82"/>
                </a:solidFill>
                <a:latin typeface="Calibri" pitchFamily="34" charset="0"/>
                <a:ea typeface="Calibri" pitchFamily="34" charset="-122"/>
                <a:cs typeface="Calibri" pitchFamily="34" charset="-120"/>
              </a:rPr>
              <a:t> </a:t>
            </a:r>
            <a:r>
              <a:rPr lang="en-US" sz="1050" dirty="0" err="1" smtClean="0">
                <a:solidFill>
                  <a:srgbClr val="5B6B82"/>
                </a:solidFill>
                <a:latin typeface="Calibri" pitchFamily="34" charset="0"/>
                <a:ea typeface="Calibri" pitchFamily="34" charset="-122"/>
                <a:cs typeface="Calibri" pitchFamily="34" charset="-120"/>
              </a:rPr>
              <a:t>daruat</a:t>
            </a:r>
            <a:r>
              <a:rPr lang="en-US" sz="1050" dirty="0" smtClean="0">
                <a:solidFill>
                  <a:srgbClr val="5B6B82"/>
                </a:solidFill>
                <a:latin typeface="Calibri" pitchFamily="34" charset="0"/>
                <a:ea typeface="Calibri" pitchFamily="34" charset="-122"/>
                <a:cs typeface="Calibri" pitchFamily="34" charset="-120"/>
              </a:rPr>
              <a:t> </a:t>
            </a:r>
            <a:r>
              <a:rPr lang="en-US" sz="1050" dirty="0">
                <a:solidFill>
                  <a:srgbClr val="5B6B82"/>
                </a:solidFill>
                <a:latin typeface="Calibri" pitchFamily="34" charset="0"/>
                <a:ea typeface="Calibri" pitchFamily="34" charset="-122"/>
                <a:cs typeface="Calibri" pitchFamily="34" charset="-120"/>
              </a:rPr>
              <a:t>yang dapat digunakan sopir apabila terjadi kendala saat bertugas.</a:t>
            </a:r>
            <a:endParaRPr lang="en-US" sz="1050" dirty="0"/>
          </a:p>
        </p:txBody>
      </p:sp>
      <p:sp>
        <p:nvSpPr>
          <p:cNvPr id="43" name="Text 30"/>
          <p:cNvSpPr/>
          <p:nvPr/>
        </p:nvSpPr>
        <p:spPr>
          <a:xfrm>
            <a:off x="8415127" y="4546332"/>
            <a:ext cx="3182112" cy="411480"/>
          </a:xfrm>
          <a:prstGeom prst="rect">
            <a:avLst/>
          </a:prstGeom>
          <a:noFill/>
          <a:ln/>
        </p:spPr>
        <p:txBody>
          <a:bodyPr wrap="square" lIns="0" tIns="0" rIns="0" bIns="0" rtlCol="0" anchor="ctr"/>
          <a:lstStyle/>
          <a:p>
            <a:pPr marL="0" indent="0">
              <a:lnSpc>
                <a:spcPct val="105000"/>
              </a:lnSpc>
              <a:buNone/>
            </a:pPr>
            <a:r>
              <a:rPr lang="en-US" sz="1300" b="1" dirty="0" smtClean="0">
                <a:solidFill>
                  <a:srgbClr val="0B1E3D"/>
                </a:solidFill>
                <a:latin typeface="Montserrat" pitchFamily="34" charset="0"/>
                <a:ea typeface="Montserrat" pitchFamily="34" charset="-122"/>
                <a:cs typeface="Montserrat" pitchFamily="34" charset="-120"/>
              </a:rPr>
              <a:t>SOS</a:t>
            </a:r>
            <a:endParaRPr lang="en-US" sz="1300" dirty="0"/>
          </a:p>
        </p:txBody>
      </p:sp>
      <p:sp>
        <p:nvSpPr>
          <p:cNvPr id="44" name="Shape 23"/>
          <p:cNvSpPr/>
          <p:nvPr/>
        </p:nvSpPr>
        <p:spPr>
          <a:xfrm>
            <a:off x="8255347" y="3927588"/>
            <a:ext cx="594360" cy="594360"/>
          </a:xfrm>
          <a:prstGeom prst="ellipse">
            <a:avLst/>
          </a:prstGeom>
          <a:solidFill>
            <a:srgbClr val="1B5FAE"/>
          </a:solidFill>
          <a:ln/>
        </p:spPr>
      </p:sp>
      <p:sp>
        <p:nvSpPr>
          <p:cNvPr id="45" name="Text 30"/>
          <p:cNvSpPr/>
          <p:nvPr/>
        </p:nvSpPr>
        <p:spPr>
          <a:xfrm>
            <a:off x="8360385" y="4038018"/>
            <a:ext cx="3182112" cy="411480"/>
          </a:xfrm>
          <a:prstGeom prst="rect">
            <a:avLst/>
          </a:prstGeom>
          <a:noFill/>
          <a:ln/>
        </p:spPr>
        <p:txBody>
          <a:bodyPr wrap="square" lIns="0" tIns="0" rIns="0" bIns="0" rtlCol="0" anchor="ctr"/>
          <a:lstStyle/>
          <a:p>
            <a:pPr marL="0" indent="0">
              <a:lnSpc>
                <a:spcPct val="105000"/>
              </a:lnSpc>
              <a:buNone/>
            </a:pPr>
            <a:r>
              <a:rPr lang="en-US" sz="1300" b="1" dirty="0" smtClean="0">
                <a:solidFill>
                  <a:schemeClr val="bg1"/>
                </a:solidFill>
                <a:latin typeface="Montserrat" pitchFamily="34" charset="0"/>
                <a:ea typeface="Montserrat" pitchFamily="34" charset="-122"/>
                <a:cs typeface="Montserrat" pitchFamily="34" charset="-120"/>
              </a:rPr>
              <a:t>SOS</a:t>
            </a:r>
            <a:endParaRPr lang="en-US" sz="1300" dirty="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DRIVER APPLICATION</a:t>
            </a:r>
            <a:endParaRPr lang="en-US" sz="1200" dirty="0"/>
          </a:p>
        </p:txBody>
      </p:sp>
      <p:sp>
        <p:nvSpPr>
          <p:cNvPr id="3" name="Text 1"/>
          <p:cNvSpPr/>
          <p:nvPr/>
        </p:nvSpPr>
        <p:spPr>
          <a:xfrm>
            <a:off x="548640" y="749808"/>
            <a:ext cx="8229600" cy="822960"/>
          </a:xfrm>
          <a:prstGeom prst="rect">
            <a:avLst/>
          </a:prstGeom>
          <a:noFill/>
          <a:ln/>
        </p:spPr>
        <p:txBody>
          <a:bodyPr wrap="square" lIns="0" tIns="0" rIns="0" bIns="0" rtlCol="0" anchor="ctr"/>
          <a:lstStyle/>
          <a:p>
            <a:pPr marL="0" indent="0" algn="l">
              <a:lnSpc>
                <a:spcPct val="102000"/>
              </a:lnSpc>
              <a:buNone/>
            </a:pPr>
            <a:r>
              <a:rPr lang="en-US" sz="3000" b="1" dirty="0">
                <a:solidFill>
                  <a:srgbClr val="0B1E3D"/>
                </a:solidFill>
                <a:latin typeface="Montserrat" pitchFamily="34" charset="0"/>
                <a:ea typeface="Montserrat" pitchFamily="34" charset="-122"/>
                <a:cs typeface="Montserrat" pitchFamily="34" charset="-120"/>
              </a:rPr>
              <a:t>Aplikasi Mobile Sopir Ambulans</a:t>
            </a:r>
            <a:endParaRPr lang="en-US" sz="3000" dirty="0"/>
          </a:p>
        </p:txBody>
      </p:sp>
      <p:sp>
        <p:nvSpPr>
          <p:cNvPr id="4" name="Shape 2"/>
          <p:cNvSpPr/>
          <p:nvPr/>
        </p:nvSpPr>
        <p:spPr>
          <a:xfrm>
            <a:off x="548640" y="1783080"/>
            <a:ext cx="365760" cy="365760"/>
          </a:xfrm>
          <a:prstGeom prst="ellipse">
            <a:avLst/>
          </a:prstGeom>
          <a:solidFill>
            <a:srgbClr val="1B5FAE"/>
          </a:solidFill>
          <a:ln/>
        </p:spPr>
      </p:sp>
      <p:sp>
        <p:nvSpPr>
          <p:cNvPr id="5" name="Text 3"/>
          <p:cNvSpPr/>
          <p:nvPr/>
        </p:nvSpPr>
        <p:spPr>
          <a:xfrm>
            <a:off x="548640" y="1783080"/>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051560" y="1737360"/>
            <a:ext cx="5029200" cy="777240"/>
          </a:xfrm>
          <a:prstGeom prst="rect">
            <a:avLst/>
          </a:prstGeom>
          <a:noFill/>
          <a:ln/>
        </p:spPr>
        <p:txBody>
          <a:bodyPr wrap="square" lIns="0" tIns="0" rIns="0" bIns="0" rtlCol="0" anchor="t"/>
          <a:lstStyle/>
          <a:p>
            <a:pPr marL="0" indent="0">
              <a:lnSpc>
                <a:spcPct val="125000"/>
              </a:lnSpc>
              <a:buNone/>
            </a:pPr>
            <a:r>
              <a:rPr lang="en-US" sz="1300" dirty="0">
                <a:solidFill>
                  <a:srgbClr val="0B1E3D"/>
                </a:solidFill>
                <a:latin typeface="Calibri" pitchFamily="34" charset="0"/>
                <a:ea typeface="Calibri" pitchFamily="34" charset="-122"/>
                <a:cs typeface="Calibri" pitchFamily="34" charset="-120"/>
              </a:rPr>
              <a:t>Sopir dapat melakukan login ke aplikasi menggunakan akun yang telah diberikan.</a:t>
            </a:r>
            <a:endParaRPr lang="en-US" sz="1300" dirty="0"/>
          </a:p>
        </p:txBody>
      </p:sp>
      <p:sp>
        <p:nvSpPr>
          <p:cNvPr id="7" name="Shape 5"/>
          <p:cNvSpPr/>
          <p:nvPr/>
        </p:nvSpPr>
        <p:spPr>
          <a:xfrm>
            <a:off x="548640" y="2715768"/>
            <a:ext cx="365760" cy="365760"/>
          </a:xfrm>
          <a:prstGeom prst="ellipse">
            <a:avLst/>
          </a:prstGeom>
          <a:solidFill>
            <a:srgbClr val="1B5FAE"/>
          </a:solidFill>
          <a:ln/>
        </p:spPr>
      </p:sp>
      <p:sp>
        <p:nvSpPr>
          <p:cNvPr id="8" name="Text 6"/>
          <p:cNvSpPr/>
          <p:nvPr/>
        </p:nvSpPr>
        <p:spPr>
          <a:xfrm>
            <a:off x="548640" y="2715768"/>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51560" y="2670048"/>
            <a:ext cx="5029200" cy="777240"/>
          </a:xfrm>
          <a:prstGeom prst="rect">
            <a:avLst/>
          </a:prstGeom>
          <a:noFill/>
          <a:ln/>
        </p:spPr>
        <p:txBody>
          <a:bodyPr wrap="square" lIns="0" tIns="0" rIns="0" bIns="0" rtlCol="0" anchor="t"/>
          <a:lstStyle/>
          <a:p>
            <a:pPr marL="0" indent="0">
              <a:lnSpc>
                <a:spcPct val="125000"/>
              </a:lnSpc>
              <a:buNone/>
            </a:pPr>
            <a:r>
              <a:rPr lang="en-US" sz="1300" dirty="0">
                <a:solidFill>
                  <a:srgbClr val="0B1E3D"/>
                </a:solidFill>
                <a:latin typeface="Calibri" pitchFamily="34" charset="0"/>
                <a:ea typeface="Calibri" pitchFamily="34" charset="-122"/>
                <a:cs typeface="Calibri" pitchFamily="34" charset="-120"/>
              </a:rPr>
              <a:t>Sopir dapat mengubah status operasional ambulans melalui aplikasi.</a:t>
            </a:r>
            <a:endParaRPr lang="en-US" sz="1300" dirty="0"/>
          </a:p>
        </p:txBody>
      </p:sp>
      <p:sp>
        <p:nvSpPr>
          <p:cNvPr id="10" name="Shape 8"/>
          <p:cNvSpPr/>
          <p:nvPr/>
        </p:nvSpPr>
        <p:spPr>
          <a:xfrm>
            <a:off x="548640" y="3648456"/>
            <a:ext cx="365760" cy="365760"/>
          </a:xfrm>
          <a:prstGeom prst="ellipse">
            <a:avLst/>
          </a:prstGeom>
          <a:solidFill>
            <a:srgbClr val="1B5FAE"/>
          </a:solidFill>
          <a:ln/>
        </p:spPr>
      </p:sp>
      <p:sp>
        <p:nvSpPr>
          <p:cNvPr id="11" name="Text 9"/>
          <p:cNvSpPr/>
          <p:nvPr/>
        </p:nvSpPr>
        <p:spPr>
          <a:xfrm>
            <a:off x="548640" y="3648456"/>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051560" y="3602736"/>
            <a:ext cx="5029200" cy="777240"/>
          </a:xfrm>
          <a:prstGeom prst="rect">
            <a:avLst/>
          </a:prstGeom>
          <a:noFill/>
          <a:ln/>
        </p:spPr>
        <p:txBody>
          <a:bodyPr wrap="square" lIns="0" tIns="0" rIns="0" bIns="0" rtlCol="0" anchor="t"/>
          <a:lstStyle/>
          <a:p>
            <a:pPr marL="0" indent="0">
              <a:lnSpc>
                <a:spcPct val="125000"/>
              </a:lnSpc>
              <a:buNone/>
            </a:pPr>
            <a:r>
              <a:rPr lang="en-US" sz="1300" dirty="0">
                <a:solidFill>
                  <a:srgbClr val="0B1E3D"/>
                </a:solidFill>
                <a:latin typeface="Calibri" pitchFamily="34" charset="0"/>
                <a:ea typeface="Calibri" pitchFamily="34" charset="-122"/>
                <a:cs typeface="Calibri" pitchFamily="34" charset="-120"/>
              </a:rPr>
              <a:t>Lokasi ambulans dikirim ke server secara otomatis selama aplikasi aktif tanpa memerlukan input manual secara berulang.</a:t>
            </a:r>
            <a:endParaRPr lang="en-US" sz="1300" dirty="0"/>
          </a:p>
        </p:txBody>
      </p:sp>
      <p:sp>
        <p:nvSpPr>
          <p:cNvPr id="13" name="Shape 11"/>
          <p:cNvSpPr/>
          <p:nvPr/>
        </p:nvSpPr>
        <p:spPr>
          <a:xfrm>
            <a:off x="548640" y="4581144"/>
            <a:ext cx="365760" cy="365760"/>
          </a:xfrm>
          <a:prstGeom prst="ellipse">
            <a:avLst/>
          </a:prstGeom>
          <a:solidFill>
            <a:srgbClr val="1B5FAE"/>
          </a:solidFill>
          <a:ln/>
        </p:spPr>
      </p:sp>
      <p:sp>
        <p:nvSpPr>
          <p:cNvPr id="14" name="Text 12"/>
          <p:cNvSpPr/>
          <p:nvPr/>
        </p:nvSpPr>
        <p:spPr>
          <a:xfrm>
            <a:off x="548640" y="4581144"/>
            <a:ext cx="36576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051560" y="4535424"/>
            <a:ext cx="5029200" cy="777240"/>
          </a:xfrm>
          <a:prstGeom prst="rect">
            <a:avLst/>
          </a:prstGeom>
          <a:noFill/>
          <a:ln/>
        </p:spPr>
        <p:txBody>
          <a:bodyPr wrap="square" lIns="0" tIns="0" rIns="0" bIns="0" rtlCol="0" anchor="t"/>
          <a:lstStyle/>
          <a:p>
            <a:pPr marL="0" indent="0">
              <a:lnSpc>
                <a:spcPct val="125000"/>
              </a:lnSpc>
              <a:buNone/>
            </a:pPr>
            <a:r>
              <a:rPr lang="en-US" sz="1300" dirty="0">
                <a:solidFill>
                  <a:srgbClr val="0B1E3D"/>
                </a:solidFill>
                <a:latin typeface="Calibri" pitchFamily="34" charset="0"/>
                <a:ea typeface="Calibri" pitchFamily="34" charset="-122"/>
                <a:cs typeface="Calibri" pitchFamily="34" charset="-120"/>
              </a:rPr>
              <a:t>Sopir dapat mengaktifkan tombol darurat (SOS) apabila terjadi kendala saat bertugas.</a:t>
            </a:r>
            <a:endParaRPr lang="en-US" sz="1300" dirty="0"/>
          </a:p>
        </p:txBody>
      </p:sp>
      <p:sp>
        <p:nvSpPr>
          <p:cNvPr id="16" name="Shape 14"/>
          <p:cNvSpPr/>
          <p:nvPr/>
        </p:nvSpPr>
        <p:spPr>
          <a:xfrm>
            <a:off x="7818120" y="1417320"/>
            <a:ext cx="2651760" cy="5074920"/>
          </a:xfrm>
          <a:prstGeom prst="roundRect">
            <a:avLst>
              <a:gd name="adj" fmla="val 7586"/>
            </a:avLst>
          </a:prstGeom>
          <a:solidFill>
            <a:srgbClr val="0B1E3D"/>
          </a:solidFill>
          <a:ln w="38100">
            <a:solidFill>
              <a:srgbClr val="13294B"/>
            </a:solidFill>
            <a:prstDash val="solid"/>
          </a:ln>
        </p:spPr>
      </p:sp>
      <p:sp>
        <p:nvSpPr>
          <p:cNvPr id="17" name="Shape 15"/>
          <p:cNvSpPr/>
          <p:nvPr/>
        </p:nvSpPr>
        <p:spPr>
          <a:xfrm>
            <a:off x="7936992" y="1737360"/>
            <a:ext cx="2414016" cy="4434840"/>
          </a:xfrm>
          <a:prstGeom prst="roundRect">
            <a:avLst>
              <a:gd name="adj" fmla="val 3788"/>
            </a:avLst>
          </a:prstGeom>
          <a:solidFill>
            <a:srgbClr val="FFFFFF"/>
          </a:solidFill>
          <a:ln/>
        </p:spPr>
      </p:sp>
      <p:sp>
        <p:nvSpPr>
          <p:cNvPr id="18" name="Text 16"/>
          <p:cNvSpPr/>
          <p:nvPr/>
        </p:nvSpPr>
        <p:spPr>
          <a:xfrm>
            <a:off x="8046720" y="1801368"/>
            <a:ext cx="2194560" cy="22860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09:41</a:t>
            </a:r>
            <a:endParaRPr lang="en-US" sz="900" dirty="0"/>
          </a:p>
        </p:txBody>
      </p:sp>
      <p:sp>
        <p:nvSpPr>
          <p:cNvPr id="19" name="Text 17"/>
          <p:cNvSpPr/>
          <p:nvPr/>
        </p:nvSpPr>
        <p:spPr>
          <a:xfrm>
            <a:off x="8046720" y="2148840"/>
            <a:ext cx="2194560" cy="320040"/>
          </a:xfrm>
          <a:prstGeom prst="rect">
            <a:avLst/>
          </a:prstGeom>
          <a:noFill/>
          <a:ln/>
        </p:spPr>
        <p:txBody>
          <a:bodyPr wrap="square" lIns="0" tIns="0" rIns="0" bIns="0" rtlCol="0" anchor="ctr"/>
          <a:lstStyle/>
          <a:p>
            <a:pPr marL="0" indent="0">
              <a:buNone/>
            </a:pPr>
            <a:r>
              <a:rPr lang="en-US" sz="1400" b="1" dirty="0">
                <a:solidFill>
                  <a:srgbClr val="0B1E3D"/>
                </a:solidFill>
                <a:latin typeface="Montserrat" pitchFamily="34" charset="0"/>
                <a:ea typeface="Montserrat" pitchFamily="34" charset="-122"/>
                <a:cs typeface="Montserrat" pitchFamily="34" charset="-120"/>
              </a:rPr>
              <a:t>Login</a:t>
            </a:r>
            <a:endParaRPr lang="en-US" sz="1400" dirty="0"/>
          </a:p>
        </p:txBody>
      </p:sp>
      <p:sp>
        <p:nvSpPr>
          <p:cNvPr id="20" name="Shape 18"/>
          <p:cNvSpPr/>
          <p:nvPr/>
        </p:nvSpPr>
        <p:spPr>
          <a:xfrm>
            <a:off x="8046720" y="2560320"/>
            <a:ext cx="2194560" cy="320040"/>
          </a:xfrm>
          <a:prstGeom prst="roundRect">
            <a:avLst>
              <a:gd name="adj" fmla="val 17143"/>
            </a:avLst>
          </a:prstGeom>
          <a:solidFill>
            <a:srgbClr val="F2F6FB"/>
          </a:solidFill>
          <a:ln w="12700">
            <a:solidFill>
              <a:srgbClr val="DCE6F2"/>
            </a:solidFill>
            <a:prstDash val="solid"/>
          </a:ln>
        </p:spPr>
      </p:sp>
      <p:sp>
        <p:nvSpPr>
          <p:cNvPr id="21" name="Text 19"/>
          <p:cNvSpPr/>
          <p:nvPr/>
        </p:nvSpPr>
        <p:spPr>
          <a:xfrm>
            <a:off x="8138160" y="2560320"/>
            <a:ext cx="2011680" cy="320040"/>
          </a:xfrm>
          <a:prstGeom prst="rect">
            <a:avLst/>
          </a:prstGeom>
          <a:noFill/>
          <a:ln/>
        </p:spPr>
        <p:txBody>
          <a:bodyPr wrap="square" lIns="0" tIns="0" rIns="0" bIns="0" rtlCol="0" anchor="ctr"/>
          <a:lstStyle/>
          <a:p>
            <a:pPr marL="0" indent="0">
              <a:buNone/>
            </a:pPr>
            <a:r>
              <a:rPr lang="en-US" sz="900" dirty="0">
                <a:solidFill>
                  <a:srgbClr val="5B6B82"/>
                </a:solidFill>
                <a:latin typeface="Calibri" pitchFamily="34" charset="0"/>
                <a:ea typeface="Calibri" pitchFamily="34" charset="-122"/>
                <a:cs typeface="Calibri" pitchFamily="34" charset="-120"/>
              </a:rPr>
              <a:t>Username</a:t>
            </a:r>
            <a:endParaRPr lang="en-US" sz="900" dirty="0"/>
          </a:p>
        </p:txBody>
      </p:sp>
      <p:sp>
        <p:nvSpPr>
          <p:cNvPr id="22" name="Shape 20"/>
          <p:cNvSpPr/>
          <p:nvPr/>
        </p:nvSpPr>
        <p:spPr>
          <a:xfrm>
            <a:off x="8046720" y="2953512"/>
            <a:ext cx="2194560" cy="320040"/>
          </a:xfrm>
          <a:prstGeom prst="roundRect">
            <a:avLst>
              <a:gd name="adj" fmla="val 17143"/>
            </a:avLst>
          </a:prstGeom>
          <a:solidFill>
            <a:srgbClr val="F2F6FB"/>
          </a:solidFill>
          <a:ln w="12700">
            <a:solidFill>
              <a:srgbClr val="DCE6F2"/>
            </a:solidFill>
            <a:prstDash val="solid"/>
          </a:ln>
        </p:spPr>
      </p:sp>
      <p:sp>
        <p:nvSpPr>
          <p:cNvPr id="23" name="Text 21"/>
          <p:cNvSpPr/>
          <p:nvPr/>
        </p:nvSpPr>
        <p:spPr>
          <a:xfrm>
            <a:off x="8138160" y="2953512"/>
            <a:ext cx="2011680" cy="320040"/>
          </a:xfrm>
          <a:prstGeom prst="rect">
            <a:avLst/>
          </a:prstGeom>
          <a:noFill/>
          <a:ln/>
        </p:spPr>
        <p:txBody>
          <a:bodyPr wrap="square" lIns="0" tIns="0" rIns="0" bIns="0" rtlCol="0" anchor="ctr"/>
          <a:lstStyle/>
          <a:p>
            <a:pPr marL="0" indent="0">
              <a:buNone/>
            </a:pPr>
            <a:r>
              <a:rPr lang="en-US" sz="900" dirty="0">
                <a:solidFill>
                  <a:srgbClr val="5B6B82"/>
                </a:solidFill>
                <a:latin typeface="Calibri" pitchFamily="34" charset="0"/>
                <a:ea typeface="Calibri" pitchFamily="34" charset="-122"/>
                <a:cs typeface="Calibri" pitchFamily="34" charset="-120"/>
              </a:rPr>
              <a:t>Password</a:t>
            </a:r>
            <a:endParaRPr lang="en-US" sz="900" dirty="0"/>
          </a:p>
        </p:txBody>
      </p:sp>
      <p:sp>
        <p:nvSpPr>
          <p:cNvPr id="24" name="Shape 22"/>
          <p:cNvSpPr/>
          <p:nvPr/>
        </p:nvSpPr>
        <p:spPr>
          <a:xfrm>
            <a:off x="8046720" y="3383280"/>
            <a:ext cx="2194560" cy="347472"/>
          </a:xfrm>
          <a:prstGeom prst="roundRect">
            <a:avLst>
              <a:gd name="adj" fmla="val 50000"/>
            </a:avLst>
          </a:prstGeom>
          <a:solidFill>
            <a:srgbClr val="1B5FAE"/>
          </a:solidFill>
          <a:ln/>
        </p:spPr>
      </p:sp>
      <p:sp>
        <p:nvSpPr>
          <p:cNvPr id="25" name="Text 23"/>
          <p:cNvSpPr/>
          <p:nvPr/>
        </p:nvSpPr>
        <p:spPr>
          <a:xfrm>
            <a:off x="8046720" y="3383280"/>
            <a:ext cx="219456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Masuk</a:t>
            </a:r>
            <a:endParaRPr lang="en-US" sz="1050" dirty="0"/>
          </a:p>
        </p:txBody>
      </p:sp>
      <p:sp>
        <p:nvSpPr>
          <p:cNvPr id="26" name="Shape 24"/>
          <p:cNvSpPr/>
          <p:nvPr/>
        </p:nvSpPr>
        <p:spPr>
          <a:xfrm>
            <a:off x="8046720" y="3931920"/>
            <a:ext cx="2194560" cy="0"/>
          </a:xfrm>
          <a:prstGeom prst="line">
            <a:avLst/>
          </a:prstGeom>
          <a:noFill/>
          <a:ln w="12700">
            <a:solidFill>
              <a:srgbClr val="DCE6F2"/>
            </a:solidFill>
            <a:prstDash val="solid"/>
          </a:ln>
        </p:spPr>
      </p:sp>
      <p:sp>
        <p:nvSpPr>
          <p:cNvPr id="27" name="Text 25"/>
          <p:cNvSpPr/>
          <p:nvPr/>
        </p:nvSpPr>
        <p:spPr>
          <a:xfrm>
            <a:off x="8046720" y="4023360"/>
            <a:ext cx="2194560" cy="274320"/>
          </a:xfrm>
          <a:prstGeom prst="rect">
            <a:avLst/>
          </a:prstGeom>
          <a:noFill/>
          <a:ln/>
        </p:spPr>
        <p:txBody>
          <a:bodyPr wrap="square" lIns="0" tIns="0" rIns="0" bIns="0" rtlCol="0" anchor="ctr"/>
          <a:lstStyle/>
          <a:p>
            <a:pPr marL="0" indent="0">
              <a:buNone/>
            </a:pPr>
            <a:r>
              <a:rPr lang="en-US" sz="1100" b="1" dirty="0">
                <a:solidFill>
                  <a:srgbClr val="0B1E3D"/>
                </a:solidFill>
                <a:latin typeface="Montserrat" pitchFamily="34" charset="0"/>
                <a:ea typeface="Montserrat" pitchFamily="34" charset="-122"/>
                <a:cs typeface="Montserrat" pitchFamily="34" charset="-120"/>
              </a:rPr>
              <a:t>Status Ambulans</a:t>
            </a:r>
            <a:endParaRPr lang="en-US" sz="1100" dirty="0"/>
          </a:p>
        </p:txBody>
      </p:sp>
      <p:sp>
        <p:nvSpPr>
          <p:cNvPr id="28" name="Shape 26"/>
          <p:cNvSpPr/>
          <p:nvPr/>
        </p:nvSpPr>
        <p:spPr>
          <a:xfrm>
            <a:off x="8046720" y="4343400"/>
            <a:ext cx="2194560" cy="292608"/>
          </a:xfrm>
          <a:prstGeom prst="roundRect">
            <a:avLst>
              <a:gd name="adj" fmla="val 50000"/>
            </a:avLst>
          </a:prstGeom>
          <a:solidFill>
            <a:srgbClr val="1FAE6B"/>
          </a:solidFill>
          <a:ln/>
        </p:spPr>
      </p:sp>
      <p:sp>
        <p:nvSpPr>
          <p:cNvPr id="29" name="Text 27"/>
          <p:cNvSpPr/>
          <p:nvPr/>
        </p:nvSpPr>
        <p:spPr>
          <a:xfrm>
            <a:off x="8046720" y="4343400"/>
            <a:ext cx="21945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Available</a:t>
            </a:r>
            <a:endParaRPr lang="en-US" sz="950" dirty="0"/>
          </a:p>
        </p:txBody>
      </p:sp>
      <p:sp>
        <p:nvSpPr>
          <p:cNvPr id="30" name="Text 28"/>
          <p:cNvSpPr/>
          <p:nvPr/>
        </p:nvSpPr>
        <p:spPr>
          <a:xfrm>
            <a:off x="8046720" y="4818888"/>
            <a:ext cx="2194560" cy="274320"/>
          </a:xfrm>
          <a:prstGeom prst="rect">
            <a:avLst/>
          </a:prstGeom>
          <a:noFill/>
          <a:ln/>
        </p:spPr>
        <p:txBody>
          <a:bodyPr wrap="square" lIns="0" tIns="0" rIns="0" bIns="0" rtlCol="0" anchor="ctr"/>
          <a:lstStyle/>
          <a:p>
            <a:pPr marL="0" indent="0">
              <a:buNone/>
            </a:pPr>
            <a:r>
              <a:rPr lang="en-US" sz="1100" b="1" dirty="0">
                <a:solidFill>
                  <a:srgbClr val="0B1E3D"/>
                </a:solidFill>
                <a:latin typeface="Montserrat" pitchFamily="34" charset="0"/>
                <a:ea typeface="Montserrat" pitchFamily="34" charset="-122"/>
                <a:cs typeface="Montserrat" pitchFamily="34" charset="-120"/>
              </a:rPr>
              <a:t>GPS Tracking Aktif</a:t>
            </a:r>
            <a:endParaRPr lang="en-US" sz="1100" dirty="0"/>
          </a:p>
        </p:txBody>
      </p:sp>
      <p:sp>
        <p:nvSpPr>
          <p:cNvPr id="31" name="Shape 29"/>
          <p:cNvSpPr/>
          <p:nvPr/>
        </p:nvSpPr>
        <p:spPr>
          <a:xfrm>
            <a:off x="8046720" y="5120640"/>
            <a:ext cx="2194560" cy="566928"/>
          </a:xfrm>
          <a:prstGeom prst="roundRect">
            <a:avLst>
              <a:gd name="adj" fmla="val 9677"/>
            </a:avLst>
          </a:prstGeom>
          <a:solidFill>
            <a:srgbClr val="F2F6FB"/>
          </a:solidFill>
          <a:ln/>
        </p:spPr>
      </p:sp>
      <p:sp>
        <p:nvSpPr>
          <p:cNvPr id="32" name="Text 30"/>
          <p:cNvSpPr/>
          <p:nvPr/>
        </p:nvSpPr>
        <p:spPr>
          <a:xfrm>
            <a:off x="8138160" y="5120640"/>
            <a:ext cx="2011680" cy="566928"/>
          </a:xfrm>
          <a:prstGeom prst="rect">
            <a:avLst/>
          </a:prstGeom>
          <a:noFill/>
          <a:ln/>
        </p:spPr>
        <p:txBody>
          <a:bodyPr wrap="square" lIns="0" tIns="0" rIns="0" bIns="0" rtlCol="0" anchor="ctr"/>
          <a:lstStyle/>
          <a:p>
            <a:pPr marL="0" indent="0">
              <a:buNone/>
            </a:pPr>
            <a:r>
              <a:rPr lang="en-US" sz="950" dirty="0">
                <a:solidFill>
                  <a:srgbClr val="1B5FAE"/>
                </a:solidFill>
                <a:latin typeface="Calibri" pitchFamily="34" charset="0"/>
                <a:ea typeface="Calibri" pitchFamily="34" charset="-122"/>
                <a:cs typeface="Calibri" pitchFamily="34" charset="-120"/>
              </a:rPr>
              <a:t>📍  Mengirim lokasi...</a:t>
            </a:r>
            <a:endParaRPr lang="en-US" sz="950" dirty="0"/>
          </a:p>
        </p:txBody>
      </p:sp>
      <p:sp>
        <p:nvSpPr>
          <p:cNvPr id="33" name="Shape 31"/>
          <p:cNvSpPr/>
          <p:nvPr/>
        </p:nvSpPr>
        <p:spPr>
          <a:xfrm>
            <a:off x="8046720" y="5532120"/>
            <a:ext cx="2194560" cy="457200"/>
          </a:xfrm>
          <a:prstGeom prst="roundRect">
            <a:avLst>
              <a:gd name="adj" fmla="val 50000"/>
            </a:avLst>
          </a:prstGeom>
          <a:solidFill>
            <a:srgbClr val="E4392B"/>
          </a:solidFill>
          <a:ln/>
        </p:spPr>
      </p:sp>
      <p:sp>
        <p:nvSpPr>
          <p:cNvPr id="34" name="Text 32"/>
          <p:cNvSpPr/>
          <p:nvPr/>
        </p:nvSpPr>
        <p:spPr>
          <a:xfrm>
            <a:off x="8046720" y="5532120"/>
            <a:ext cx="21945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Montserrat" pitchFamily="34" charset="0"/>
                <a:ea typeface="Montserrat" pitchFamily="34" charset="-122"/>
                <a:cs typeface="Montserrat" pitchFamily="34" charset="-120"/>
              </a:rPr>
              <a:t>🆘  SOS</a:t>
            </a:r>
            <a:endParaRPr lang="en-US" sz="1300" dirty="0"/>
          </a:p>
        </p:txBody>
      </p:sp>
      <p:sp>
        <p:nvSpPr>
          <p:cNvPr id="35" name="Shape 33"/>
          <p:cNvSpPr/>
          <p:nvPr/>
        </p:nvSpPr>
        <p:spPr>
          <a:xfrm>
            <a:off x="8686800" y="6199632"/>
            <a:ext cx="914400" cy="91440"/>
          </a:xfrm>
          <a:prstGeom prst="roundRect">
            <a:avLst>
              <a:gd name="adj" fmla="val 50000"/>
            </a:avLst>
          </a:prstGeom>
          <a:solidFill>
            <a:srgbClr val="13294B"/>
          </a:solidFill>
          <a:ln/>
        </p:spPr>
      </p:sp>
      <p:sp>
        <p:nvSpPr>
          <p:cNvPr id="36" name="Shape 34"/>
          <p:cNvSpPr/>
          <p:nvPr/>
        </p:nvSpPr>
        <p:spPr>
          <a:xfrm>
            <a:off x="7818120" y="1417320"/>
            <a:ext cx="2651760" cy="457200"/>
          </a:xfrm>
          <a:prstGeom prst="roundRect">
            <a:avLst>
              <a:gd name="adj" fmla="val 30000"/>
            </a:avLst>
          </a:prstGeom>
          <a:solidFill>
            <a:srgbClr val="0B1E3D"/>
          </a:solidFill>
          <a:ln/>
        </p:spPr>
      </p:sp>
      <p:sp>
        <p:nvSpPr>
          <p:cNvPr id="37" name="Text 35"/>
          <p:cNvSpPr/>
          <p:nvPr/>
        </p:nvSpPr>
        <p:spPr>
          <a:xfrm>
            <a:off x="7818120" y="1417320"/>
            <a:ext cx="2651760" cy="457200"/>
          </a:xfrm>
          <a:prstGeom prst="rect">
            <a:avLst/>
          </a:prstGeom>
          <a:noFill/>
          <a:ln/>
        </p:spPr>
        <p:txBody>
          <a:bodyPr wrap="square" lIns="0" tIns="0" rIns="0" bIns="0" rtlCol="0" anchor="ctr"/>
          <a:lstStyle/>
          <a:p>
            <a:pPr marL="0" indent="0" algn="ctr">
              <a:buNone/>
            </a:pPr>
            <a:r>
              <a:rPr lang="en-US" sz="850" b="1" kern="0" spc="100" dirty="0">
                <a:solidFill>
                  <a:srgbClr val="00C2D1"/>
                </a:solidFill>
                <a:latin typeface="Calibri" pitchFamily="34" charset="0"/>
                <a:ea typeface="Calibri" pitchFamily="34" charset="-122"/>
                <a:cs typeface="Calibri" pitchFamily="34" charset="-120"/>
              </a:rPr>
              <a:t>PROTOTYPE / CONCEPT UI</a:t>
            </a:r>
            <a:endParaRPr lang="en-US" sz="850" dirty="0"/>
          </a:p>
        </p:txBody>
      </p:sp>
      <p:sp>
        <p:nvSpPr>
          <p:cNvPr id="38" name="Text 36"/>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DRIVER APPLICATION</a:t>
            </a:r>
            <a:endParaRPr lang="en-US" sz="900" dirty="0"/>
          </a:p>
        </p:txBody>
      </p:sp>
      <p:sp>
        <p:nvSpPr>
          <p:cNvPr id="39" name="Text 37"/>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08 / 20</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OPERATOR DASHBOARD</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Dashboard Operator</a:t>
            </a:r>
            <a:endParaRPr lang="en-US" sz="3200" dirty="0"/>
          </a:p>
        </p:txBody>
      </p:sp>
      <p:sp>
        <p:nvSpPr>
          <p:cNvPr id="4" name="Shape 2"/>
          <p:cNvSpPr/>
          <p:nvPr/>
        </p:nvSpPr>
        <p:spPr>
          <a:xfrm>
            <a:off x="548640" y="1691640"/>
            <a:ext cx="329184" cy="329184"/>
          </a:xfrm>
          <a:prstGeom prst="ellipse">
            <a:avLst/>
          </a:prstGeom>
          <a:solidFill>
            <a:srgbClr val="1B5FAE"/>
          </a:solidFill>
          <a:ln/>
        </p:spPr>
      </p:sp>
      <p:sp>
        <p:nvSpPr>
          <p:cNvPr id="5" name="Text 3"/>
          <p:cNvSpPr/>
          <p:nvPr/>
        </p:nvSpPr>
        <p:spPr>
          <a:xfrm>
            <a:off x="548640" y="1691640"/>
            <a:ext cx="329184" cy="329184"/>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1005840" y="1645920"/>
            <a:ext cx="3429000" cy="777240"/>
          </a:xfrm>
          <a:prstGeom prst="rect">
            <a:avLst/>
          </a:prstGeom>
          <a:noFill/>
          <a:ln/>
        </p:spPr>
        <p:txBody>
          <a:bodyPr wrap="square" lIns="0" tIns="0" rIns="0" bIns="0" rtlCol="0" anchor="t"/>
          <a:lstStyle/>
          <a:p>
            <a:pPr marL="0" indent="0">
              <a:lnSpc>
                <a:spcPct val="122000"/>
              </a:lnSpc>
              <a:buNone/>
            </a:pPr>
            <a:r>
              <a:rPr lang="en-US" sz="1150" dirty="0">
                <a:solidFill>
                  <a:srgbClr val="0B1E3D"/>
                </a:solidFill>
                <a:latin typeface="Calibri" pitchFamily="34" charset="0"/>
                <a:ea typeface="Calibri" pitchFamily="34" charset="-122"/>
                <a:cs typeface="Calibri" pitchFamily="34" charset="-120"/>
              </a:rPr>
              <a:t>Operator dapat melihat daftar seluruh ambulans beserta status operasionalnya.</a:t>
            </a:r>
            <a:endParaRPr lang="en-US" sz="1150" dirty="0"/>
          </a:p>
        </p:txBody>
      </p:sp>
      <p:sp>
        <p:nvSpPr>
          <p:cNvPr id="7" name="Shape 5"/>
          <p:cNvSpPr/>
          <p:nvPr/>
        </p:nvSpPr>
        <p:spPr>
          <a:xfrm>
            <a:off x="548640" y="2569464"/>
            <a:ext cx="329184" cy="329184"/>
          </a:xfrm>
          <a:prstGeom prst="ellipse">
            <a:avLst/>
          </a:prstGeom>
          <a:solidFill>
            <a:srgbClr val="1B5FAE"/>
          </a:solidFill>
          <a:ln/>
        </p:spPr>
      </p:sp>
      <p:sp>
        <p:nvSpPr>
          <p:cNvPr id="8" name="Text 6"/>
          <p:cNvSpPr/>
          <p:nvPr/>
        </p:nvSpPr>
        <p:spPr>
          <a:xfrm>
            <a:off x="548640" y="2569464"/>
            <a:ext cx="329184" cy="329184"/>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005840" y="2523744"/>
            <a:ext cx="3429000" cy="777240"/>
          </a:xfrm>
          <a:prstGeom prst="rect">
            <a:avLst/>
          </a:prstGeom>
          <a:noFill/>
          <a:ln/>
        </p:spPr>
        <p:txBody>
          <a:bodyPr wrap="square" lIns="0" tIns="0" rIns="0" bIns="0" rtlCol="0" anchor="t"/>
          <a:lstStyle/>
          <a:p>
            <a:pPr marL="0" indent="0">
              <a:lnSpc>
                <a:spcPct val="122000"/>
              </a:lnSpc>
              <a:buNone/>
            </a:pPr>
            <a:r>
              <a:rPr lang="en-US" sz="1150" dirty="0">
                <a:solidFill>
                  <a:srgbClr val="0B1E3D"/>
                </a:solidFill>
                <a:latin typeface="Calibri" pitchFamily="34" charset="0"/>
                <a:ea typeface="Calibri" pitchFamily="34" charset="-122"/>
                <a:cs typeface="Calibri" pitchFamily="34" charset="-120"/>
              </a:rPr>
              <a:t>Operator dapat memantau lokasi setiap ambulans melalui peta secara real-time.</a:t>
            </a:r>
            <a:endParaRPr lang="en-US" sz="1150" dirty="0"/>
          </a:p>
        </p:txBody>
      </p:sp>
      <p:sp>
        <p:nvSpPr>
          <p:cNvPr id="10" name="Shape 8"/>
          <p:cNvSpPr/>
          <p:nvPr/>
        </p:nvSpPr>
        <p:spPr>
          <a:xfrm>
            <a:off x="548640" y="3447288"/>
            <a:ext cx="329184" cy="329184"/>
          </a:xfrm>
          <a:prstGeom prst="ellipse">
            <a:avLst/>
          </a:prstGeom>
          <a:solidFill>
            <a:srgbClr val="1B5FAE"/>
          </a:solidFill>
          <a:ln/>
        </p:spPr>
      </p:sp>
      <p:sp>
        <p:nvSpPr>
          <p:cNvPr id="11" name="Text 9"/>
          <p:cNvSpPr/>
          <p:nvPr/>
        </p:nvSpPr>
        <p:spPr>
          <a:xfrm>
            <a:off x="548640" y="3447288"/>
            <a:ext cx="329184" cy="329184"/>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005840" y="3401568"/>
            <a:ext cx="3429000" cy="777240"/>
          </a:xfrm>
          <a:prstGeom prst="rect">
            <a:avLst/>
          </a:prstGeom>
          <a:noFill/>
          <a:ln/>
        </p:spPr>
        <p:txBody>
          <a:bodyPr wrap="square" lIns="0" tIns="0" rIns="0" bIns="0" rtlCol="0" anchor="t"/>
          <a:lstStyle/>
          <a:p>
            <a:pPr marL="0" indent="0">
              <a:lnSpc>
                <a:spcPct val="122000"/>
              </a:lnSpc>
              <a:buNone/>
            </a:pPr>
            <a:r>
              <a:rPr lang="en-US" sz="1150" dirty="0">
                <a:solidFill>
                  <a:srgbClr val="0B1E3D"/>
                </a:solidFill>
                <a:latin typeface="Calibri" pitchFamily="34" charset="0"/>
                <a:ea typeface="Calibri" pitchFamily="34" charset="-122"/>
                <a:cs typeface="Calibri" pitchFamily="34" charset="-120"/>
              </a:rPr>
              <a:t>Operator dapat mengetahui kapan terakhir lokasi ambulans diperbarui (Last Seen).</a:t>
            </a:r>
            <a:endParaRPr lang="en-US" sz="1150" dirty="0"/>
          </a:p>
        </p:txBody>
      </p:sp>
      <p:sp>
        <p:nvSpPr>
          <p:cNvPr id="13" name="Shape 11"/>
          <p:cNvSpPr/>
          <p:nvPr/>
        </p:nvSpPr>
        <p:spPr>
          <a:xfrm>
            <a:off x="548640" y="4325112"/>
            <a:ext cx="329184" cy="329184"/>
          </a:xfrm>
          <a:prstGeom prst="ellipse">
            <a:avLst/>
          </a:prstGeom>
          <a:solidFill>
            <a:srgbClr val="1B5FAE"/>
          </a:solidFill>
          <a:ln/>
        </p:spPr>
      </p:sp>
      <p:sp>
        <p:nvSpPr>
          <p:cNvPr id="14" name="Text 12"/>
          <p:cNvSpPr/>
          <p:nvPr/>
        </p:nvSpPr>
        <p:spPr>
          <a:xfrm>
            <a:off x="548640" y="4325112"/>
            <a:ext cx="329184" cy="329184"/>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1005840" y="4279392"/>
            <a:ext cx="3429000" cy="777240"/>
          </a:xfrm>
          <a:prstGeom prst="rect">
            <a:avLst/>
          </a:prstGeom>
          <a:noFill/>
          <a:ln/>
        </p:spPr>
        <p:txBody>
          <a:bodyPr wrap="square" lIns="0" tIns="0" rIns="0" bIns="0" rtlCol="0" anchor="t"/>
          <a:lstStyle/>
          <a:p>
            <a:pPr marL="0" indent="0">
              <a:lnSpc>
                <a:spcPct val="122000"/>
              </a:lnSpc>
              <a:buNone/>
            </a:pPr>
            <a:r>
              <a:rPr lang="en-US" sz="1150" dirty="0">
                <a:solidFill>
                  <a:srgbClr val="0B1E3D"/>
                </a:solidFill>
                <a:latin typeface="Calibri" pitchFamily="34" charset="0"/>
                <a:ea typeface="Calibri" pitchFamily="34" charset="-122"/>
                <a:cs typeface="Calibri" pitchFamily="34" charset="-120"/>
              </a:rPr>
              <a:t>Operator dapat memperoleh rekomendasi ambulans terdekat berdasarkan lokasi pasien dan status armada.</a:t>
            </a:r>
            <a:endParaRPr lang="en-US" sz="1150" dirty="0"/>
          </a:p>
        </p:txBody>
      </p:sp>
      <p:sp>
        <p:nvSpPr>
          <p:cNvPr id="16" name="Shape 14"/>
          <p:cNvSpPr/>
          <p:nvPr/>
        </p:nvSpPr>
        <p:spPr>
          <a:xfrm>
            <a:off x="548640" y="5202936"/>
            <a:ext cx="329184" cy="329184"/>
          </a:xfrm>
          <a:prstGeom prst="ellipse">
            <a:avLst/>
          </a:prstGeom>
          <a:solidFill>
            <a:srgbClr val="1B5FAE"/>
          </a:solidFill>
          <a:ln/>
        </p:spPr>
      </p:sp>
      <p:sp>
        <p:nvSpPr>
          <p:cNvPr id="17" name="Text 15"/>
          <p:cNvSpPr/>
          <p:nvPr/>
        </p:nvSpPr>
        <p:spPr>
          <a:xfrm>
            <a:off x="548640" y="5202936"/>
            <a:ext cx="329184" cy="329184"/>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005840" y="5157216"/>
            <a:ext cx="3429000" cy="777240"/>
          </a:xfrm>
          <a:prstGeom prst="rect">
            <a:avLst/>
          </a:prstGeom>
          <a:noFill/>
          <a:ln/>
        </p:spPr>
        <p:txBody>
          <a:bodyPr wrap="square" lIns="0" tIns="0" rIns="0" bIns="0" rtlCol="0" anchor="t"/>
          <a:lstStyle/>
          <a:p>
            <a:pPr marL="0" indent="0">
              <a:lnSpc>
                <a:spcPct val="122000"/>
              </a:lnSpc>
              <a:buNone/>
            </a:pPr>
            <a:r>
              <a:rPr lang="en-US" sz="1150" dirty="0">
                <a:solidFill>
                  <a:srgbClr val="0B1E3D"/>
                </a:solidFill>
                <a:latin typeface="Calibri" pitchFamily="34" charset="0"/>
                <a:ea typeface="Calibri" pitchFamily="34" charset="-122"/>
                <a:cs typeface="Calibri" pitchFamily="34" charset="-120"/>
              </a:rPr>
              <a:t>Operator dapat melihat riwayat perjalanan setiap ambulans.</a:t>
            </a:r>
            <a:endParaRPr lang="en-US" sz="1150" dirty="0"/>
          </a:p>
        </p:txBody>
      </p:sp>
      <p:sp>
        <p:nvSpPr>
          <p:cNvPr id="19" name="Shape 17"/>
          <p:cNvSpPr/>
          <p:nvPr/>
        </p:nvSpPr>
        <p:spPr>
          <a:xfrm>
            <a:off x="4709160" y="1600200"/>
            <a:ext cx="6903720" cy="4526280"/>
          </a:xfrm>
          <a:prstGeom prst="roundRect">
            <a:avLst>
              <a:gd name="adj" fmla="val 2020"/>
            </a:avLst>
          </a:prstGeom>
          <a:solidFill>
            <a:srgbClr val="13294B"/>
          </a:solidFill>
          <a:ln/>
        </p:spPr>
      </p:sp>
      <p:sp>
        <p:nvSpPr>
          <p:cNvPr id="20" name="Shape 18"/>
          <p:cNvSpPr/>
          <p:nvPr/>
        </p:nvSpPr>
        <p:spPr>
          <a:xfrm>
            <a:off x="4709160" y="1600200"/>
            <a:ext cx="6903720" cy="365760"/>
          </a:xfrm>
          <a:prstGeom prst="roundRect">
            <a:avLst>
              <a:gd name="adj" fmla="val 25000"/>
            </a:avLst>
          </a:prstGeom>
          <a:solidFill>
            <a:srgbClr val="0B1E3D"/>
          </a:solidFill>
          <a:ln/>
        </p:spPr>
      </p:sp>
      <p:sp>
        <p:nvSpPr>
          <p:cNvPr id="21" name="Text 19"/>
          <p:cNvSpPr/>
          <p:nvPr/>
        </p:nvSpPr>
        <p:spPr>
          <a:xfrm>
            <a:off x="4892040" y="1600200"/>
            <a:ext cx="6537960" cy="365760"/>
          </a:xfrm>
          <a:prstGeom prst="rect">
            <a:avLst/>
          </a:prstGeom>
          <a:noFill/>
          <a:ln/>
        </p:spPr>
        <p:txBody>
          <a:bodyPr wrap="square" lIns="0" tIns="0" rIns="0" bIns="0" rtlCol="0" anchor="ctr"/>
          <a:lstStyle/>
          <a:p>
            <a:pPr marL="0" indent="0">
              <a:buNone/>
            </a:pPr>
            <a:r>
              <a:rPr lang="en-US" sz="900" b="1" kern="0" spc="100" dirty="0">
                <a:solidFill>
                  <a:srgbClr val="00C2D1"/>
                </a:solidFill>
                <a:latin typeface="Calibri" pitchFamily="34" charset="0"/>
                <a:ea typeface="Calibri" pitchFamily="34" charset="-122"/>
                <a:cs typeface="Calibri" pitchFamily="34" charset="-120"/>
              </a:rPr>
              <a:t>PROTOTYPE / CONCEPT DASHBOARD</a:t>
            </a:r>
            <a:endParaRPr lang="en-US" sz="900" dirty="0"/>
          </a:p>
        </p:txBody>
      </p:sp>
      <p:sp>
        <p:nvSpPr>
          <p:cNvPr id="22" name="Shape 20"/>
          <p:cNvSpPr/>
          <p:nvPr/>
        </p:nvSpPr>
        <p:spPr>
          <a:xfrm>
            <a:off x="4937760" y="2148840"/>
            <a:ext cx="3520440" cy="3749040"/>
          </a:xfrm>
          <a:prstGeom prst="roundRect">
            <a:avLst>
              <a:gd name="adj" fmla="val 1558"/>
            </a:avLst>
          </a:prstGeom>
          <a:solidFill>
            <a:srgbClr val="1B4B7A"/>
          </a:solidFill>
          <a:ln/>
        </p:spPr>
      </p:sp>
      <p:sp>
        <p:nvSpPr>
          <p:cNvPr id="23" name="Shape 21"/>
          <p:cNvSpPr/>
          <p:nvPr/>
        </p:nvSpPr>
        <p:spPr>
          <a:xfrm>
            <a:off x="5303520" y="3063240"/>
            <a:ext cx="2788920" cy="0"/>
          </a:xfrm>
          <a:prstGeom prst="line">
            <a:avLst/>
          </a:prstGeom>
          <a:noFill/>
          <a:ln w="12700">
            <a:solidFill>
              <a:srgbClr val="2E6396"/>
            </a:solidFill>
            <a:prstDash val="solid"/>
          </a:ln>
        </p:spPr>
      </p:sp>
      <p:sp>
        <p:nvSpPr>
          <p:cNvPr id="24" name="Shape 22"/>
          <p:cNvSpPr/>
          <p:nvPr/>
        </p:nvSpPr>
        <p:spPr>
          <a:xfrm>
            <a:off x="5303520" y="4069080"/>
            <a:ext cx="2788920" cy="0"/>
          </a:xfrm>
          <a:prstGeom prst="line">
            <a:avLst/>
          </a:prstGeom>
          <a:noFill/>
          <a:ln w="12700">
            <a:solidFill>
              <a:srgbClr val="2E6396"/>
            </a:solidFill>
            <a:prstDash val="solid"/>
          </a:ln>
        </p:spPr>
      </p:sp>
      <p:sp>
        <p:nvSpPr>
          <p:cNvPr id="25" name="Shape 23"/>
          <p:cNvSpPr/>
          <p:nvPr/>
        </p:nvSpPr>
        <p:spPr>
          <a:xfrm>
            <a:off x="6126480" y="2423160"/>
            <a:ext cx="0" cy="3200400"/>
          </a:xfrm>
          <a:prstGeom prst="line">
            <a:avLst/>
          </a:prstGeom>
          <a:noFill/>
          <a:ln w="12700">
            <a:solidFill>
              <a:srgbClr val="2E6396"/>
            </a:solidFill>
            <a:prstDash val="solid"/>
          </a:ln>
        </p:spPr>
      </p:sp>
      <p:sp>
        <p:nvSpPr>
          <p:cNvPr id="26" name="Shape 24"/>
          <p:cNvSpPr/>
          <p:nvPr/>
        </p:nvSpPr>
        <p:spPr>
          <a:xfrm>
            <a:off x="7315200" y="2423160"/>
            <a:ext cx="0" cy="3200400"/>
          </a:xfrm>
          <a:prstGeom prst="line">
            <a:avLst/>
          </a:prstGeom>
          <a:noFill/>
          <a:ln w="12700">
            <a:solidFill>
              <a:srgbClr val="2E6396"/>
            </a:solidFill>
            <a:prstDash val="solid"/>
          </a:ln>
        </p:spPr>
      </p:sp>
      <p:sp>
        <p:nvSpPr>
          <p:cNvPr id="27" name="Shape 25"/>
          <p:cNvSpPr/>
          <p:nvPr/>
        </p:nvSpPr>
        <p:spPr>
          <a:xfrm>
            <a:off x="5577840" y="2651760"/>
            <a:ext cx="274320" cy="274320"/>
          </a:xfrm>
          <a:prstGeom prst="ellipse">
            <a:avLst/>
          </a:prstGeom>
          <a:solidFill>
            <a:srgbClr val="1FAE6B"/>
          </a:solidFill>
          <a:ln w="19050">
            <a:solidFill>
              <a:srgbClr val="FFFFFF"/>
            </a:solidFill>
            <a:prstDash val="solid"/>
          </a:ln>
        </p:spPr>
      </p:sp>
      <p:sp>
        <p:nvSpPr>
          <p:cNvPr id="28" name="Shape 26"/>
          <p:cNvSpPr/>
          <p:nvPr/>
        </p:nvSpPr>
        <p:spPr>
          <a:xfrm>
            <a:off x="6766560" y="3520440"/>
            <a:ext cx="274320" cy="274320"/>
          </a:xfrm>
          <a:prstGeom prst="ellipse">
            <a:avLst/>
          </a:prstGeom>
          <a:solidFill>
            <a:srgbClr val="00C2D1"/>
          </a:solidFill>
          <a:ln w="19050">
            <a:solidFill>
              <a:srgbClr val="FFFFFF"/>
            </a:solidFill>
            <a:prstDash val="solid"/>
          </a:ln>
        </p:spPr>
      </p:sp>
      <p:sp>
        <p:nvSpPr>
          <p:cNvPr id="29" name="Shape 27"/>
          <p:cNvSpPr/>
          <p:nvPr/>
        </p:nvSpPr>
        <p:spPr>
          <a:xfrm>
            <a:off x="7955280" y="4343400"/>
            <a:ext cx="274320" cy="274320"/>
          </a:xfrm>
          <a:prstGeom prst="ellipse">
            <a:avLst/>
          </a:prstGeom>
          <a:solidFill>
            <a:srgbClr val="1FAE6B"/>
          </a:solidFill>
          <a:ln w="19050">
            <a:solidFill>
              <a:srgbClr val="FFFFFF"/>
            </a:solidFill>
            <a:prstDash val="solid"/>
          </a:ln>
        </p:spPr>
      </p:sp>
      <p:sp>
        <p:nvSpPr>
          <p:cNvPr id="30" name="Shape 28"/>
          <p:cNvSpPr/>
          <p:nvPr/>
        </p:nvSpPr>
        <p:spPr>
          <a:xfrm>
            <a:off x="6217920" y="4983480"/>
            <a:ext cx="274320" cy="274320"/>
          </a:xfrm>
          <a:prstGeom prst="ellipse">
            <a:avLst/>
          </a:prstGeom>
          <a:solidFill>
            <a:srgbClr val="E4392B"/>
          </a:solidFill>
          <a:ln w="19050">
            <a:solidFill>
              <a:srgbClr val="FFFFFF"/>
            </a:solidFill>
            <a:prstDash val="solid"/>
          </a:ln>
        </p:spPr>
      </p:sp>
      <p:sp>
        <p:nvSpPr>
          <p:cNvPr id="31" name="Text 29"/>
          <p:cNvSpPr/>
          <p:nvPr/>
        </p:nvSpPr>
        <p:spPr>
          <a:xfrm>
            <a:off x="5074920" y="5577840"/>
            <a:ext cx="3246120" cy="274320"/>
          </a:xfrm>
          <a:prstGeom prst="rect">
            <a:avLst/>
          </a:prstGeom>
          <a:noFill/>
          <a:ln/>
        </p:spPr>
        <p:txBody>
          <a:bodyPr wrap="square" lIns="0" tIns="0" rIns="0" bIns="0" rtlCol="0" anchor="ctr"/>
          <a:lstStyle/>
          <a:p>
            <a:pPr marL="0" indent="0">
              <a:buNone/>
            </a:pPr>
            <a:r>
              <a:rPr lang="en-US" sz="900" i="1" dirty="0">
                <a:solidFill>
                  <a:srgbClr val="AFC2DC"/>
                </a:solidFill>
                <a:latin typeface="Calibri" pitchFamily="34" charset="0"/>
                <a:ea typeface="Calibri" pitchFamily="34" charset="-122"/>
                <a:cs typeface="Calibri" pitchFamily="34" charset="-120"/>
              </a:rPr>
              <a:t>Peta Lokasi Ambulans (Real-Time)</a:t>
            </a:r>
            <a:endParaRPr lang="en-US" sz="900" dirty="0"/>
          </a:p>
        </p:txBody>
      </p:sp>
      <p:sp>
        <p:nvSpPr>
          <p:cNvPr id="32" name="Text 30"/>
          <p:cNvSpPr/>
          <p:nvPr/>
        </p:nvSpPr>
        <p:spPr>
          <a:xfrm>
            <a:off x="8686800" y="2148840"/>
            <a:ext cx="2697480" cy="274320"/>
          </a:xfrm>
          <a:prstGeom prst="rect">
            <a:avLst/>
          </a:prstGeom>
          <a:noFill/>
          <a:ln/>
        </p:spPr>
        <p:txBody>
          <a:bodyPr wrap="square" lIns="0" tIns="0" rIns="0" bIns="0" rtlCol="0" anchor="ctr"/>
          <a:lstStyle/>
          <a:p>
            <a:pPr marL="0" indent="0">
              <a:buNone/>
            </a:pPr>
            <a:r>
              <a:rPr lang="en-US" sz="1200" b="1" dirty="0">
                <a:solidFill>
                  <a:srgbClr val="FFFFFF"/>
                </a:solidFill>
                <a:latin typeface="Montserrat" pitchFamily="34" charset="0"/>
                <a:ea typeface="Montserrat" pitchFamily="34" charset="-122"/>
                <a:cs typeface="Montserrat" pitchFamily="34" charset="-120"/>
              </a:rPr>
              <a:t>Status Armada</a:t>
            </a:r>
            <a:endParaRPr lang="en-US" sz="1200" dirty="0"/>
          </a:p>
        </p:txBody>
      </p:sp>
      <p:sp>
        <p:nvSpPr>
          <p:cNvPr id="33" name="Shape 31"/>
          <p:cNvSpPr/>
          <p:nvPr/>
        </p:nvSpPr>
        <p:spPr>
          <a:xfrm>
            <a:off x="8686800" y="2532888"/>
            <a:ext cx="2697480" cy="566928"/>
          </a:xfrm>
          <a:prstGeom prst="roundRect">
            <a:avLst>
              <a:gd name="adj" fmla="val 8065"/>
            </a:avLst>
          </a:prstGeom>
          <a:solidFill>
            <a:srgbClr val="0B1E3D"/>
          </a:solidFill>
          <a:ln/>
        </p:spPr>
      </p:sp>
      <p:sp>
        <p:nvSpPr>
          <p:cNvPr id="34" name="Text 32"/>
          <p:cNvSpPr/>
          <p:nvPr/>
        </p:nvSpPr>
        <p:spPr>
          <a:xfrm>
            <a:off x="8823960" y="2596896"/>
            <a:ext cx="1463040" cy="23774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Ambulance A</a:t>
            </a:r>
            <a:endParaRPr lang="en-US" sz="1000" dirty="0"/>
          </a:p>
        </p:txBody>
      </p:sp>
      <p:sp>
        <p:nvSpPr>
          <p:cNvPr id="35" name="Text 33"/>
          <p:cNvSpPr/>
          <p:nvPr/>
        </p:nvSpPr>
        <p:spPr>
          <a:xfrm>
            <a:off x="8823960" y="2843784"/>
            <a:ext cx="1463040" cy="219456"/>
          </a:xfrm>
          <a:prstGeom prst="rect">
            <a:avLst/>
          </a:prstGeom>
          <a:noFill/>
          <a:ln/>
        </p:spPr>
        <p:txBody>
          <a:bodyPr wrap="square" lIns="0" tIns="0" rIns="0" bIns="0" rtlCol="0" anchor="ctr"/>
          <a:lstStyle/>
          <a:p>
            <a:pPr marL="0" indent="0">
              <a:buNone/>
            </a:pPr>
            <a:r>
              <a:rPr lang="en-US" sz="800" dirty="0">
                <a:solidFill>
                  <a:srgbClr val="AFC2DC"/>
                </a:solidFill>
                <a:latin typeface="Calibri" pitchFamily="34" charset="0"/>
                <a:ea typeface="Calibri" pitchFamily="34" charset="-122"/>
                <a:cs typeface="Calibri" pitchFamily="34" charset="-120"/>
              </a:rPr>
              <a:t>Last seen: 1 min</a:t>
            </a:r>
            <a:endParaRPr lang="en-US" sz="800" dirty="0"/>
          </a:p>
        </p:txBody>
      </p:sp>
      <p:sp>
        <p:nvSpPr>
          <p:cNvPr id="36" name="Shape 34"/>
          <p:cNvSpPr/>
          <p:nvPr/>
        </p:nvSpPr>
        <p:spPr>
          <a:xfrm>
            <a:off x="10332720" y="2670048"/>
            <a:ext cx="914400" cy="292608"/>
          </a:xfrm>
          <a:prstGeom prst="roundRect">
            <a:avLst>
              <a:gd name="adj" fmla="val 50000"/>
            </a:avLst>
          </a:prstGeom>
          <a:solidFill>
            <a:srgbClr val="1FAE6B"/>
          </a:solidFill>
          <a:ln/>
        </p:spPr>
      </p:sp>
      <p:sp>
        <p:nvSpPr>
          <p:cNvPr id="37" name="Text 35"/>
          <p:cNvSpPr/>
          <p:nvPr/>
        </p:nvSpPr>
        <p:spPr>
          <a:xfrm>
            <a:off x="10332720" y="2670048"/>
            <a:ext cx="914400" cy="29260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Available</a:t>
            </a:r>
            <a:endParaRPr lang="en-US" sz="700" dirty="0"/>
          </a:p>
        </p:txBody>
      </p:sp>
      <p:sp>
        <p:nvSpPr>
          <p:cNvPr id="38" name="Shape 36"/>
          <p:cNvSpPr/>
          <p:nvPr/>
        </p:nvSpPr>
        <p:spPr>
          <a:xfrm>
            <a:off x="8686800" y="3218688"/>
            <a:ext cx="2697480" cy="566928"/>
          </a:xfrm>
          <a:prstGeom prst="roundRect">
            <a:avLst>
              <a:gd name="adj" fmla="val 8065"/>
            </a:avLst>
          </a:prstGeom>
          <a:solidFill>
            <a:srgbClr val="0B1E3D"/>
          </a:solidFill>
          <a:ln/>
        </p:spPr>
      </p:sp>
      <p:sp>
        <p:nvSpPr>
          <p:cNvPr id="39" name="Text 37"/>
          <p:cNvSpPr/>
          <p:nvPr/>
        </p:nvSpPr>
        <p:spPr>
          <a:xfrm>
            <a:off x="8823960" y="3282696"/>
            <a:ext cx="1463040" cy="23774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Ambulance B</a:t>
            </a:r>
            <a:endParaRPr lang="en-US" sz="1000" dirty="0"/>
          </a:p>
        </p:txBody>
      </p:sp>
      <p:sp>
        <p:nvSpPr>
          <p:cNvPr id="40" name="Text 38"/>
          <p:cNvSpPr/>
          <p:nvPr/>
        </p:nvSpPr>
        <p:spPr>
          <a:xfrm>
            <a:off x="8823960" y="3529584"/>
            <a:ext cx="1463040" cy="219456"/>
          </a:xfrm>
          <a:prstGeom prst="rect">
            <a:avLst/>
          </a:prstGeom>
          <a:noFill/>
          <a:ln/>
        </p:spPr>
        <p:txBody>
          <a:bodyPr wrap="square" lIns="0" tIns="0" rIns="0" bIns="0" rtlCol="0" anchor="ctr"/>
          <a:lstStyle/>
          <a:p>
            <a:pPr marL="0" indent="0">
              <a:buNone/>
            </a:pPr>
            <a:r>
              <a:rPr lang="en-US" sz="800" dirty="0">
                <a:solidFill>
                  <a:srgbClr val="AFC2DC"/>
                </a:solidFill>
                <a:latin typeface="Calibri" pitchFamily="34" charset="0"/>
                <a:ea typeface="Calibri" pitchFamily="34" charset="-122"/>
                <a:cs typeface="Calibri" pitchFamily="34" charset="-120"/>
              </a:rPr>
              <a:t>Last seen: 3 min</a:t>
            </a:r>
            <a:endParaRPr lang="en-US" sz="800" dirty="0"/>
          </a:p>
        </p:txBody>
      </p:sp>
      <p:sp>
        <p:nvSpPr>
          <p:cNvPr id="41" name="Shape 39"/>
          <p:cNvSpPr/>
          <p:nvPr/>
        </p:nvSpPr>
        <p:spPr>
          <a:xfrm>
            <a:off x="10332720" y="3355848"/>
            <a:ext cx="914400" cy="292608"/>
          </a:xfrm>
          <a:prstGeom prst="roundRect">
            <a:avLst>
              <a:gd name="adj" fmla="val 50000"/>
            </a:avLst>
          </a:prstGeom>
          <a:solidFill>
            <a:srgbClr val="00C2D1"/>
          </a:solidFill>
          <a:ln/>
        </p:spPr>
      </p:sp>
      <p:sp>
        <p:nvSpPr>
          <p:cNvPr id="42" name="Text 40"/>
          <p:cNvSpPr/>
          <p:nvPr/>
        </p:nvSpPr>
        <p:spPr>
          <a:xfrm>
            <a:off x="10332720" y="3355848"/>
            <a:ext cx="914400" cy="29260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On Mission</a:t>
            </a:r>
            <a:endParaRPr lang="en-US" sz="700" dirty="0"/>
          </a:p>
        </p:txBody>
      </p:sp>
      <p:sp>
        <p:nvSpPr>
          <p:cNvPr id="43" name="Shape 41"/>
          <p:cNvSpPr/>
          <p:nvPr/>
        </p:nvSpPr>
        <p:spPr>
          <a:xfrm>
            <a:off x="8686800" y="3904488"/>
            <a:ext cx="2697480" cy="566928"/>
          </a:xfrm>
          <a:prstGeom prst="roundRect">
            <a:avLst>
              <a:gd name="adj" fmla="val 8065"/>
            </a:avLst>
          </a:prstGeom>
          <a:solidFill>
            <a:srgbClr val="0B1E3D"/>
          </a:solidFill>
          <a:ln/>
        </p:spPr>
      </p:sp>
      <p:sp>
        <p:nvSpPr>
          <p:cNvPr id="44" name="Text 42"/>
          <p:cNvSpPr/>
          <p:nvPr/>
        </p:nvSpPr>
        <p:spPr>
          <a:xfrm>
            <a:off x="8823960" y="3968496"/>
            <a:ext cx="1463040" cy="23774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Ambulance C</a:t>
            </a:r>
            <a:endParaRPr lang="en-US" sz="1000" dirty="0"/>
          </a:p>
        </p:txBody>
      </p:sp>
      <p:sp>
        <p:nvSpPr>
          <p:cNvPr id="45" name="Text 43"/>
          <p:cNvSpPr/>
          <p:nvPr/>
        </p:nvSpPr>
        <p:spPr>
          <a:xfrm>
            <a:off x="8823960" y="4215384"/>
            <a:ext cx="1463040" cy="219456"/>
          </a:xfrm>
          <a:prstGeom prst="rect">
            <a:avLst/>
          </a:prstGeom>
          <a:noFill/>
          <a:ln/>
        </p:spPr>
        <p:txBody>
          <a:bodyPr wrap="square" lIns="0" tIns="0" rIns="0" bIns="0" rtlCol="0" anchor="ctr"/>
          <a:lstStyle/>
          <a:p>
            <a:pPr marL="0" indent="0">
              <a:buNone/>
            </a:pPr>
            <a:r>
              <a:rPr lang="en-US" sz="800" dirty="0">
                <a:solidFill>
                  <a:srgbClr val="AFC2DC"/>
                </a:solidFill>
                <a:latin typeface="Calibri" pitchFamily="34" charset="0"/>
                <a:ea typeface="Calibri" pitchFamily="34" charset="-122"/>
                <a:cs typeface="Calibri" pitchFamily="34" charset="-120"/>
              </a:rPr>
              <a:t>Last seen: 20 min</a:t>
            </a:r>
            <a:endParaRPr lang="en-US" sz="800" dirty="0"/>
          </a:p>
        </p:txBody>
      </p:sp>
      <p:sp>
        <p:nvSpPr>
          <p:cNvPr id="46" name="Shape 44"/>
          <p:cNvSpPr/>
          <p:nvPr/>
        </p:nvSpPr>
        <p:spPr>
          <a:xfrm>
            <a:off x="10332720" y="4041648"/>
            <a:ext cx="914400" cy="292608"/>
          </a:xfrm>
          <a:prstGeom prst="roundRect">
            <a:avLst>
              <a:gd name="adj" fmla="val 50000"/>
            </a:avLst>
          </a:prstGeom>
          <a:solidFill>
            <a:srgbClr val="F2A93B"/>
          </a:solidFill>
          <a:ln/>
        </p:spPr>
      </p:sp>
      <p:sp>
        <p:nvSpPr>
          <p:cNvPr id="47" name="Text 45"/>
          <p:cNvSpPr/>
          <p:nvPr/>
        </p:nvSpPr>
        <p:spPr>
          <a:xfrm>
            <a:off x="10332720" y="4041648"/>
            <a:ext cx="914400" cy="29260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Maintenance</a:t>
            </a:r>
            <a:endParaRPr lang="en-US" sz="700" dirty="0"/>
          </a:p>
        </p:txBody>
      </p:sp>
      <p:sp>
        <p:nvSpPr>
          <p:cNvPr id="48" name="Shape 46"/>
          <p:cNvSpPr/>
          <p:nvPr/>
        </p:nvSpPr>
        <p:spPr>
          <a:xfrm>
            <a:off x="8686800" y="4590288"/>
            <a:ext cx="2697480" cy="566928"/>
          </a:xfrm>
          <a:prstGeom prst="roundRect">
            <a:avLst>
              <a:gd name="adj" fmla="val 8065"/>
            </a:avLst>
          </a:prstGeom>
          <a:solidFill>
            <a:srgbClr val="0B1E3D"/>
          </a:solidFill>
          <a:ln/>
        </p:spPr>
      </p:sp>
      <p:sp>
        <p:nvSpPr>
          <p:cNvPr id="49" name="Text 47"/>
          <p:cNvSpPr/>
          <p:nvPr/>
        </p:nvSpPr>
        <p:spPr>
          <a:xfrm>
            <a:off x="8823960" y="4654296"/>
            <a:ext cx="1463040" cy="23774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Ambulance D</a:t>
            </a:r>
            <a:endParaRPr lang="en-US" sz="1000" dirty="0"/>
          </a:p>
        </p:txBody>
      </p:sp>
      <p:sp>
        <p:nvSpPr>
          <p:cNvPr id="50" name="Text 48"/>
          <p:cNvSpPr/>
          <p:nvPr/>
        </p:nvSpPr>
        <p:spPr>
          <a:xfrm>
            <a:off x="8823960" y="4901184"/>
            <a:ext cx="1463040" cy="219456"/>
          </a:xfrm>
          <a:prstGeom prst="rect">
            <a:avLst/>
          </a:prstGeom>
          <a:noFill/>
          <a:ln/>
        </p:spPr>
        <p:txBody>
          <a:bodyPr wrap="square" lIns="0" tIns="0" rIns="0" bIns="0" rtlCol="0" anchor="ctr"/>
          <a:lstStyle/>
          <a:p>
            <a:pPr marL="0" indent="0">
              <a:buNone/>
            </a:pPr>
            <a:r>
              <a:rPr lang="en-US" sz="800" dirty="0">
                <a:solidFill>
                  <a:srgbClr val="AFC2DC"/>
                </a:solidFill>
                <a:latin typeface="Calibri" pitchFamily="34" charset="0"/>
                <a:ea typeface="Calibri" pitchFamily="34" charset="-122"/>
                <a:cs typeface="Calibri" pitchFamily="34" charset="-120"/>
              </a:rPr>
              <a:t>Last seen: 1 jam</a:t>
            </a:r>
            <a:endParaRPr lang="en-US" sz="800" dirty="0"/>
          </a:p>
        </p:txBody>
      </p:sp>
      <p:sp>
        <p:nvSpPr>
          <p:cNvPr id="51" name="Shape 49"/>
          <p:cNvSpPr/>
          <p:nvPr/>
        </p:nvSpPr>
        <p:spPr>
          <a:xfrm>
            <a:off x="10332720" y="4727448"/>
            <a:ext cx="914400" cy="292608"/>
          </a:xfrm>
          <a:prstGeom prst="roundRect">
            <a:avLst>
              <a:gd name="adj" fmla="val 50000"/>
            </a:avLst>
          </a:prstGeom>
          <a:solidFill>
            <a:srgbClr val="5B6B82"/>
          </a:solidFill>
          <a:ln/>
        </p:spPr>
      </p:sp>
      <p:sp>
        <p:nvSpPr>
          <p:cNvPr id="52" name="Text 50"/>
          <p:cNvSpPr/>
          <p:nvPr/>
        </p:nvSpPr>
        <p:spPr>
          <a:xfrm>
            <a:off x="10332720" y="4727448"/>
            <a:ext cx="914400" cy="29260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Offline</a:t>
            </a:r>
            <a:endParaRPr lang="en-US" sz="700" dirty="0"/>
          </a:p>
        </p:txBody>
      </p:sp>
      <p:sp>
        <p:nvSpPr>
          <p:cNvPr id="53" name="Text 51"/>
          <p:cNvSpPr/>
          <p:nvPr/>
        </p:nvSpPr>
        <p:spPr>
          <a:xfrm>
            <a:off x="8686800" y="5321808"/>
            <a:ext cx="2697480" cy="320040"/>
          </a:xfrm>
          <a:prstGeom prst="rect">
            <a:avLst/>
          </a:prstGeom>
          <a:noFill/>
          <a:ln/>
        </p:spPr>
        <p:txBody>
          <a:bodyPr wrap="square" lIns="0" tIns="0" rIns="0" bIns="0" rtlCol="0" anchor="ctr"/>
          <a:lstStyle/>
          <a:p>
            <a:pPr marL="0" indent="0">
              <a:buNone/>
            </a:pPr>
            <a:r>
              <a:rPr lang="en-US" sz="950" b="1" dirty="0">
                <a:solidFill>
                  <a:srgbClr val="00C2D1"/>
                </a:solidFill>
                <a:latin typeface="Calibri" pitchFamily="34" charset="0"/>
                <a:ea typeface="Calibri" pitchFamily="34" charset="-122"/>
                <a:cs typeface="Calibri" pitchFamily="34" charset="-120"/>
              </a:rPr>
              <a:t>⭐ Rekomendasi: Ambulance A terdekat</a:t>
            </a:r>
            <a:endParaRPr lang="en-US" sz="950" dirty="0"/>
          </a:p>
        </p:txBody>
      </p:sp>
      <p:sp>
        <p:nvSpPr>
          <p:cNvPr id="54" name="Text 5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OPERATOR DASHBOARD</a:t>
            </a:r>
            <a:endParaRPr lang="en-US" sz="900" dirty="0"/>
          </a:p>
        </p:txBody>
      </p:sp>
      <p:sp>
        <p:nvSpPr>
          <p:cNvPr id="55" name="Text 53"/>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09 / 20</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SMART RECOMMENDATION</a:t>
            </a:r>
            <a:endParaRPr lang="en-US" sz="1200" dirty="0"/>
          </a:p>
        </p:txBody>
      </p:sp>
      <p:sp>
        <p:nvSpPr>
          <p:cNvPr id="3" name="Text 1"/>
          <p:cNvSpPr/>
          <p:nvPr/>
        </p:nvSpPr>
        <p:spPr>
          <a:xfrm>
            <a:off x="548640" y="749808"/>
            <a:ext cx="10515600" cy="822960"/>
          </a:xfrm>
          <a:prstGeom prst="rect">
            <a:avLst/>
          </a:prstGeom>
          <a:noFill/>
          <a:ln/>
        </p:spPr>
        <p:txBody>
          <a:bodyPr wrap="square" lIns="0" tIns="0" rIns="0" bIns="0" rtlCol="0" anchor="ctr"/>
          <a:lstStyle/>
          <a:p>
            <a:pPr marL="0" indent="0" algn="l">
              <a:lnSpc>
                <a:spcPct val="102000"/>
              </a:lnSpc>
              <a:buNone/>
            </a:pPr>
            <a:r>
              <a:rPr lang="en-US" sz="2700" b="1" dirty="0">
                <a:solidFill>
                  <a:srgbClr val="0B1E3D"/>
                </a:solidFill>
                <a:latin typeface="Montserrat" pitchFamily="34" charset="0"/>
                <a:ea typeface="Montserrat" pitchFamily="34" charset="-122"/>
                <a:cs typeface="Montserrat" pitchFamily="34" charset="-120"/>
              </a:rPr>
              <a:t>Menentukan Ambulans Terdekat Secara Lebih Cepat</a:t>
            </a:r>
            <a:endParaRPr lang="en-US" sz="2700" dirty="0"/>
          </a:p>
        </p:txBody>
      </p:sp>
      <p:sp>
        <p:nvSpPr>
          <p:cNvPr id="4" name="Shape 2"/>
          <p:cNvSpPr/>
          <p:nvPr/>
        </p:nvSpPr>
        <p:spPr>
          <a:xfrm>
            <a:off x="548640" y="1783080"/>
            <a:ext cx="5120640" cy="603504"/>
          </a:xfrm>
          <a:prstGeom prst="roundRect">
            <a:avLst>
              <a:gd name="adj" fmla="val 13636"/>
            </a:avLst>
          </a:prstGeom>
          <a:solidFill>
            <a:srgbClr val="13294B"/>
          </a:solidFill>
          <a:ln/>
        </p:spPr>
      </p:sp>
      <p:sp>
        <p:nvSpPr>
          <p:cNvPr id="5" name="Text 3"/>
          <p:cNvSpPr/>
          <p:nvPr/>
        </p:nvSpPr>
        <p:spPr>
          <a:xfrm>
            <a:off x="731520" y="1783080"/>
            <a:ext cx="475488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Lokasi Pasien</a:t>
            </a:r>
            <a:endParaRPr lang="en-US" sz="1250" dirty="0"/>
          </a:p>
        </p:txBody>
      </p:sp>
      <p:sp>
        <p:nvSpPr>
          <p:cNvPr id="6" name="Shape 4"/>
          <p:cNvSpPr/>
          <p:nvPr/>
        </p:nvSpPr>
        <p:spPr>
          <a:xfrm>
            <a:off x="3017520" y="2368296"/>
            <a:ext cx="182880" cy="201168"/>
          </a:xfrm>
          <a:prstGeom prst="downArrow">
            <a:avLst/>
          </a:prstGeom>
          <a:solidFill>
            <a:srgbClr val="5B6B82"/>
          </a:solidFill>
          <a:ln/>
        </p:spPr>
      </p:sp>
      <p:sp>
        <p:nvSpPr>
          <p:cNvPr id="7" name="Shape 5"/>
          <p:cNvSpPr/>
          <p:nvPr/>
        </p:nvSpPr>
        <p:spPr>
          <a:xfrm>
            <a:off x="548640" y="2532888"/>
            <a:ext cx="5120640" cy="603504"/>
          </a:xfrm>
          <a:prstGeom prst="roundRect">
            <a:avLst>
              <a:gd name="adj" fmla="val 13636"/>
            </a:avLst>
          </a:prstGeom>
          <a:solidFill>
            <a:srgbClr val="13294B"/>
          </a:solidFill>
          <a:ln/>
        </p:spPr>
      </p:sp>
      <p:sp>
        <p:nvSpPr>
          <p:cNvPr id="8" name="Text 6"/>
          <p:cNvSpPr/>
          <p:nvPr/>
        </p:nvSpPr>
        <p:spPr>
          <a:xfrm>
            <a:off x="731520" y="2532888"/>
            <a:ext cx="475488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Identifikasi Ambulans</a:t>
            </a:r>
            <a:endParaRPr lang="en-US" sz="1250" dirty="0"/>
          </a:p>
        </p:txBody>
      </p:sp>
      <p:sp>
        <p:nvSpPr>
          <p:cNvPr id="9" name="Shape 7"/>
          <p:cNvSpPr/>
          <p:nvPr/>
        </p:nvSpPr>
        <p:spPr>
          <a:xfrm>
            <a:off x="3017520" y="3118104"/>
            <a:ext cx="182880" cy="201168"/>
          </a:xfrm>
          <a:prstGeom prst="downArrow">
            <a:avLst/>
          </a:prstGeom>
          <a:solidFill>
            <a:srgbClr val="5B6B82"/>
          </a:solidFill>
          <a:ln/>
        </p:spPr>
      </p:sp>
      <p:sp>
        <p:nvSpPr>
          <p:cNvPr id="10" name="Shape 8"/>
          <p:cNvSpPr/>
          <p:nvPr/>
        </p:nvSpPr>
        <p:spPr>
          <a:xfrm>
            <a:off x="548640" y="3282696"/>
            <a:ext cx="5120640" cy="603504"/>
          </a:xfrm>
          <a:prstGeom prst="roundRect">
            <a:avLst>
              <a:gd name="adj" fmla="val 13636"/>
            </a:avLst>
          </a:prstGeom>
          <a:solidFill>
            <a:srgbClr val="13294B"/>
          </a:solidFill>
          <a:ln/>
        </p:spPr>
      </p:sp>
      <p:sp>
        <p:nvSpPr>
          <p:cNvPr id="11" name="Text 9"/>
          <p:cNvSpPr/>
          <p:nvPr/>
        </p:nvSpPr>
        <p:spPr>
          <a:xfrm>
            <a:off x="731520" y="3282696"/>
            <a:ext cx="475488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Filter Berdasarkan Status Armada</a:t>
            </a:r>
            <a:endParaRPr lang="en-US" sz="1250" dirty="0"/>
          </a:p>
        </p:txBody>
      </p:sp>
      <p:sp>
        <p:nvSpPr>
          <p:cNvPr id="12" name="Shape 10"/>
          <p:cNvSpPr/>
          <p:nvPr/>
        </p:nvSpPr>
        <p:spPr>
          <a:xfrm>
            <a:off x="3017520" y="3867912"/>
            <a:ext cx="182880" cy="201168"/>
          </a:xfrm>
          <a:prstGeom prst="downArrow">
            <a:avLst/>
          </a:prstGeom>
          <a:solidFill>
            <a:srgbClr val="5B6B82"/>
          </a:solidFill>
          <a:ln/>
        </p:spPr>
      </p:sp>
      <p:sp>
        <p:nvSpPr>
          <p:cNvPr id="13" name="Shape 11"/>
          <p:cNvSpPr/>
          <p:nvPr/>
        </p:nvSpPr>
        <p:spPr>
          <a:xfrm>
            <a:off x="548640" y="4032504"/>
            <a:ext cx="5120640" cy="603504"/>
          </a:xfrm>
          <a:prstGeom prst="roundRect">
            <a:avLst>
              <a:gd name="adj" fmla="val 13636"/>
            </a:avLst>
          </a:prstGeom>
          <a:solidFill>
            <a:srgbClr val="13294B"/>
          </a:solidFill>
          <a:ln/>
        </p:spPr>
      </p:sp>
      <p:sp>
        <p:nvSpPr>
          <p:cNvPr id="14" name="Text 12"/>
          <p:cNvSpPr/>
          <p:nvPr/>
        </p:nvSpPr>
        <p:spPr>
          <a:xfrm>
            <a:off x="731520" y="4032504"/>
            <a:ext cx="475488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Perbandingan Lokasi</a:t>
            </a:r>
            <a:endParaRPr lang="en-US" sz="1250" dirty="0"/>
          </a:p>
        </p:txBody>
      </p:sp>
      <p:sp>
        <p:nvSpPr>
          <p:cNvPr id="15" name="Shape 13"/>
          <p:cNvSpPr/>
          <p:nvPr/>
        </p:nvSpPr>
        <p:spPr>
          <a:xfrm>
            <a:off x="3017520" y="4617720"/>
            <a:ext cx="182880" cy="201168"/>
          </a:xfrm>
          <a:prstGeom prst="downArrow">
            <a:avLst/>
          </a:prstGeom>
          <a:solidFill>
            <a:srgbClr val="5B6B82"/>
          </a:solidFill>
          <a:ln/>
        </p:spPr>
      </p:sp>
      <p:sp>
        <p:nvSpPr>
          <p:cNvPr id="16" name="Shape 14"/>
          <p:cNvSpPr/>
          <p:nvPr/>
        </p:nvSpPr>
        <p:spPr>
          <a:xfrm>
            <a:off x="548640" y="4782312"/>
            <a:ext cx="5120640" cy="603504"/>
          </a:xfrm>
          <a:prstGeom prst="roundRect">
            <a:avLst>
              <a:gd name="adj" fmla="val 13636"/>
            </a:avLst>
          </a:prstGeom>
          <a:solidFill>
            <a:srgbClr val="00C2D1"/>
          </a:solidFill>
          <a:ln/>
        </p:spPr>
      </p:sp>
      <p:sp>
        <p:nvSpPr>
          <p:cNvPr id="17" name="Text 15"/>
          <p:cNvSpPr/>
          <p:nvPr/>
        </p:nvSpPr>
        <p:spPr>
          <a:xfrm>
            <a:off x="731520" y="4782312"/>
            <a:ext cx="4754880" cy="603504"/>
          </a:xfrm>
          <a:prstGeom prst="rect">
            <a:avLst/>
          </a:prstGeom>
          <a:noFill/>
          <a:ln/>
        </p:spPr>
        <p:txBody>
          <a:bodyPr wrap="square" lIns="0" tIns="0" rIns="0" bIns="0" rtlCol="0" anchor="ctr"/>
          <a:lstStyle/>
          <a:p>
            <a:pPr marL="0" indent="0">
              <a:buNone/>
            </a:pPr>
            <a:r>
              <a:rPr lang="en-US" sz="1250" b="1" dirty="0">
                <a:solidFill>
                  <a:srgbClr val="0B1E3D"/>
                </a:solidFill>
                <a:latin typeface="Calibri" pitchFamily="34" charset="0"/>
                <a:ea typeface="Calibri" pitchFamily="34" charset="-122"/>
                <a:cs typeface="Calibri" pitchFamily="34" charset="-120"/>
              </a:rPr>
              <a:t>Rekomendasi Ambulans Terdekat</a:t>
            </a:r>
            <a:endParaRPr lang="en-US" sz="1250" dirty="0"/>
          </a:p>
        </p:txBody>
      </p:sp>
      <p:sp>
        <p:nvSpPr>
          <p:cNvPr id="18" name="Shape 16"/>
          <p:cNvSpPr/>
          <p:nvPr/>
        </p:nvSpPr>
        <p:spPr>
          <a:xfrm>
            <a:off x="6035040" y="1783080"/>
            <a:ext cx="5623560" cy="3063240"/>
          </a:xfrm>
          <a:prstGeom prst="roundRect">
            <a:avLst>
              <a:gd name="adj" fmla="val 2388"/>
            </a:avLst>
          </a:prstGeom>
          <a:solidFill>
            <a:srgbClr val="F2F6FB"/>
          </a:solidFill>
          <a:ln/>
          <a:effectLst>
            <a:outerShdw blurRad="101600" dist="25400" dir="5400000" algn="bl" rotWithShape="0">
              <a:srgbClr val="9AAFC9">
                <a:alpha val="35000"/>
              </a:srgbClr>
            </a:outerShdw>
          </a:effectLst>
        </p:spPr>
      </p:sp>
      <p:sp>
        <p:nvSpPr>
          <p:cNvPr id="19" name="Text 17"/>
          <p:cNvSpPr/>
          <p:nvPr/>
        </p:nvSpPr>
        <p:spPr>
          <a:xfrm>
            <a:off x="6263640" y="1965960"/>
            <a:ext cx="5166360" cy="320040"/>
          </a:xfrm>
          <a:prstGeom prst="rect">
            <a:avLst/>
          </a:prstGeom>
          <a:noFill/>
          <a:ln/>
        </p:spPr>
        <p:txBody>
          <a:bodyPr wrap="square" lIns="0" tIns="0" rIns="0" bIns="0" rtlCol="0" anchor="ctr"/>
          <a:lstStyle/>
          <a:p>
            <a:pPr marL="0" indent="0">
              <a:buNone/>
            </a:pPr>
            <a:r>
              <a:rPr lang="en-US" sz="1300" b="1" dirty="0">
                <a:solidFill>
                  <a:srgbClr val="0B1E3D"/>
                </a:solidFill>
                <a:latin typeface="Montserrat" pitchFamily="34" charset="0"/>
                <a:ea typeface="Montserrat" pitchFamily="34" charset="-122"/>
                <a:cs typeface="Montserrat" pitchFamily="34" charset="-120"/>
              </a:rPr>
              <a:t>Contoh Ilustrasi (Konsep)</a:t>
            </a:r>
            <a:endParaRPr lang="en-US" sz="1300" dirty="0"/>
          </a:p>
        </p:txBody>
      </p:sp>
      <p:sp>
        <p:nvSpPr>
          <p:cNvPr id="20" name="Shape 18"/>
          <p:cNvSpPr/>
          <p:nvPr/>
        </p:nvSpPr>
        <p:spPr>
          <a:xfrm>
            <a:off x="6263640" y="2468880"/>
            <a:ext cx="5166360" cy="621792"/>
          </a:xfrm>
          <a:prstGeom prst="roundRect">
            <a:avLst>
              <a:gd name="adj" fmla="val 10294"/>
            </a:avLst>
          </a:prstGeom>
          <a:solidFill>
            <a:srgbClr val="F2F6FB"/>
          </a:solidFill>
          <a:ln/>
        </p:spPr>
      </p:sp>
      <p:sp>
        <p:nvSpPr>
          <p:cNvPr id="21" name="Text 19"/>
          <p:cNvSpPr/>
          <p:nvPr/>
        </p:nvSpPr>
        <p:spPr>
          <a:xfrm>
            <a:off x="6446520" y="2542032"/>
            <a:ext cx="2743200" cy="274320"/>
          </a:xfrm>
          <a:prstGeom prst="rect">
            <a:avLst/>
          </a:prstGeom>
          <a:noFill/>
          <a:ln/>
        </p:spPr>
        <p:txBody>
          <a:bodyPr wrap="square" lIns="0" tIns="0" rIns="0" bIns="0" rtlCol="0" anchor="ctr"/>
          <a:lstStyle/>
          <a:p>
            <a:pPr marL="0" indent="0">
              <a:buNone/>
            </a:pPr>
            <a:r>
              <a:rPr lang="en-US" sz="1200" b="1" dirty="0">
                <a:solidFill>
                  <a:srgbClr val="0B1E3D"/>
                </a:solidFill>
                <a:latin typeface="Calibri" pitchFamily="34" charset="0"/>
                <a:ea typeface="Calibri" pitchFamily="34" charset="-122"/>
                <a:cs typeface="Calibri" pitchFamily="34" charset="-120"/>
              </a:rPr>
              <a:t>Ambulance A</a:t>
            </a:r>
            <a:endParaRPr lang="en-US" sz="1200" dirty="0"/>
          </a:p>
        </p:txBody>
      </p:sp>
      <p:sp>
        <p:nvSpPr>
          <p:cNvPr id="22" name="Text 20"/>
          <p:cNvSpPr/>
          <p:nvPr/>
        </p:nvSpPr>
        <p:spPr>
          <a:xfrm>
            <a:off x="6446520" y="2798064"/>
            <a:ext cx="3017520" cy="256032"/>
          </a:xfrm>
          <a:prstGeom prst="rect">
            <a:avLst/>
          </a:prstGeom>
          <a:noFill/>
          <a:ln/>
        </p:spPr>
        <p:txBody>
          <a:bodyPr wrap="square" lIns="0" tIns="0" rIns="0" bIns="0" rtlCol="0" anchor="ctr"/>
          <a:lstStyle/>
          <a:p>
            <a:pPr marL="0" indent="0">
              <a:buNone/>
            </a:pPr>
            <a:r>
              <a:rPr lang="en-US" sz="900" i="1" dirty="0">
                <a:solidFill>
                  <a:srgbClr val="5B6B82"/>
                </a:solidFill>
                <a:latin typeface="Calibri" pitchFamily="34" charset="0"/>
                <a:ea typeface="Calibri" pitchFamily="34" charset="-122"/>
                <a:cs typeface="Calibri" pitchFamily="34" charset="-120"/>
              </a:rPr>
              <a:t>Memenuhi kondisi</a:t>
            </a:r>
            <a:endParaRPr lang="en-US" sz="900" dirty="0"/>
          </a:p>
        </p:txBody>
      </p:sp>
      <p:sp>
        <p:nvSpPr>
          <p:cNvPr id="23" name="Shape 21"/>
          <p:cNvSpPr/>
          <p:nvPr/>
        </p:nvSpPr>
        <p:spPr>
          <a:xfrm>
            <a:off x="9784080" y="2624328"/>
            <a:ext cx="1234440" cy="310896"/>
          </a:xfrm>
          <a:prstGeom prst="roundRect">
            <a:avLst>
              <a:gd name="adj" fmla="val 50000"/>
            </a:avLst>
          </a:prstGeom>
          <a:solidFill>
            <a:srgbClr val="1FAE6B"/>
          </a:solidFill>
          <a:ln/>
        </p:spPr>
      </p:sp>
      <p:sp>
        <p:nvSpPr>
          <p:cNvPr id="24" name="Text 22"/>
          <p:cNvSpPr/>
          <p:nvPr/>
        </p:nvSpPr>
        <p:spPr>
          <a:xfrm>
            <a:off x="9784080" y="2624328"/>
            <a:ext cx="12344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Available</a:t>
            </a:r>
            <a:endParaRPr lang="en-US" sz="900" dirty="0"/>
          </a:p>
        </p:txBody>
      </p:sp>
      <p:sp>
        <p:nvSpPr>
          <p:cNvPr id="25" name="Shape 23"/>
          <p:cNvSpPr/>
          <p:nvPr/>
        </p:nvSpPr>
        <p:spPr>
          <a:xfrm>
            <a:off x="6263640" y="3200400"/>
            <a:ext cx="5166360" cy="621792"/>
          </a:xfrm>
          <a:prstGeom prst="roundRect">
            <a:avLst>
              <a:gd name="adj" fmla="val 10294"/>
            </a:avLst>
          </a:prstGeom>
          <a:solidFill>
            <a:srgbClr val="F2F6FB"/>
          </a:solidFill>
          <a:ln/>
        </p:spPr>
      </p:sp>
      <p:sp>
        <p:nvSpPr>
          <p:cNvPr id="26" name="Text 24"/>
          <p:cNvSpPr/>
          <p:nvPr/>
        </p:nvSpPr>
        <p:spPr>
          <a:xfrm>
            <a:off x="6446520" y="3273552"/>
            <a:ext cx="2743200" cy="274320"/>
          </a:xfrm>
          <a:prstGeom prst="rect">
            <a:avLst/>
          </a:prstGeom>
          <a:noFill/>
          <a:ln/>
        </p:spPr>
        <p:txBody>
          <a:bodyPr wrap="square" lIns="0" tIns="0" rIns="0" bIns="0" rtlCol="0" anchor="ctr"/>
          <a:lstStyle/>
          <a:p>
            <a:pPr marL="0" indent="0">
              <a:buNone/>
            </a:pPr>
            <a:r>
              <a:rPr lang="en-US" sz="1200" b="1" dirty="0">
                <a:solidFill>
                  <a:srgbClr val="5B6B82"/>
                </a:solidFill>
                <a:latin typeface="Calibri" pitchFamily="34" charset="0"/>
                <a:ea typeface="Calibri" pitchFamily="34" charset="-122"/>
                <a:cs typeface="Calibri" pitchFamily="34" charset="-120"/>
              </a:rPr>
              <a:t>Ambulance B</a:t>
            </a:r>
            <a:endParaRPr lang="en-US" sz="1200" dirty="0"/>
          </a:p>
        </p:txBody>
      </p:sp>
      <p:sp>
        <p:nvSpPr>
          <p:cNvPr id="27" name="Text 25"/>
          <p:cNvSpPr/>
          <p:nvPr/>
        </p:nvSpPr>
        <p:spPr>
          <a:xfrm>
            <a:off x="6446520" y="3529584"/>
            <a:ext cx="3017520" cy="256032"/>
          </a:xfrm>
          <a:prstGeom prst="rect">
            <a:avLst/>
          </a:prstGeom>
          <a:noFill/>
          <a:ln/>
        </p:spPr>
        <p:txBody>
          <a:bodyPr wrap="square" lIns="0" tIns="0" rIns="0" bIns="0" rtlCol="0" anchor="ctr"/>
          <a:lstStyle/>
          <a:p>
            <a:pPr marL="0" indent="0">
              <a:buNone/>
            </a:pPr>
            <a:r>
              <a:rPr lang="en-US" sz="900" i="1" dirty="0">
                <a:solidFill>
                  <a:srgbClr val="5B6B82"/>
                </a:solidFill>
                <a:latin typeface="Calibri" pitchFamily="34" charset="0"/>
                <a:ea typeface="Calibri" pitchFamily="34" charset="-122"/>
                <a:cs typeface="Calibri" pitchFamily="34" charset="-120"/>
              </a:rPr>
              <a:t>Tidak memenuhi kondisi (sedang bertugas)</a:t>
            </a:r>
            <a:endParaRPr lang="en-US" sz="900" dirty="0"/>
          </a:p>
        </p:txBody>
      </p:sp>
      <p:sp>
        <p:nvSpPr>
          <p:cNvPr id="28" name="Shape 26"/>
          <p:cNvSpPr/>
          <p:nvPr/>
        </p:nvSpPr>
        <p:spPr>
          <a:xfrm>
            <a:off x="9784080" y="3355848"/>
            <a:ext cx="1234440" cy="310896"/>
          </a:xfrm>
          <a:prstGeom prst="roundRect">
            <a:avLst>
              <a:gd name="adj" fmla="val 50000"/>
            </a:avLst>
          </a:prstGeom>
          <a:solidFill>
            <a:srgbClr val="5B6B82"/>
          </a:solidFill>
          <a:ln/>
        </p:spPr>
      </p:sp>
      <p:sp>
        <p:nvSpPr>
          <p:cNvPr id="29" name="Text 27"/>
          <p:cNvSpPr/>
          <p:nvPr/>
        </p:nvSpPr>
        <p:spPr>
          <a:xfrm>
            <a:off x="9784080" y="3355848"/>
            <a:ext cx="12344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On Mission</a:t>
            </a:r>
            <a:endParaRPr lang="en-US" sz="900" dirty="0"/>
          </a:p>
        </p:txBody>
      </p:sp>
      <p:sp>
        <p:nvSpPr>
          <p:cNvPr id="30" name="Shape 28"/>
          <p:cNvSpPr/>
          <p:nvPr/>
        </p:nvSpPr>
        <p:spPr>
          <a:xfrm>
            <a:off x="6263640" y="3931920"/>
            <a:ext cx="5166360" cy="621792"/>
          </a:xfrm>
          <a:prstGeom prst="roundRect">
            <a:avLst>
              <a:gd name="adj" fmla="val 10294"/>
            </a:avLst>
          </a:prstGeom>
          <a:solidFill>
            <a:srgbClr val="F2F6FB"/>
          </a:solidFill>
          <a:ln/>
        </p:spPr>
      </p:sp>
      <p:sp>
        <p:nvSpPr>
          <p:cNvPr id="31" name="Text 29"/>
          <p:cNvSpPr/>
          <p:nvPr/>
        </p:nvSpPr>
        <p:spPr>
          <a:xfrm>
            <a:off x="6446520" y="4005072"/>
            <a:ext cx="2743200" cy="274320"/>
          </a:xfrm>
          <a:prstGeom prst="rect">
            <a:avLst/>
          </a:prstGeom>
          <a:noFill/>
          <a:ln/>
        </p:spPr>
        <p:txBody>
          <a:bodyPr wrap="square" lIns="0" tIns="0" rIns="0" bIns="0" rtlCol="0" anchor="ctr"/>
          <a:lstStyle/>
          <a:p>
            <a:pPr marL="0" indent="0">
              <a:buNone/>
            </a:pPr>
            <a:r>
              <a:rPr lang="en-US" sz="1200" b="1" dirty="0">
                <a:solidFill>
                  <a:srgbClr val="0B1E3D"/>
                </a:solidFill>
                <a:latin typeface="Calibri" pitchFamily="34" charset="0"/>
                <a:ea typeface="Calibri" pitchFamily="34" charset="-122"/>
                <a:cs typeface="Calibri" pitchFamily="34" charset="-120"/>
              </a:rPr>
              <a:t>Ambulance C</a:t>
            </a:r>
            <a:endParaRPr lang="en-US" sz="1200" dirty="0"/>
          </a:p>
        </p:txBody>
      </p:sp>
      <p:sp>
        <p:nvSpPr>
          <p:cNvPr id="32" name="Text 30"/>
          <p:cNvSpPr/>
          <p:nvPr/>
        </p:nvSpPr>
        <p:spPr>
          <a:xfrm>
            <a:off x="6446520" y="4261104"/>
            <a:ext cx="3017520" cy="256032"/>
          </a:xfrm>
          <a:prstGeom prst="rect">
            <a:avLst/>
          </a:prstGeom>
          <a:noFill/>
          <a:ln/>
        </p:spPr>
        <p:txBody>
          <a:bodyPr wrap="square" lIns="0" tIns="0" rIns="0" bIns="0" rtlCol="0" anchor="ctr"/>
          <a:lstStyle/>
          <a:p>
            <a:pPr marL="0" indent="0">
              <a:buNone/>
            </a:pPr>
            <a:r>
              <a:rPr lang="en-US" sz="900" i="1" dirty="0">
                <a:solidFill>
                  <a:srgbClr val="5B6B82"/>
                </a:solidFill>
                <a:latin typeface="Calibri" pitchFamily="34" charset="0"/>
                <a:ea typeface="Calibri" pitchFamily="34" charset="-122"/>
                <a:cs typeface="Calibri" pitchFamily="34" charset="-120"/>
              </a:rPr>
              <a:t>Memenuhi kondisi</a:t>
            </a:r>
            <a:endParaRPr lang="en-US" sz="900" dirty="0"/>
          </a:p>
        </p:txBody>
      </p:sp>
      <p:sp>
        <p:nvSpPr>
          <p:cNvPr id="33" name="Shape 31"/>
          <p:cNvSpPr/>
          <p:nvPr/>
        </p:nvSpPr>
        <p:spPr>
          <a:xfrm>
            <a:off x="9784080" y="4087368"/>
            <a:ext cx="1234440" cy="310896"/>
          </a:xfrm>
          <a:prstGeom prst="roundRect">
            <a:avLst>
              <a:gd name="adj" fmla="val 50000"/>
            </a:avLst>
          </a:prstGeom>
          <a:solidFill>
            <a:srgbClr val="1FAE6B"/>
          </a:solidFill>
          <a:ln/>
        </p:spPr>
      </p:sp>
      <p:sp>
        <p:nvSpPr>
          <p:cNvPr id="34" name="Text 32"/>
          <p:cNvSpPr/>
          <p:nvPr/>
        </p:nvSpPr>
        <p:spPr>
          <a:xfrm>
            <a:off x="9784080" y="4087368"/>
            <a:ext cx="12344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Available</a:t>
            </a:r>
            <a:endParaRPr lang="en-US" sz="900" dirty="0"/>
          </a:p>
        </p:txBody>
      </p:sp>
      <p:sp>
        <p:nvSpPr>
          <p:cNvPr id="35" name="Shape 33"/>
          <p:cNvSpPr/>
          <p:nvPr/>
        </p:nvSpPr>
        <p:spPr>
          <a:xfrm>
            <a:off x="6035040" y="5120640"/>
            <a:ext cx="5623560" cy="914400"/>
          </a:xfrm>
          <a:prstGeom prst="roundRect">
            <a:avLst>
              <a:gd name="adj" fmla="val 8000"/>
            </a:avLst>
          </a:prstGeom>
          <a:solidFill>
            <a:srgbClr val="0B1E3D"/>
          </a:solidFill>
          <a:ln/>
          <a:effectLst>
            <a:outerShdw blurRad="101600" dist="25400" dir="5400000" algn="bl" rotWithShape="0">
              <a:srgbClr val="9AAFC9">
                <a:alpha val="35000"/>
              </a:srgbClr>
            </a:outerShdw>
          </a:effectLst>
        </p:spPr>
      </p:sp>
      <p:sp>
        <p:nvSpPr>
          <p:cNvPr id="36" name="Shape 34"/>
          <p:cNvSpPr/>
          <p:nvPr/>
        </p:nvSpPr>
        <p:spPr>
          <a:xfrm>
            <a:off x="6263640" y="5285232"/>
            <a:ext cx="548640" cy="548640"/>
          </a:xfrm>
          <a:prstGeom prst="ellipse">
            <a:avLst/>
          </a:prstGeom>
          <a:solidFill>
            <a:srgbClr val="00C2D1"/>
          </a:solidFill>
          <a:ln/>
        </p:spPr>
      </p:sp>
      <p:sp>
        <p:nvSpPr>
          <p:cNvPr id="37" name="Text 35"/>
          <p:cNvSpPr/>
          <p:nvPr/>
        </p:nvSpPr>
        <p:spPr>
          <a:xfrm>
            <a:off x="6263640" y="5285232"/>
            <a:ext cx="548640" cy="548640"/>
          </a:xfrm>
          <a:prstGeom prst="rect">
            <a:avLst/>
          </a:prstGeom>
          <a:noFill/>
          <a:ln/>
        </p:spPr>
        <p:txBody>
          <a:bodyPr wrap="square" lIns="0" tIns="0" rIns="0" bIns="0" rtlCol="0" anchor="ctr"/>
          <a:lstStyle/>
          <a:p>
            <a:pPr marL="0" indent="0" algn="ctr">
              <a:buNone/>
            </a:pPr>
            <a:r>
              <a:rPr lang="en-US" sz="2200" dirty="0">
                <a:solidFill>
                  <a:srgbClr val="0B1E3D"/>
                </a:solidFill>
                <a:latin typeface="Calibri" pitchFamily="34" charset="0"/>
                <a:ea typeface="Calibri" pitchFamily="34" charset="-122"/>
                <a:cs typeface="Calibri" pitchFamily="34" charset="-120"/>
              </a:rPr>
              <a:t>⭐</a:t>
            </a:r>
            <a:endParaRPr lang="en-US" sz="2200" dirty="0"/>
          </a:p>
        </p:txBody>
      </p:sp>
      <p:sp>
        <p:nvSpPr>
          <p:cNvPr id="38" name="Text 36"/>
          <p:cNvSpPr/>
          <p:nvPr/>
        </p:nvSpPr>
        <p:spPr>
          <a:xfrm>
            <a:off x="6995160" y="5239512"/>
            <a:ext cx="4434840" cy="32004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Ambulance C — Recommended Ambulance</a:t>
            </a:r>
            <a:endParaRPr lang="en-US" sz="1300" dirty="0"/>
          </a:p>
        </p:txBody>
      </p:sp>
      <p:sp>
        <p:nvSpPr>
          <p:cNvPr id="39" name="Text 37"/>
          <p:cNvSpPr/>
          <p:nvPr/>
        </p:nvSpPr>
        <p:spPr>
          <a:xfrm>
            <a:off x="6995160" y="5550408"/>
            <a:ext cx="4434840" cy="320040"/>
          </a:xfrm>
          <a:prstGeom prst="rect">
            <a:avLst/>
          </a:prstGeom>
          <a:noFill/>
          <a:ln/>
        </p:spPr>
        <p:txBody>
          <a:bodyPr wrap="square" lIns="0" tIns="0" rIns="0" bIns="0" rtlCol="0" anchor="ctr"/>
          <a:lstStyle/>
          <a:p>
            <a:pPr marL="0" indent="0">
              <a:buNone/>
            </a:pPr>
            <a:r>
              <a:rPr lang="en-US" sz="1000" dirty="0">
                <a:solidFill>
                  <a:srgbClr val="AFC2DC"/>
                </a:solidFill>
                <a:latin typeface="Calibri" pitchFamily="34" charset="0"/>
                <a:ea typeface="Calibri" pitchFamily="34" charset="-122"/>
                <a:cs typeface="Calibri" pitchFamily="34" charset="-120"/>
              </a:rPr>
              <a:t>Paling dekat dan memenuhi kondisi ketersediaan</a:t>
            </a:r>
            <a:endParaRPr lang="en-US" sz="1000" dirty="0"/>
          </a:p>
        </p:txBody>
      </p:sp>
      <p:sp>
        <p:nvSpPr>
          <p:cNvPr id="40" name="Text 38"/>
          <p:cNvSpPr/>
          <p:nvPr/>
        </p:nvSpPr>
        <p:spPr>
          <a:xfrm>
            <a:off x="548640" y="6172200"/>
            <a:ext cx="11064240" cy="27432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Catatan: metode/algoritma pemilihan belum ditentukan secara teknis pada BRD; ilustrasi ini bersifat konseptual.</a:t>
            </a:r>
            <a:endParaRPr lang="en-US" sz="950" dirty="0"/>
          </a:p>
        </p:txBody>
      </p:sp>
      <p:sp>
        <p:nvSpPr>
          <p:cNvPr id="41" name="Text 39"/>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SMART RECOMMENDATION</a:t>
            </a:r>
            <a:endParaRPr lang="en-US" sz="900" dirty="0"/>
          </a:p>
        </p:txBody>
      </p:sp>
      <p:sp>
        <p:nvSpPr>
          <p:cNvPr id="42" name="Text 40"/>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10 / 20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MANAGEMENT</a:t>
            </a:r>
            <a:endParaRPr lang="en-US" sz="1200" dirty="0"/>
          </a:p>
        </p:txBody>
      </p:sp>
      <p:sp>
        <p:nvSpPr>
          <p:cNvPr id="3" name="Text 1"/>
          <p:cNvSpPr/>
          <p:nvPr/>
        </p:nvSpPr>
        <p:spPr>
          <a:xfrm>
            <a:off x="548640" y="749808"/>
            <a:ext cx="9144000" cy="822960"/>
          </a:xfrm>
          <a:prstGeom prst="rect">
            <a:avLst/>
          </a:prstGeom>
          <a:noFill/>
          <a:ln/>
        </p:spPr>
        <p:txBody>
          <a:bodyPr wrap="square" lIns="0" tIns="0" rIns="0" bIns="0" rtlCol="0" anchor="ctr"/>
          <a:lstStyle/>
          <a:p>
            <a:pPr marL="0" indent="0" algn="l">
              <a:lnSpc>
                <a:spcPct val="102000"/>
              </a:lnSpc>
              <a:buNone/>
            </a:pPr>
            <a:r>
              <a:rPr lang="en-US" sz="3000" b="1" dirty="0">
                <a:solidFill>
                  <a:srgbClr val="0B1E3D"/>
                </a:solidFill>
                <a:latin typeface="Montserrat" pitchFamily="34" charset="0"/>
                <a:ea typeface="Montserrat" pitchFamily="34" charset="-122"/>
                <a:cs typeface="Montserrat" pitchFamily="34" charset="-120"/>
              </a:rPr>
              <a:t>Kebutuhan Manajemen Rumah Sakit</a:t>
            </a:r>
            <a:endParaRPr lang="en-US" sz="3000" dirty="0"/>
          </a:p>
        </p:txBody>
      </p:sp>
      <p:sp>
        <p:nvSpPr>
          <p:cNvPr id="4" name="Shape 2"/>
          <p:cNvSpPr/>
          <p:nvPr/>
        </p:nvSpPr>
        <p:spPr>
          <a:xfrm>
            <a:off x="548640" y="1965960"/>
            <a:ext cx="11064240" cy="1051560"/>
          </a:xfrm>
          <a:prstGeom prst="roundRect">
            <a:avLst>
              <a:gd name="adj" fmla="val 6957"/>
            </a:avLst>
          </a:prstGeom>
          <a:solidFill>
            <a:srgbClr val="F2F6FB"/>
          </a:solidFill>
          <a:ln/>
          <a:effectLst>
            <a:outerShdw blurRad="101600" dist="25400" dir="5400000" algn="bl" rotWithShape="0">
              <a:srgbClr val="9AAFC9">
                <a:alpha val="35000"/>
              </a:srgbClr>
            </a:outerShdw>
          </a:effectLst>
        </p:spPr>
      </p:sp>
      <p:sp>
        <p:nvSpPr>
          <p:cNvPr id="5" name="Shape 3"/>
          <p:cNvSpPr/>
          <p:nvPr/>
        </p:nvSpPr>
        <p:spPr>
          <a:xfrm>
            <a:off x="777240" y="2194560"/>
            <a:ext cx="594360" cy="594360"/>
          </a:xfrm>
          <a:prstGeom prst="ellipse">
            <a:avLst/>
          </a:prstGeom>
          <a:solidFill>
            <a:srgbClr val="1B5FAE"/>
          </a:solidFill>
          <a:ln/>
        </p:spPr>
      </p:sp>
      <p:sp>
        <p:nvSpPr>
          <p:cNvPr id="6" name="Text 4"/>
          <p:cNvSpPr/>
          <p:nvPr/>
        </p:nvSpPr>
        <p:spPr>
          <a:xfrm>
            <a:off x="777240" y="2194560"/>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1600200" y="1965960"/>
            <a:ext cx="9829800" cy="1051560"/>
          </a:xfrm>
          <a:prstGeom prst="rect">
            <a:avLst/>
          </a:prstGeom>
          <a:noFill/>
          <a:ln/>
        </p:spPr>
        <p:txBody>
          <a:bodyPr wrap="square" lIns="0" tIns="0" rIns="0" bIns="0" rtlCol="0" anchor="ctr"/>
          <a:lstStyle/>
          <a:p>
            <a:pPr marL="0" indent="0">
              <a:lnSpc>
                <a:spcPct val="125000"/>
              </a:lnSpc>
              <a:buNone/>
            </a:pPr>
            <a:r>
              <a:rPr lang="en-US" sz="1350" dirty="0">
                <a:solidFill>
                  <a:srgbClr val="0B1E3D"/>
                </a:solidFill>
                <a:latin typeface="Calibri" pitchFamily="34" charset="0"/>
                <a:ea typeface="Calibri" pitchFamily="34" charset="-122"/>
                <a:cs typeface="Calibri" pitchFamily="34" charset="-120"/>
              </a:rPr>
              <a:t>Manajemen dapat melihat laporan aktivitas armada ambulans.</a:t>
            </a:r>
            <a:endParaRPr lang="en-US" sz="1350" dirty="0"/>
          </a:p>
        </p:txBody>
      </p:sp>
      <p:sp>
        <p:nvSpPr>
          <p:cNvPr id="8" name="Shape 6"/>
          <p:cNvSpPr/>
          <p:nvPr/>
        </p:nvSpPr>
        <p:spPr>
          <a:xfrm>
            <a:off x="548640" y="3246120"/>
            <a:ext cx="11064240" cy="1051560"/>
          </a:xfrm>
          <a:prstGeom prst="roundRect">
            <a:avLst>
              <a:gd name="adj" fmla="val 6957"/>
            </a:avLst>
          </a:prstGeom>
          <a:solidFill>
            <a:srgbClr val="F2F6FB"/>
          </a:solidFill>
          <a:ln/>
          <a:effectLst>
            <a:outerShdw blurRad="101600" dist="25400" dir="5400000" algn="bl" rotWithShape="0">
              <a:srgbClr val="9AAFC9">
                <a:alpha val="35000"/>
              </a:srgbClr>
            </a:outerShdw>
          </a:effectLst>
        </p:spPr>
      </p:sp>
      <p:sp>
        <p:nvSpPr>
          <p:cNvPr id="9" name="Shape 7"/>
          <p:cNvSpPr/>
          <p:nvPr/>
        </p:nvSpPr>
        <p:spPr>
          <a:xfrm>
            <a:off x="777240" y="3474720"/>
            <a:ext cx="594360" cy="594360"/>
          </a:xfrm>
          <a:prstGeom prst="ellipse">
            <a:avLst/>
          </a:prstGeom>
          <a:solidFill>
            <a:srgbClr val="1B5FAE"/>
          </a:solidFill>
          <a:ln/>
        </p:spPr>
      </p:sp>
      <p:sp>
        <p:nvSpPr>
          <p:cNvPr id="10" name="Text 8"/>
          <p:cNvSpPr/>
          <p:nvPr/>
        </p:nvSpPr>
        <p:spPr>
          <a:xfrm>
            <a:off x="777240" y="3474720"/>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1600200" y="3246120"/>
            <a:ext cx="9829800" cy="1051560"/>
          </a:xfrm>
          <a:prstGeom prst="rect">
            <a:avLst/>
          </a:prstGeom>
          <a:noFill/>
          <a:ln/>
        </p:spPr>
        <p:txBody>
          <a:bodyPr wrap="square" lIns="0" tIns="0" rIns="0" bIns="0" rtlCol="0" anchor="ctr"/>
          <a:lstStyle/>
          <a:p>
            <a:pPr marL="0" indent="0">
              <a:lnSpc>
                <a:spcPct val="125000"/>
              </a:lnSpc>
              <a:buNone/>
            </a:pPr>
            <a:r>
              <a:rPr lang="en-US" sz="1350" dirty="0">
                <a:solidFill>
                  <a:srgbClr val="0B1E3D"/>
                </a:solidFill>
                <a:latin typeface="Calibri" pitchFamily="34" charset="0"/>
                <a:ea typeface="Calibri" pitchFamily="34" charset="-122"/>
                <a:cs typeface="Calibri" pitchFamily="34" charset="-120"/>
              </a:rPr>
              <a:t>Manajemen dapat mengetahui tingkat pemanfaatan setiap ambulans sebagai bahan evaluasi operasional.</a:t>
            </a:r>
            <a:endParaRPr lang="en-US" sz="1350" dirty="0"/>
          </a:p>
        </p:txBody>
      </p:sp>
      <p:sp>
        <p:nvSpPr>
          <p:cNvPr id="12" name="Shape 10"/>
          <p:cNvSpPr/>
          <p:nvPr/>
        </p:nvSpPr>
        <p:spPr>
          <a:xfrm>
            <a:off x="548640" y="4526280"/>
            <a:ext cx="11064240" cy="1051560"/>
          </a:xfrm>
          <a:prstGeom prst="roundRect">
            <a:avLst>
              <a:gd name="adj" fmla="val 6957"/>
            </a:avLst>
          </a:prstGeom>
          <a:solidFill>
            <a:srgbClr val="F2F6FB"/>
          </a:solidFill>
          <a:ln/>
          <a:effectLst>
            <a:outerShdw blurRad="101600" dist="25400" dir="5400000" algn="bl" rotWithShape="0">
              <a:srgbClr val="9AAFC9">
                <a:alpha val="35000"/>
              </a:srgbClr>
            </a:outerShdw>
          </a:effectLst>
        </p:spPr>
      </p:sp>
      <p:sp>
        <p:nvSpPr>
          <p:cNvPr id="13" name="Shape 11"/>
          <p:cNvSpPr/>
          <p:nvPr/>
        </p:nvSpPr>
        <p:spPr>
          <a:xfrm>
            <a:off x="777240" y="4754880"/>
            <a:ext cx="594360" cy="594360"/>
          </a:xfrm>
          <a:prstGeom prst="ellipse">
            <a:avLst/>
          </a:prstGeom>
          <a:solidFill>
            <a:srgbClr val="1B5FAE"/>
          </a:solidFill>
          <a:ln/>
        </p:spPr>
      </p:sp>
      <p:sp>
        <p:nvSpPr>
          <p:cNvPr id="14" name="Text 12"/>
          <p:cNvSpPr/>
          <p:nvPr/>
        </p:nvSpPr>
        <p:spPr>
          <a:xfrm>
            <a:off x="777240" y="4754880"/>
            <a:ext cx="594360" cy="594360"/>
          </a:xfrm>
          <a:prstGeom prst="rect">
            <a:avLst/>
          </a:prstGeom>
          <a:noFill/>
          <a:ln/>
        </p:spPr>
        <p:txBody>
          <a:bodyPr wrap="square" lIns="0" tIns="0" rIns="0" bIns="0" rtlCol="0" anchor="ctr"/>
          <a:lstStyle/>
          <a:p>
            <a:pPr marL="0" indent="0" algn="ctr">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1600200" y="4526280"/>
            <a:ext cx="9829800" cy="1051560"/>
          </a:xfrm>
          <a:prstGeom prst="rect">
            <a:avLst/>
          </a:prstGeom>
          <a:noFill/>
          <a:ln/>
        </p:spPr>
        <p:txBody>
          <a:bodyPr wrap="square" lIns="0" tIns="0" rIns="0" bIns="0" rtlCol="0" anchor="ctr"/>
          <a:lstStyle/>
          <a:p>
            <a:pPr marL="0" indent="0">
              <a:lnSpc>
                <a:spcPct val="125000"/>
              </a:lnSpc>
              <a:buNone/>
            </a:pPr>
            <a:r>
              <a:rPr lang="en-US" sz="1350" dirty="0">
                <a:solidFill>
                  <a:srgbClr val="0B1E3D"/>
                </a:solidFill>
                <a:latin typeface="Calibri" pitchFamily="34" charset="0"/>
                <a:ea typeface="Calibri" pitchFamily="34" charset="-122"/>
                <a:cs typeface="Calibri" pitchFamily="34" charset="-120"/>
              </a:rPr>
              <a:t>Manajemen dapat menggunakan data perjalanan untuk meningkatkan kualitas pelayanan ambulans kepada masyarakat.</a:t>
            </a:r>
            <a:endParaRPr lang="en-US" sz="1350" dirty="0"/>
          </a:p>
        </p:txBody>
      </p:sp>
      <p:sp>
        <p:nvSpPr>
          <p:cNvPr id="16" name="Shape 14"/>
          <p:cNvSpPr/>
          <p:nvPr/>
        </p:nvSpPr>
        <p:spPr>
          <a:xfrm>
            <a:off x="548640" y="5760720"/>
            <a:ext cx="2514600" cy="502920"/>
          </a:xfrm>
          <a:prstGeom prst="roundRect">
            <a:avLst>
              <a:gd name="adj" fmla="val 16364"/>
            </a:avLst>
          </a:prstGeom>
          <a:solidFill>
            <a:srgbClr val="0B1E3D"/>
          </a:solidFill>
          <a:ln/>
        </p:spPr>
      </p:sp>
      <p:sp>
        <p:nvSpPr>
          <p:cNvPr id="17" name="Text 15"/>
          <p:cNvSpPr/>
          <p:nvPr/>
        </p:nvSpPr>
        <p:spPr>
          <a:xfrm>
            <a:off x="548640" y="5760720"/>
            <a:ext cx="25146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Armada</a:t>
            </a:r>
            <a:endParaRPr lang="en-US" sz="1200" dirty="0"/>
          </a:p>
        </p:txBody>
      </p:sp>
      <p:sp>
        <p:nvSpPr>
          <p:cNvPr id="18" name="Text 16"/>
          <p:cNvSpPr/>
          <p:nvPr/>
        </p:nvSpPr>
        <p:spPr>
          <a:xfrm>
            <a:off x="3063240" y="5760720"/>
            <a:ext cx="182880" cy="502920"/>
          </a:xfrm>
          <a:prstGeom prst="rect">
            <a:avLst/>
          </a:prstGeom>
          <a:noFill/>
          <a:ln/>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19" name="Shape 17"/>
          <p:cNvSpPr/>
          <p:nvPr/>
        </p:nvSpPr>
        <p:spPr>
          <a:xfrm>
            <a:off x="3246120" y="5760720"/>
            <a:ext cx="2514600" cy="502920"/>
          </a:xfrm>
          <a:prstGeom prst="roundRect">
            <a:avLst>
              <a:gd name="adj" fmla="val 16364"/>
            </a:avLst>
          </a:prstGeom>
          <a:solidFill>
            <a:srgbClr val="0B1E3D"/>
          </a:solidFill>
          <a:ln/>
        </p:spPr>
      </p:sp>
      <p:sp>
        <p:nvSpPr>
          <p:cNvPr id="20" name="Text 18"/>
          <p:cNvSpPr/>
          <p:nvPr/>
        </p:nvSpPr>
        <p:spPr>
          <a:xfrm>
            <a:off x="3246120" y="5760720"/>
            <a:ext cx="25146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Laporan</a:t>
            </a:r>
            <a:endParaRPr lang="en-US" sz="1200" dirty="0"/>
          </a:p>
        </p:txBody>
      </p:sp>
      <p:sp>
        <p:nvSpPr>
          <p:cNvPr id="21" name="Text 19"/>
          <p:cNvSpPr/>
          <p:nvPr/>
        </p:nvSpPr>
        <p:spPr>
          <a:xfrm>
            <a:off x="5760720" y="5760720"/>
            <a:ext cx="182880" cy="502920"/>
          </a:xfrm>
          <a:prstGeom prst="rect">
            <a:avLst/>
          </a:prstGeom>
          <a:noFill/>
          <a:ln/>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22" name="Shape 20"/>
          <p:cNvSpPr/>
          <p:nvPr/>
        </p:nvSpPr>
        <p:spPr>
          <a:xfrm>
            <a:off x="5943600" y="5760720"/>
            <a:ext cx="2514600" cy="502920"/>
          </a:xfrm>
          <a:prstGeom prst="roundRect">
            <a:avLst>
              <a:gd name="adj" fmla="val 16364"/>
            </a:avLst>
          </a:prstGeom>
          <a:solidFill>
            <a:srgbClr val="0B1E3D"/>
          </a:solidFill>
          <a:ln/>
        </p:spPr>
      </p:sp>
      <p:sp>
        <p:nvSpPr>
          <p:cNvPr id="23" name="Text 21"/>
          <p:cNvSpPr/>
          <p:nvPr/>
        </p:nvSpPr>
        <p:spPr>
          <a:xfrm>
            <a:off x="5943600" y="5760720"/>
            <a:ext cx="25146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Evaluasi</a:t>
            </a:r>
            <a:endParaRPr lang="en-US" sz="1200" dirty="0"/>
          </a:p>
        </p:txBody>
      </p:sp>
      <p:sp>
        <p:nvSpPr>
          <p:cNvPr id="24" name="Text 22"/>
          <p:cNvSpPr/>
          <p:nvPr/>
        </p:nvSpPr>
        <p:spPr>
          <a:xfrm>
            <a:off x="8458200" y="5760720"/>
            <a:ext cx="182880" cy="502920"/>
          </a:xfrm>
          <a:prstGeom prst="rect">
            <a:avLst/>
          </a:prstGeom>
          <a:noFill/>
          <a:ln/>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25" name="Shape 23"/>
          <p:cNvSpPr/>
          <p:nvPr/>
        </p:nvSpPr>
        <p:spPr>
          <a:xfrm>
            <a:off x="8641080" y="5760720"/>
            <a:ext cx="2514600" cy="502920"/>
          </a:xfrm>
          <a:prstGeom prst="roundRect">
            <a:avLst>
              <a:gd name="adj" fmla="val 16364"/>
            </a:avLst>
          </a:prstGeom>
          <a:solidFill>
            <a:srgbClr val="00C2D1"/>
          </a:solidFill>
          <a:ln/>
        </p:spPr>
      </p:sp>
      <p:sp>
        <p:nvSpPr>
          <p:cNvPr id="26" name="Text 24"/>
          <p:cNvSpPr/>
          <p:nvPr/>
        </p:nvSpPr>
        <p:spPr>
          <a:xfrm>
            <a:off x="8641080" y="5760720"/>
            <a:ext cx="2514600" cy="502920"/>
          </a:xfrm>
          <a:prstGeom prst="rect">
            <a:avLst/>
          </a:prstGeom>
          <a:noFill/>
          <a:ln/>
        </p:spPr>
        <p:txBody>
          <a:bodyPr wrap="square" lIns="0" tIns="0" rIns="0" bIns="0" rtlCol="0" anchor="ctr"/>
          <a:lstStyle/>
          <a:p>
            <a:pPr marL="0" indent="0" algn="ctr">
              <a:buNone/>
            </a:pPr>
            <a:r>
              <a:rPr lang="en-US" sz="1200" b="1" dirty="0">
                <a:solidFill>
                  <a:srgbClr val="0B1E3D"/>
                </a:solidFill>
                <a:latin typeface="Calibri" pitchFamily="34" charset="0"/>
                <a:ea typeface="Calibri" pitchFamily="34" charset="-122"/>
                <a:cs typeface="Calibri" pitchFamily="34" charset="-120"/>
              </a:rPr>
              <a:t>Improvement</a:t>
            </a:r>
            <a:endParaRPr lang="en-US" sz="1200" dirty="0"/>
          </a:p>
        </p:txBody>
      </p:sp>
      <p:sp>
        <p:nvSpPr>
          <p:cNvPr id="27" name="Text 25"/>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MANAGEMENT</a:t>
            </a:r>
            <a:endParaRPr lang="en-US" sz="900" dirty="0"/>
          </a:p>
        </p:txBody>
      </p:sp>
      <p:sp>
        <p:nvSpPr>
          <p:cNvPr id="28" name="Text 26"/>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11 / 20</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00C2D1"/>
                </a:solidFill>
                <a:latin typeface="Calibri" pitchFamily="34" charset="0"/>
                <a:ea typeface="Calibri" pitchFamily="34" charset="-122"/>
                <a:cs typeface="Calibri" pitchFamily="34" charset="-120"/>
              </a:rPr>
              <a:t>STAKEHOLDER</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FFFFFF"/>
                </a:solidFill>
                <a:latin typeface="Montserrat" pitchFamily="34" charset="0"/>
                <a:ea typeface="Montserrat" pitchFamily="34" charset="-122"/>
                <a:cs typeface="Montserrat" pitchFamily="34" charset="-120"/>
              </a:rPr>
              <a:t>Stakeholder &amp; Peran</a:t>
            </a:r>
            <a:endParaRPr lang="en-US" sz="3200" dirty="0"/>
          </a:p>
        </p:txBody>
      </p:sp>
      <p:sp>
        <p:nvSpPr>
          <p:cNvPr id="4" name="Shape 2"/>
          <p:cNvSpPr/>
          <p:nvPr/>
        </p:nvSpPr>
        <p:spPr>
          <a:xfrm>
            <a:off x="548640" y="1737360"/>
            <a:ext cx="2651760" cy="320040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5" name="Shape 3"/>
          <p:cNvSpPr/>
          <p:nvPr/>
        </p:nvSpPr>
        <p:spPr>
          <a:xfrm>
            <a:off x="1463040" y="2103120"/>
            <a:ext cx="822960" cy="822960"/>
          </a:xfrm>
          <a:prstGeom prst="ellipse">
            <a:avLst/>
          </a:prstGeom>
          <a:solidFill>
            <a:srgbClr val="1B5FAE"/>
          </a:solidFill>
          <a:ln/>
        </p:spPr>
      </p:sp>
      <p:sp>
        <p:nvSpPr>
          <p:cNvPr id="6" name="Text 4"/>
          <p:cNvSpPr/>
          <p:nvPr/>
        </p:nvSpPr>
        <p:spPr>
          <a:xfrm>
            <a:off x="1463040" y="2103120"/>
            <a:ext cx="822960" cy="822960"/>
          </a:xfrm>
          <a:prstGeom prst="rect">
            <a:avLst/>
          </a:prstGeom>
          <a:noFill/>
          <a:ln/>
        </p:spPr>
        <p:txBody>
          <a:bodyPr wrap="square" lIns="0" tIns="0" rIns="0" bIns="0" rtlCol="0" anchor="ctr"/>
          <a:lstStyle/>
          <a:p>
            <a:pPr marL="0" indent="0" algn="ctr">
              <a:buNone/>
            </a:pPr>
            <a:r>
              <a:rPr lang="en-US" sz="3400" dirty="0">
                <a:solidFill>
                  <a:srgbClr val="FFFFFF"/>
                </a:solidFill>
                <a:latin typeface="Calibri" pitchFamily="34" charset="0"/>
                <a:ea typeface="Calibri" pitchFamily="34" charset="-122"/>
                <a:cs typeface="Calibri" pitchFamily="34" charset="-120"/>
              </a:rPr>
              <a:t>🚑</a:t>
            </a:r>
            <a:endParaRPr lang="en-US" sz="3400" dirty="0"/>
          </a:p>
        </p:txBody>
      </p:sp>
      <p:sp>
        <p:nvSpPr>
          <p:cNvPr id="7" name="Text 5"/>
          <p:cNvSpPr/>
          <p:nvPr/>
        </p:nvSpPr>
        <p:spPr>
          <a:xfrm>
            <a:off x="731520" y="3154680"/>
            <a:ext cx="2286000" cy="59436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Sopir Ambulans</a:t>
            </a:r>
            <a:endParaRPr lang="en-US" sz="1350" dirty="0"/>
          </a:p>
        </p:txBody>
      </p:sp>
      <p:sp>
        <p:nvSpPr>
          <p:cNvPr id="8" name="Text 6"/>
          <p:cNvSpPr/>
          <p:nvPr/>
        </p:nvSpPr>
        <p:spPr>
          <a:xfrm>
            <a:off x="777240" y="3794760"/>
            <a:ext cx="2194560" cy="1051560"/>
          </a:xfrm>
          <a:prstGeom prst="rect">
            <a:avLst/>
          </a:prstGeom>
          <a:noFill/>
          <a:ln/>
        </p:spPr>
        <p:txBody>
          <a:bodyPr wrap="square" lIns="0" tIns="0" rIns="0" bIns="0" rtlCol="0" anchor="ctr"/>
          <a:lstStyle/>
          <a:p>
            <a:pPr marL="0" indent="0" algn="ctr">
              <a:lnSpc>
                <a:spcPct val="125000"/>
              </a:lnSpc>
              <a:buNone/>
            </a:pPr>
            <a:r>
              <a:rPr lang="en-US" sz="1050" dirty="0">
                <a:solidFill>
                  <a:srgbClr val="AFC2DC"/>
                </a:solidFill>
                <a:latin typeface="Calibri" pitchFamily="34" charset="0"/>
                <a:ea typeface="Calibri" pitchFamily="34" charset="-122"/>
                <a:cs typeface="Calibri" pitchFamily="34" charset="-120"/>
              </a:rPr>
              <a:t>Mengoperasikan aplikasi mobile dan mengirimkan lokasi secara otomatis.</a:t>
            </a:r>
            <a:endParaRPr lang="en-US" sz="1050" dirty="0"/>
          </a:p>
        </p:txBody>
      </p:sp>
      <p:sp>
        <p:nvSpPr>
          <p:cNvPr id="9" name="Shape 7"/>
          <p:cNvSpPr/>
          <p:nvPr/>
        </p:nvSpPr>
        <p:spPr>
          <a:xfrm>
            <a:off x="3401568" y="1737360"/>
            <a:ext cx="2651760" cy="320040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10" name="Shape 8"/>
          <p:cNvSpPr/>
          <p:nvPr/>
        </p:nvSpPr>
        <p:spPr>
          <a:xfrm>
            <a:off x="4315968" y="2103120"/>
            <a:ext cx="822960" cy="822960"/>
          </a:xfrm>
          <a:prstGeom prst="ellipse">
            <a:avLst/>
          </a:prstGeom>
          <a:solidFill>
            <a:srgbClr val="1B5FAE"/>
          </a:solidFill>
          <a:ln/>
        </p:spPr>
      </p:sp>
      <p:sp>
        <p:nvSpPr>
          <p:cNvPr id="11" name="Text 9"/>
          <p:cNvSpPr/>
          <p:nvPr/>
        </p:nvSpPr>
        <p:spPr>
          <a:xfrm>
            <a:off x="4315968" y="2103120"/>
            <a:ext cx="822960" cy="822960"/>
          </a:xfrm>
          <a:prstGeom prst="rect">
            <a:avLst/>
          </a:prstGeom>
          <a:noFill/>
          <a:ln/>
        </p:spPr>
        <p:txBody>
          <a:bodyPr wrap="square" lIns="0" tIns="0" rIns="0" bIns="0" rtlCol="0" anchor="ctr"/>
          <a:lstStyle/>
          <a:p>
            <a:pPr marL="0" indent="0" algn="ctr">
              <a:buNone/>
            </a:pPr>
            <a:r>
              <a:rPr lang="en-US" sz="3400" dirty="0">
                <a:solidFill>
                  <a:srgbClr val="FFFFFF"/>
                </a:solidFill>
                <a:latin typeface="Calibri" pitchFamily="34" charset="0"/>
                <a:ea typeface="Calibri" pitchFamily="34" charset="-122"/>
                <a:cs typeface="Calibri" pitchFamily="34" charset="-120"/>
              </a:rPr>
              <a:t>🖥</a:t>
            </a:r>
            <a:endParaRPr lang="en-US" sz="3400" dirty="0"/>
          </a:p>
        </p:txBody>
      </p:sp>
      <p:sp>
        <p:nvSpPr>
          <p:cNvPr id="12" name="Text 10"/>
          <p:cNvSpPr/>
          <p:nvPr/>
        </p:nvSpPr>
        <p:spPr>
          <a:xfrm>
            <a:off x="3584448" y="3154680"/>
            <a:ext cx="2286000" cy="59436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Operator Ambulans</a:t>
            </a:r>
            <a:endParaRPr lang="en-US" sz="1350" dirty="0"/>
          </a:p>
        </p:txBody>
      </p:sp>
      <p:sp>
        <p:nvSpPr>
          <p:cNvPr id="13" name="Text 11"/>
          <p:cNvSpPr/>
          <p:nvPr/>
        </p:nvSpPr>
        <p:spPr>
          <a:xfrm>
            <a:off x="3630168" y="3794760"/>
            <a:ext cx="2194560" cy="1051560"/>
          </a:xfrm>
          <a:prstGeom prst="rect">
            <a:avLst/>
          </a:prstGeom>
          <a:noFill/>
          <a:ln/>
        </p:spPr>
        <p:txBody>
          <a:bodyPr wrap="square" lIns="0" tIns="0" rIns="0" bIns="0" rtlCol="0" anchor="ctr"/>
          <a:lstStyle/>
          <a:p>
            <a:pPr marL="0" indent="0" algn="ctr">
              <a:lnSpc>
                <a:spcPct val="125000"/>
              </a:lnSpc>
              <a:buNone/>
            </a:pPr>
            <a:r>
              <a:rPr lang="en-US" sz="1050" dirty="0">
                <a:solidFill>
                  <a:srgbClr val="AFC2DC"/>
                </a:solidFill>
                <a:latin typeface="Calibri" pitchFamily="34" charset="0"/>
                <a:ea typeface="Calibri" pitchFamily="34" charset="-122"/>
                <a:cs typeface="Calibri" pitchFamily="34" charset="-120"/>
              </a:rPr>
              <a:t>Memantau armada dan melakukan dispatch ambulans.</a:t>
            </a:r>
            <a:endParaRPr lang="en-US" sz="1050" dirty="0"/>
          </a:p>
        </p:txBody>
      </p:sp>
      <p:sp>
        <p:nvSpPr>
          <p:cNvPr id="14" name="Shape 12"/>
          <p:cNvSpPr/>
          <p:nvPr/>
        </p:nvSpPr>
        <p:spPr>
          <a:xfrm>
            <a:off x="6254496" y="1737360"/>
            <a:ext cx="2651760" cy="320040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15" name="Shape 13"/>
          <p:cNvSpPr/>
          <p:nvPr/>
        </p:nvSpPr>
        <p:spPr>
          <a:xfrm>
            <a:off x="7168896" y="2103120"/>
            <a:ext cx="822960" cy="822960"/>
          </a:xfrm>
          <a:prstGeom prst="ellipse">
            <a:avLst/>
          </a:prstGeom>
          <a:solidFill>
            <a:srgbClr val="1B5FAE"/>
          </a:solidFill>
          <a:ln/>
        </p:spPr>
      </p:sp>
      <p:sp>
        <p:nvSpPr>
          <p:cNvPr id="16" name="Text 14"/>
          <p:cNvSpPr/>
          <p:nvPr/>
        </p:nvSpPr>
        <p:spPr>
          <a:xfrm>
            <a:off x="7168896" y="2103120"/>
            <a:ext cx="822960" cy="822960"/>
          </a:xfrm>
          <a:prstGeom prst="rect">
            <a:avLst/>
          </a:prstGeom>
          <a:noFill/>
          <a:ln/>
        </p:spPr>
        <p:txBody>
          <a:bodyPr wrap="square" lIns="0" tIns="0" rIns="0" bIns="0" rtlCol="0" anchor="ctr"/>
          <a:lstStyle/>
          <a:p>
            <a:pPr marL="0" indent="0" algn="ctr">
              <a:buNone/>
            </a:pPr>
            <a:r>
              <a:rPr lang="en-US" sz="3400" dirty="0">
                <a:solidFill>
                  <a:srgbClr val="FFFFFF"/>
                </a:solidFill>
                <a:latin typeface="Calibri" pitchFamily="34" charset="0"/>
                <a:ea typeface="Calibri" pitchFamily="34" charset="-122"/>
                <a:cs typeface="Calibri" pitchFamily="34" charset="-120"/>
              </a:rPr>
              <a:t>🏥</a:t>
            </a:r>
            <a:endParaRPr lang="en-US" sz="3400" dirty="0"/>
          </a:p>
        </p:txBody>
      </p:sp>
      <p:sp>
        <p:nvSpPr>
          <p:cNvPr id="17" name="Text 15"/>
          <p:cNvSpPr/>
          <p:nvPr/>
        </p:nvSpPr>
        <p:spPr>
          <a:xfrm>
            <a:off x="6437376" y="3154680"/>
            <a:ext cx="2286000" cy="59436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Manajemen Rumah Sakit</a:t>
            </a:r>
            <a:endParaRPr lang="en-US" sz="1350" dirty="0"/>
          </a:p>
        </p:txBody>
      </p:sp>
      <p:sp>
        <p:nvSpPr>
          <p:cNvPr id="18" name="Text 16"/>
          <p:cNvSpPr/>
          <p:nvPr/>
        </p:nvSpPr>
        <p:spPr>
          <a:xfrm>
            <a:off x="6483096" y="3794760"/>
            <a:ext cx="2194560" cy="1051560"/>
          </a:xfrm>
          <a:prstGeom prst="rect">
            <a:avLst/>
          </a:prstGeom>
          <a:noFill/>
          <a:ln/>
        </p:spPr>
        <p:txBody>
          <a:bodyPr wrap="square" lIns="0" tIns="0" rIns="0" bIns="0" rtlCol="0" anchor="ctr"/>
          <a:lstStyle/>
          <a:p>
            <a:pPr marL="0" indent="0" algn="ctr">
              <a:lnSpc>
                <a:spcPct val="125000"/>
              </a:lnSpc>
              <a:buNone/>
            </a:pPr>
            <a:r>
              <a:rPr lang="en-US" sz="1050" dirty="0">
                <a:solidFill>
                  <a:srgbClr val="AFC2DC"/>
                </a:solidFill>
                <a:latin typeface="Calibri" pitchFamily="34" charset="0"/>
                <a:ea typeface="Calibri" pitchFamily="34" charset="-122"/>
                <a:cs typeface="Calibri" pitchFamily="34" charset="-120"/>
              </a:rPr>
              <a:t>Mengevaluasi performa operasional armada.</a:t>
            </a:r>
            <a:endParaRPr lang="en-US" sz="1050" dirty="0"/>
          </a:p>
        </p:txBody>
      </p:sp>
      <p:sp>
        <p:nvSpPr>
          <p:cNvPr id="19" name="Shape 17"/>
          <p:cNvSpPr/>
          <p:nvPr/>
        </p:nvSpPr>
        <p:spPr>
          <a:xfrm>
            <a:off x="9107424" y="1737360"/>
            <a:ext cx="2651760" cy="3200400"/>
          </a:xfrm>
          <a:prstGeom prst="roundRect">
            <a:avLst>
              <a:gd name="adj" fmla="val 2759"/>
            </a:avLst>
          </a:prstGeom>
          <a:solidFill>
            <a:srgbClr val="13294B"/>
          </a:solidFill>
          <a:ln/>
          <a:effectLst>
            <a:outerShdw blurRad="101600" dist="25400" dir="5400000" algn="bl" rotWithShape="0">
              <a:srgbClr val="9AAFC9">
                <a:alpha val="35000"/>
              </a:srgbClr>
            </a:outerShdw>
          </a:effectLst>
        </p:spPr>
      </p:sp>
      <p:sp>
        <p:nvSpPr>
          <p:cNvPr id="20" name="Shape 18"/>
          <p:cNvSpPr/>
          <p:nvPr/>
        </p:nvSpPr>
        <p:spPr>
          <a:xfrm>
            <a:off x="10021824" y="2103120"/>
            <a:ext cx="822960" cy="822960"/>
          </a:xfrm>
          <a:prstGeom prst="ellipse">
            <a:avLst/>
          </a:prstGeom>
          <a:solidFill>
            <a:srgbClr val="1B5FAE"/>
          </a:solidFill>
          <a:ln/>
        </p:spPr>
      </p:sp>
      <p:sp>
        <p:nvSpPr>
          <p:cNvPr id="21" name="Text 19"/>
          <p:cNvSpPr/>
          <p:nvPr/>
        </p:nvSpPr>
        <p:spPr>
          <a:xfrm>
            <a:off x="10021824" y="2103120"/>
            <a:ext cx="822960" cy="822960"/>
          </a:xfrm>
          <a:prstGeom prst="rect">
            <a:avLst/>
          </a:prstGeom>
          <a:noFill/>
          <a:ln/>
        </p:spPr>
        <p:txBody>
          <a:bodyPr wrap="square" lIns="0" tIns="0" rIns="0" bIns="0" rtlCol="0" anchor="ctr"/>
          <a:lstStyle/>
          <a:p>
            <a:pPr marL="0" indent="0" algn="ctr">
              <a:buNone/>
            </a:pPr>
            <a:r>
              <a:rPr lang="en-US" sz="3400" dirty="0">
                <a:solidFill>
                  <a:srgbClr val="FFFFFF"/>
                </a:solidFill>
                <a:latin typeface="Calibri" pitchFamily="34" charset="0"/>
                <a:ea typeface="Calibri" pitchFamily="34" charset="-122"/>
                <a:cs typeface="Calibri" pitchFamily="34" charset="-120"/>
              </a:rPr>
              <a:t>💻</a:t>
            </a:r>
            <a:endParaRPr lang="en-US" sz="3400" dirty="0"/>
          </a:p>
        </p:txBody>
      </p:sp>
      <p:sp>
        <p:nvSpPr>
          <p:cNvPr id="22" name="Text 20"/>
          <p:cNvSpPr/>
          <p:nvPr/>
        </p:nvSpPr>
        <p:spPr>
          <a:xfrm>
            <a:off x="9290304" y="3154680"/>
            <a:ext cx="2286000" cy="59436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ontserrat" pitchFamily="34" charset="0"/>
                <a:ea typeface="Montserrat" pitchFamily="34" charset="-122"/>
                <a:cs typeface="Montserrat" pitchFamily="34" charset="-120"/>
              </a:rPr>
              <a:t>Tim IT</a:t>
            </a:r>
            <a:endParaRPr lang="en-US" sz="1350" dirty="0"/>
          </a:p>
        </p:txBody>
      </p:sp>
      <p:sp>
        <p:nvSpPr>
          <p:cNvPr id="23" name="Text 21"/>
          <p:cNvSpPr/>
          <p:nvPr/>
        </p:nvSpPr>
        <p:spPr>
          <a:xfrm>
            <a:off x="9336024" y="3794760"/>
            <a:ext cx="2194560" cy="1051560"/>
          </a:xfrm>
          <a:prstGeom prst="rect">
            <a:avLst/>
          </a:prstGeom>
          <a:noFill/>
          <a:ln/>
        </p:spPr>
        <p:txBody>
          <a:bodyPr wrap="square" lIns="0" tIns="0" rIns="0" bIns="0" rtlCol="0" anchor="ctr"/>
          <a:lstStyle/>
          <a:p>
            <a:pPr marL="0" indent="0" algn="ctr">
              <a:lnSpc>
                <a:spcPct val="125000"/>
              </a:lnSpc>
              <a:buNone/>
            </a:pPr>
            <a:r>
              <a:rPr lang="en-US" sz="1050" dirty="0">
                <a:solidFill>
                  <a:srgbClr val="AFC2DC"/>
                </a:solidFill>
                <a:latin typeface="Calibri" pitchFamily="34" charset="0"/>
                <a:ea typeface="Calibri" pitchFamily="34" charset="-122"/>
                <a:cs typeface="Calibri" pitchFamily="34" charset="-120"/>
              </a:rPr>
              <a:t>Mengelola sistem dan infrastruktur aplikasi.</a:t>
            </a:r>
            <a:endParaRPr lang="en-US" sz="1050" dirty="0"/>
          </a:p>
        </p:txBody>
      </p:sp>
      <p:sp>
        <p:nvSpPr>
          <p:cNvPr id="24" name="Text 2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AFC2DC"/>
                </a:solidFill>
                <a:latin typeface="Calibri" pitchFamily="34" charset="0"/>
                <a:ea typeface="Calibri" pitchFamily="34" charset="-122"/>
                <a:cs typeface="Calibri" pitchFamily="34" charset="-120"/>
              </a:rPr>
              <a:t>STAKEHOLDER</a:t>
            </a:r>
            <a:endParaRPr lang="en-US" sz="900" dirty="0"/>
          </a:p>
        </p:txBody>
      </p:sp>
      <p:sp>
        <p:nvSpPr>
          <p:cNvPr id="25" name="Text 23"/>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AFC2DC"/>
                </a:solidFill>
                <a:latin typeface="Calibri" pitchFamily="34" charset="0"/>
                <a:ea typeface="Calibri" pitchFamily="34" charset="-122"/>
                <a:cs typeface="Calibri" pitchFamily="34" charset="-120"/>
              </a:rPr>
              <a:t>12 / 20</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Arsitektur Sistem</a:t>
            </a:r>
            <a:endParaRPr lang="en-US" sz="3200" dirty="0"/>
          </a:p>
        </p:txBody>
      </p:sp>
      <p:sp>
        <p:nvSpPr>
          <p:cNvPr id="4" name="Shape 2"/>
          <p:cNvSpPr/>
          <p:nvPr/>
        </p:nvSpPr>
        <p:spPr>
          <a:xfrm>
            <a:off x="548640" y="1874520"/>
            <a:ext cx="1965960" cy="1051560"/>
          </a:xfrm>
          <a:prstGeom prst="roundRect">
            <a:avLst>
              <a:gd name="adj" fmla="val 7826"/>
            </a:avLst>
          </a:prstGeom>
          <a:solidFill>
            <a:srgbClr val="13294B"/>
          </a:solidFill>
          <a:ln/>
        </p:spPr>
      </p:sp>
      <p:sp>
        <p:nvSpPr>
          <p:cNvPr id="5" name="Text 3"/>
          <p:cNvSpPr/>
          <p:nvPr/>
        </p:nvSpPr>
        <p:spPr>
          <a:xfrm>
            <a:off x="548640" y="1874520"/>
            <a:ext cx="1965960" cy="1051560"/>
          </a:xfrm>
          <a:prstGeom prst="rect">
            <a:avLst/>
          </a:prstGeom>
          <a:noFill/>
          <a:ln/>
        </p:spPr>
        <p:txBody>
          <a:bodyPr wrap="square" lIns="0" tIns="0" rIns="0" bIns="0"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Driver</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Mobile App</a:t>
            </a:r>
            <a:endParaRPr lang="en-US" sz="1250" dirty="0"/>
          </a:p>
        </p:txBody>
      </p:sp>
      <p:sp>
        <p:nvSpPr>
          <p:cNvPr id="6" name="Text 4"/>
          <p:cNvSpPr/>
          <p:nvPr/>
        </p:nvSpPr>
        <p:spPr>
          <a:xfrm>
            <a:off x="2514600" y="1874520"/>
            <a:ext cx="292608" cy="1051560"/>
          </a:xfrm>
          <a:prstGeom prst="rect">
            <a:avLst/>
          </a:prstGeom>
          <a:noFill/>
          <a:ln/>
        </p:spPr>
        <p:txBody>
          <a:bodyPr wrap="square" lIns="0" tIns="0" rIns="0" bIns="0" rtlCol="0" anchor="ctr"/>
          <a:lstStyle/>
          <a:p>
            <a:pPr marL="0" indent="0" algn="ctr">
              <a:buNone/>
            </a:pPr>
            <a:r>
              <a:rPr lang="en-US" sz="1800" b="1" dirty="0">
                <a:solidFill>
                  <a:srgbClr val="00C2D1"/>
                </a:solidFill>
              </a:rPr>
              <a:t>→</a:t>
            </a:r>
            <a:endParaRPr lang="en-US" sz="1800" dirty="0"/>
          </a:p>
        </p:txBody>
      </p:sp>
      <p:sp>
        <p:nvSpPr>
          <p:cNvPr id="7" name="Shape 5"/>
          <p:cNvSpPr/>
          <p:nvPr/>
        </p:nvSpPr>
        <p:spPr>
          <a:xfrm>
            <a:off x="2807208" y="1874520"/>
            <a:ext cx="1965960" cy="1051560"/>
          </a:xfrm>
          <a:prstGeom prst="roundRect">
            <a:avLst>
              <a:gd name="adj" fmla="val 7826"/>
            </a:avLst>
          </a:prstGeom>
          <a:solidFill>
            <a:srgbClr val="13294B"/>
          </a:solidFill>
          <a:ln/>
        </p:spPr>
      </p:sp>
      <p:sp>
        <p:nvSpPr>
          <p:cNvPr id="8" name="Text 6"/>
          <p:cNvSpPr/>
          <p:nvPr/>
        </p:nvSpPr>
        <p:spPr>
          <a:xfrm>
            <a:off x="2807208" y="1874520"/>
            <a:ext cx="1965960" cy="1051560"/>
          </a:xfrm>
          <a:prstGeom prst="rect">
            <a:avLst/>
          </a:prstGeom>
          <a:noFill/>
          <a:ln/>
        </p:spPr>
        <p:txBody>
          <a:bodyPr wrap="square" lIns="0" tIns="0" rIns="0" bIns="0"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GPS</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Location</a:t>
            </a:r>
            <a:endParaRPr lang="en-US" sz="1250" dirty="0"/>
          </a:p>
        </p:txBody>
      </p:sp>
      <p:sp>
        <p:nvSpPr>
          <p:cNvPr id="9" name="Text 7"/>
          <p:cNvSpPr/>
          <p:nvPr/>
        </p:nvSpPr>
        <p:spPr>
          <a:xfrm>
            <a:off x="4773168" y="1874520"/>
            <a:ext cx="292608" cy="1051560"/>
          </a:xfrm>
          <a:prstGeom prst="rect">
            <a:avLst/>
          </a:prstGeom>
          <a:noFill/>
          <a:ln/>
        </p:spPr>
        <p:txBody>
          <a:bodyPr wrap="square" lIns="0" tIns="0" rIns="0" bIns="0" rtlCol="0" anchor="ctr"/>
          <a:lstStyle/>
          <a:p>
            <a:pPr marL="0" indent="0" algn="ctr">
              <a:buNone/>
            </a:pPr>
            <a:r>
              <a:rPr lang="en-US" sz="1800" b="1" dirty="0">
                <a:solidFill>
                  <a:srgbClr val="00C2D1"/>
                </a:solidFill>
              </a:rPr>
              <a:t>→</a:t>
            </a:r>
            <a:endParaRPr lang="en-US" sz="1800" dirty="0"/>
          </a:p>
        </p:txBody>
      </p:sp>
      <p:sp>
        <p:nvSpPr>
          <p:cNvPr id="10" name="Shape 8"/>
          <p:cNvSpPr/>
          <p:nvPr/>
        </p:nvSpPr>
        <p:spPr>
          <a:xfrm>
            <a:off x="5065776" y="1874520"/>
            <a:ext cx="1965960" cy="1051560"/>
          </a:xfrm>
          <a:prstGeom prst="roundRect">
            <a:avLst>
              <a:gd name="adj" fmla="val 7826"/>
            </a:avLst>
          </a:prstGeom>
          <a:solidFill>
            <a:srgbClr val="1B5FAE"/>
          </a:solidFill>
          <a:ln/>
        </p:spPr>
      </p:sp>
      <p:sp>
        <p:nvSpPr>
          <p:cNvPr id="11" name="Text 9"/>
          <p:cNvSpPr/>
          <p:nvPr/>
        </p:nvSpPr>
        <p:spPr>
          <a:xfrm>
            <a:off x="5065776" y="1874520"/>
            <a:ext cx="1965960" cy="1051560"/>
          </a:xfrm>
          <a:prstGeom prst="rect">
            <a:avLst/>
          </a:prstGeom>
          <a:noFill/>
          <a:ln/>
        </p:spPr>
        <p:txBody>
          <a:bodyPr wrap="square" lIns="0" tIns="0" rIns="0" bIns="0"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Backend /</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Server</a:t>
            </a:r>
            <a:endParaRPr lang="en-US" sz="1250" dirty="0"/>
          </a:p>
        </p:txBody>
      </p:sp>
      <p:sp>
        <p:nvSpPr>
          <p:cNvPr id="12" name="Text 10"/>
          <p:cNvSpPr/>
          <p:nvPr/>
        </p:nvSpPr>
        <p:spPr>
          <a:xfrm>
            <a:off x="7031736" y="1874520"/>
            <a:ext cx="292608" cy="1051560"/>
          </a:xfrm>
          <a:prstGeom prst="rect">
            <a:avLst/>
          </a:prstGeom>
          <a:noFill/>
          <a:ln/>
        </p:spPr>
        <p:txBody>
          <a:bodyPr wrap="square" lIns="0" tIns="0" rIns="0" bIns="0" rtlCol="0" anchor="ctr"/>
          <a:lstStyle/>
          <a:p>
            <a:pPr marL="0" indent="0" algn="ctr">
              <a:buNone/>
            </a:pPr>
            <a:r>
              <a:rPr lang="en-US" sz="1800" b="1" dirty="0">
                <a:solidFill>
                  <a:srgbClr val="00C2D1"/>
                </a:solidFill>
              </a:rPr>
              <a:t>→</a:t>
            </a:r>
            <a:endParaRPr lang="en-US" sz="1800" dirty="0"/>
          </a:p>
        </p:txBody>
      </p:sp>
      <p:sp>
        <p:nvSpPr>
          <p:cNvPr id="13" name="Shape 11"/>
          <p:cNvSpPr/>
          <p:nvPr/>
        </p:nvSpPr>
        <p:spPr>
          <a:xfrm>
            <a:off x="7324344" y="1874520"/>
            <a:ext cx="1965960" cy="1051560"/>
          </a:xfrm>
          <a:prstGeom prst="roundRect">
            <a:avLst>
              <a:gd name="adj" fmla="val 7826"/>
            </a:avLst>
          </a:prstGeom>
          <a:solidFill>
            <a:srgbClr val="13294B"/>
          </a:solidFill>
          <a:ln/>
        </p:spPr>
      </p:sp>
      <p:sp>
        <p:nvSpPr>
          <p:cNvPr id="14" name="Text 12"/>
          <p:cNvSpPr/>
          <p:nvPr/>
        </p:nvSpPr>
        <p:spPr>
          <a:xfrm>
            <a:off x="7324344" y="1874520"/>
            <a:ext cx="1965960" cy="1051560"/>
          </a:xfrm>
          <a:prstGeom prst="rect">
            <a:avLst/>
          </a:prstGeom>
          <a:noFill/>
          <a:ln/>
        </p:spPr>
        <p:txBody>
          <a:bodyPr wrap="square" lIns="0" tIns="0" rIns="0" bIns="0"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15" name="Text 13"/>
          <p:cNvSpPr/>
          <p:nvPr/>
        </p:nvSpPr>
        <p:spPr>
          <a:xfrm>
            <a:off x="9290304" y="1874520"/>
            <a:ext cx="292608" cy="1051560"/>
          </a:xfrm>
          <a:prstGeom prst="rect">
            <a:avLst/>
          </a:prstGeom>
          <a:noFill/>
          <a:ln/>
        </p:spPr>
        <p:txBody>
          <a:bodyPr wrap="square" lIns="0" tIns="0" rIns="0" bIns="0" rtlCol="0" anchor="ctr"/>
          <a:lstStyle/>
          <a:p>
            <a:pPr marL="0" indent="0" algn="ctr">
              <a:buNone/>
            </a:pPr>
            <a:r>
              <a:rPr lang="en-US" sz="1800" b="1" dirty="0">
                <a:solidFill>
                  <a:srgbClr val="00C2D1"/>
                </a:solidFill>
              </a:rPr>
              <a:t>→</a:t>
            </a:r>
            <a:endParaRPr lang="en-US" sz="1800" dirty="0"/>
          </a:p>
        </p:txBody>
      </p:sp>
      <p:sp>
        <p:nvSpPr>
          <p:cNvPr id="16" name="Shape 14"/>
          <p:cNvSpPr/>
          <p:nvPr/>
        </p:nvSpPr>
        <p:spPr>
          <a:xfrm>
            <a:off x="9582912" y="1874520"/>
            <a:ext cx="1965960" cy="1051560"/>
          </a:xfrm>
          <a:prstGeom prst="roundRect">
            <a:avLst>
              <a:gd name="adj" fmla="val 7826"/>
            </a:avLst>
          </a:prstGeom>
          <a:solidFill>
            <a:srgbClr val="13294B"/>
          </a:solidFill>
          <a:ln/>
        </p:spPr>
      </p:sp>
      <p:sp>
        <p:nvSpPr>
          <p:cNvPr id="17" name="Text 15"/>
          <p:cNvSpPr/>
          <p:nvPr/>
        </p:nvSpPr>
        <p:spPr>
          <a:xfrm>
            <a:off x="9582912" y="1874520"/>
            <a:ext cx="1965960" cy="1051560"/>
          </a:xfrm>
          <a:prstGeom prst="rect">
            <a:avLst/>
          </a:prstGeom>
          <a:noFill/>
          <a:ln/>
        </p:spPr>
        <p:txBody>
          <a:bodyPr wrap="square" lIns="0" tIns="0" rIns="0" bIns="0" rtlCol="0" anchor="ctr"/>
          <a:lstStyle/>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Operator</a:t>
            </a:r>
            <a:endParaRPr lang="en-US" sz="1250" dirty="0"/>
          </a:p>
          <a:p>
            <a:pPr marL="0" indent="0" algn="ctr">
              <a:lnSpc>
                <a:spcPct val="110000"/>
              </a:lnSpc>
              <a:buNone/>
            </a:pPr>
            <a:r>
              <a:rPr lang="en-US" sz="1250" b="1" dirty="0">
                <a:solidFill>
                  <a:srgbClr val="FFFFFF"/>
                </a:solidFill>
                <a:latin typeface="Calibri" pitchFamily="34" charset="0"/>
                <a:ea typeface="Calibri" pitchFamily="34" charset="-122"/>
                <a:cs typeface="Calibri" pitchFamily="34" charset="-120"/>
              </a:rPr>
              <a:t>Dashboard</a:t>
            </a:r>
            <a:endParaRPr lang="en-US" sz="1250" dirty="0"/>
          </a:p>
        </p:txBody>
      </p:sp>
      <p:sp>
        <p:nvSpPr>
          <p:cNvPr id="18" name="Text 16"/>
          <p:cNvSpPr/>
          <p:nvPr/>
        </p:nvSpPr>
        <p:spPr>
          <a:xfrm>
            <a:off x="548640" y="3337560"/>
            <a:ext cx="7315200" cy="320040"/>
          </a:xfrm>
          <a:prstGeom prst="rect">
            <a:avLst/>
          </a:prstGeom>
          <a:noFill/>
          <a:ln/>
        </p:spPr>
        <p:txBody>
          <a:bodyPr wrap="square" lIns="0" tIns="0" rIns="0" bIns="0" rtlCol="0" anchor="ctr"/>
          <a:lstStyle/>
          <a:p>
            <a:pPr marL="0" indent="0">
              <a:buNone/>
            </a:pPr>
            <a:r>
              <a:rPr lang="en-US" sz="1500" b="1" dirty="0">
                <a:solidFill>
                  <a:srgbClr val="0B1E3D"/>
                </a:solidFill>
                <a:latin typeface="Montserrat" pitchFamily="34" charset="0"/>
                <a:ea typeface="Montserrat" pitchFamily="34" charset="-122"/>
                <a:cs typeface="Montserrat" pitchFamily="34" charset="-120"/>
              </a:rPr>
              <a:t>Komponen yang Terhubung</a:t>
            </a:r>
            <a:endParaRPr lang="en-US" sz="1500" dirty="0"/>
          </a:p>
        </p:txBody>
      </p:sp>
      <p:sp>
        <p:nvSpPr>
          <p:cNvPr id="19" name="Shape 17"/>
          <p:cNvSpPr/>
          <p:nvPr/>
        </p:nvSpPr>
        <p:spPr>
          <a:xfrm>
            <a:off x="548640" y="3794760"/>
            <a:ext cx="1792224" cy="502920"/>
          </a:xfrm>
          <a:prstGeom prst="roundRect">
            <a:avLst>
              <a:gd name="adj" fmla="val 49091"/>
            </a:avLst>
          </a:prstGeom>
          <a:solidFill>
            <a:srgbClr val="F2F6FB"/>
          </a:solidFill>
          <a:ln w="12700">
            <a:solidFill>
              <a:srgbClr val="1B5FAE"/>
            </a:solidFill>
            <a:prstDash val="solid"/>
          </a:ln>
        </p:spPr>
      </p:sp>
      <p:sp>
        <p:nvSpPr>
          <p:cNvPr id="20" name="Text 18"/>
          <p:cNvSpPr/>
          <p:nvPr/>
        </p:nvSpPr>
        <p:spPr>
          <a:xfrm>
            <a:off x="548640" y="3794760"/>
            <a:ext cx="1792224"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Authentication</a:t>
            </a:r>
            <a:endParaRPr lang="en-US" sz="1100" dirty="0"/>
          </a:p>
        </p:txBody>
      </p:sp>
      <p:sp>
        <p:nvSpPr>
          <p:cNvPr id="21" name="Shape 19"/>
          <p:cNvSpPr/>
          <p:nvPr/>
        </p:nvSpPr>
        <p:spPr>
          <a:xfrm>
            <a:off x="2542032" y="3794760"/>
            <a:ext cx="1591056" cy="502920"/>
          </a:xfrm>
          <a:prstGeom prst="roundRect">
            <a:avLst>
              <a:gd name="adj" fmla="val 49091"/>
            </a:avLst>
          </a:prstGeom>
          <a:solidFill>
            <a:srgbClr val="F2F6FB"/>
          </a:solidFill>
          <a:ln w="12700">
            <a:solidFill>
              <a:srgbClr val="1B5FAE"/>
            </a:solidFill>
            <a:prstDash val="solid"/>
          </a:ln>
        </p:spPr>
      </p:sp>
      <p:sp>
        <p:nvSpPr>
          <p:cNvPr id="22" name="Text 20"/>
          <p:cNvSpPr/>
          <p:nvPr/>
        </p:nvSpPr>
        <p:spPr>
          <a:xfrm>
            <a:off x="2542032" y="3794760"/>
            <a:ext cx="1591056"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GPS Tracking</a:t>
            </a:r>
            <a:endParaRPr lang="en-US" sz="1100" dirty="0"/>
          </a:p>
        </p:txBody>
      </p:sp>
      <p:sp>
        <p:nvSpPr>
          <p:cNvPr id="23" name="Shape 21"/>
          <p:cNvSpPr/>
          <p:nvPr/>
        </p:nvSpPr>
        <p:spPr>
          <a:xfrm>
            <a:off x="4334256" y="3794760"/>
            <a:ext cx="2093976" cy="502920"/>
          </a:xfrm>
          <a:prstGeom prst="roundRect">
            <a:avLst>
              <a:gd name="adj" fmla="val 49091"/>
            </a:avLst>
          </a:prstGeom>
          <a:solidFill>
            <a:srgbClr val="F2F6FB"/>
          </a:solidFill>
          <a:ln w="12700">
            <a:solidFill>
              <a:srgbClr val="1B5FAE"/>
            </a:solidFill>
            <a:prstDash val="solid"/>
          </a:ln>
        </p:spPr>
      </p:sp>
      <p:sp>
        <p:nvSpPr>
          <p:cNvPr id="24" name="Text 22"/>
          <p:cNvSpPr/>
          <p:nvPr/>
        </p:nvSpPr>
        <p:spPr>
          <a:xfrm>
            <a:off x="4334256" y="3794760"/>
            <a:ext cx="2093976"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Status Management</a:t>
            </a:r>
            <a:endParaRPr lang="en-US" sz="1100" dirty="0"/>
          </a:p>
        </p:txBody>
      </p:sp>
      <p:sp>
        <p:nvSpPr>
          <p:cNvPr id="25" name="Shape 23"/>
          <p:cNvSpPr/>
          <p:nvPr/>
        </p:nvSpPr>
        <p:spPr>
          <a:xfrm>
            <a:off x="6629400" y="3794760"/>
            <a:ext cx="1691640" cy="502920"/>
          </a:xfrm>
          <a:prstGeom prst="roundRect">
            <a:avLst>
              <a:gd name="adj" fmla="val 49091"/>
            </a:avLst>
          </a:prstGeom>
          <a:solidFill>
            <a:srgbClr val="F2F6FB"/>
          </a:solidFill>
          <a:ln w="12700">
            <a:solidFill>
              <a:srgbClr val="1B5FAE"/>
            </a:solidFill>
            <a:prstDash val="solid"/>
          </a:ln>
        </p:spPr>
      </p:sp>
      <p:sp>
        <p:nvSpPr>
          <p:cNvPr id="26" name="Text 24"/>
          <p:cNvSpPr/>
          <p:nvPr/>
        </p:nvSpPr>
        <p:spPr>
          <a:xfrm>
            <a:off x="6629400" y="3794760"/>
            <a:ext cx="1691640"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Location Data</a:t>
            </a:r>
            <a:endParaRPr lang="en-US" sz="1100" dirty="0"/>
          </a:p>
        </p:txBody>
      </p:sp>
      <p:sp>
        <p:nvSpPr>
          <p:cNvPr id="27" name="Shape 25"/>
          <p:cNvSpPr/>
          <p:nvPr/>
        </p:nvSpPr>
        <p:spPr>
          <a:xfrm>
            <a:off x="8522208" y="3794760"/>
            <a:ext cx="1792224" cy="502920"/>
          </a:xfrm>
          <a:prstGeom prst="roundRect">
            <a:avLst>
              <a:gd name="adj" fmla="val 49091"/>
            </a:avLst>
          </a:prstGeom>
          <a:solidFill>
            <a:srgbClr val="F2F6FB"/>
          </a:solidFill>
          <a:ln w="12700">
            <a:solidFill>
              <a:srgbClr val="1B5FAE"/>
            </a:solidFill>
            <a:prstDash val="solid"/>
          </a:ln>
        </p:spPr>
      </p:sp>
      <p:sp>
        <p:nvSpPr>
          <p:cNvPr id="28" name="Text 26"/>
          <p:cNvSpPr/>
          <p:nvPr/>
        </p:nvSpPr>
        <p:spPr>
          <a:xfrm>
            <a:off x="8522208" y="3794760"/>
            <a:ext cx="1792224"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Recommendation</a:t>
            </a:r>
            <a:endParaRPr lang="en-US" sz="1100" dirty="0"/>
          </a:p>
        </p:txBody>
      </p:sp>
      <p:sp>
        <p:nvSpPr>
          <p:cNvPr id="29" name="Shape 27"/>
          <p:cNvSpPr/>
          <p:nvPr/>
        </p:nvSpPr>
        <p:spPr>
          <a:xfrm>
            <a:off x="548640" y="4498848"/>
            <a:ext cx="1591056" cy="502920"/>
          </a:xfrm>
          <a:prstGeom prst="roundRect">
            <a:avLst>
              <a:gd name="adj" fmla="val 49091"/>
            </a:avLst>
          </a:prstGeom>
          <a:solidFill>
            <a:srgbClr val="F2F6FB"/>
          </a:solidFill>
          <a:ln w="12700">
            <a:solidFill>
              <a:srgbClr val="1B5FAE"/>
            </a:solidFill>
            <a:prstDash val="solid"/>
          </a:ln>
        </p:spPr>
      </p:sp>
      <p:sp>
        <p:nvSpPr>
          <p:cNvPr id="30" name="Text 28"/>
          <p:cNvSpPr/>
          <p:nvPr/>
        </p:nvSpPr>
        <p:spPr>
          <a:xfrm>
            <a:off x="548640" y="4498848"/>
            <a:ext cx="1591056"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Trip History</a:t>
            </a:r>
            <a:endParaRPr lang="en-US" sz="1100" dirty="0"/>
          </a:p>
        </p:txBody>
      </p:sp>
      <p:sp>
        <p:nvSpPr>
          <p:cNvPr id="31" name="Shape 29"/>
          <p:cNvSpPr/>
          <p:nvPr/>
        </p:nvSpPr>
        <p:spPr>
          <a:xfrm>
            <a:off x="2340864" y="4498848"/>
            <a:ext cx="685800" cy="502920"/>
          </a:xfrm>
          <a:prstGeom prst="roundRect">
            <a:avLst>
              <a:gd name="adj" fmla="val 49091"/>
            </a:avLst>
          </a:prstGeom>
          <a:solidFill>
            <a:srgbClr val="F2F6FB"/>
          </a:solidFill>
          <a:ln w="12700">
            <a:solidFill>
              <a:srgbClr val="1B5FAE"/>
            </a:solidFill>
            <a:prstDash val="solid"/>
          </a:ln>
        </p:spPr>
      </p:sp>
      <p:sp>
        <p:nvSpPr>
          <p:cNvPr id="32" name="Text 30"/>
          <p:cNvSpPr/>
          <p:nvPr/>
        </p:nvSpPr>
        <p:spPr>
          <a:xfrm>
            <a:off x="2340864" y="4498848"/>
            <a:ext cx="685800" cy="502920"/>
          </a:xfrm>
          <a:prstGeom prst="rect">
            <a:avLst/>
          </a:prstGeom>
          <a:noFill/>
          <a:ln/>
        </p:spPr>
        <p:txBody>
          <a:bodyPr wrap="square" lIns="0" tIns="0" rIns="0" bIns="0" rtlCol="0" anchor="ctr"/>
          <a:lstStyle/>
          <a:p>
            <a:pPr marL="0" indent="0" algn="ctr">
              <a:buNone/>
            </a:pPr>
            <a:r>
              <a:rPr lang="en-US" sz="1100" b="1" dirty="0">
                <a:solidFill>
                  <a:srgbClr val="1B5FAE"/>
                </a:solidFill>
                <a:latin typeface="Calibri" pitchFamily="34" charset="0"/>
                <a:ea typeface="Calibri" pitchFamily="34" charset="-122"/>
                <a:cs typeface="Calibri" pitchFamily="34" charset="-120"/>
              </a:rPr>
              <a:t>SOS</a:t>
            </a:r>
            <a:endParaRPr lang="en-US" sz="1100" dirty="0"/>
          </a:p>
        </p:txBody>
      </p:sp>
      <p:sp>
        <p:nvSpPr>
          <p:cNvPr id="33" name="Shape 31"/>
          <p:cNvSpPr/>
          <p:nvPr/>
        </p:nvSpPr>
        <p:spPr>
          <a:xfrm>
            <a:off x="548640" y="5257800"/>
            <a:ext cx="11064240" cy="914400"/>
          </a:xfrm>
          <a:prstGeom prst="roundRect">
            <a:avLst>
              <a:gd name="adj" fmla="val 8000"/>
            </a:avLst>
          </a:prstGeom>
          <a:solidFill>
            <a:srgbClr val="F2F6FB"/>
          </a:solidFill>
          <a:ln/>
          <a:effectLst>
            <a:outerShdw blurRad="101600" dist="25400" dir="5400000" algn="bl" rotWithShape="0">
              <a:srgbClr val="9AAFC9">
                <a:alpha val="35000"/>
              </a:srgbClr>
            </a:outerShdw>
          </a:effectLst>
        </p:spPr>
      </p:sp>
      <p:sp>
        <p:nvSpPr>
          <p:cNvPr id="34" name="Text 32"/>
          <p:cNvSpPr/>
          <p:nvPr/>
        </p:nvSpPr>
        <p:spPr>
          <a:xfrm>
            <a:off x="822960" y="5257800"/>
            <a:ext cx="10515600" cy="914400"/>
          </a:xfrm>
          <a:prstGeom prst="rect">
            <a:avLst/>
          </a:prstGeom>
          <a:noFill/>
          <a:ln/>
        </p:spPr>
        <p:txBody>
          <a:bodyPr wrap="square" lIns="0" tIns="0" rIns="0" bIns="0" rtlCol="0" anchor="ctr"/>
          <a:lstStyle/>
          <a:p>
            <a:pPr marL="0" indent="0">
              <a:lnSpc>
                <a:spcPct val="125000"/>
              </a:lnSpc>
              <a:buNone/>
            </a:pPr>
            <a:r>
              <a:rPr lang="en-US" sz="1100" i="1" dirty="0">
                <a:solidFill>
                  <a:srgbClr val="5B6B82"/>
                </a:solidFill>
                <a:latin typeface="Calibri" pitchFamily="34" charset="0"/>
                <a:ea typeface="Calibri" pitchFamily="34" charset="-122"/>
                <a:cs typeface="Calibri" pitchFamily="34" charset="-120"/>
              </a:rPr>
              <a:t>Catatan: BRD belum menentukan stack teknologi backend secara spesifik. Diagram di atas menggambarkan alur data dan komponen fungsional sistem, bukan implementasi teknis tertentu.</a:t>
            </a:r>
            <a:endParaRPr lang="en-US" sz="110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SYSTEM ARCHITECTURE</a:t>
            </a:r>
            <a:endParaRPr lang="en-US" sz="900" dirty="0"/>
          </a:p>
        </p:txBody>
      </p:sp>
      <p:sp>
        <p:nvSpPr>
          <p:cNvPr id="36" name="Text 34"/>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13 / 20</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SCOPE</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Ruang Lingkup Sistem</a:t>
            </a:r>
            <a:endParaRPr lang="en-US" sz="3200" dirty="0"/>
          </a:p>
        </p:txBody>
      </p:sp>
      <p:sp>
        <p:nvSpPr>
          <p:cNvPr id="4" name="Shape 2"/>
          <p:cNvSpPr/>
          <p:nvPr/>
        </p:nvSpPr>
        <p:spPr>
          <a:xfrm>
            <a:off x="548640" y="1645920"/>
            <a:ext cx="5440680" cy="4846320"/>
          </a:xfrm>
          <a:prstGeom prst="roundRect">
            <a:avLst>
              <a:gd name="adj" fmla="val 1509"/>
            </a:avLst>
          </a:prstGeom>
          <a:solidFill>
            <a:srgbClr val="F2F6FB"/>
          </a:solidFill>
          <a:ln/>
          <a:effectLst>
            <a:outerShdw blurRad="101600" dist="25400" dir="5400000" algn="bl" rotWithShape="0">
              <a:srgbClr val="9AAFC9">
                <a:alpha val="35000"/>
              </a:srgbClr>
            </a:outerShdw>
          </a:effectLst>
        </p:spPr>
      </p:sp>
      <p:sp>
        <p:nvSpPr>
          <p:cNvPr id="5" name="Shape 3"/>
          <p:cNvSpPr/>
          <p:nvPr/>
        </p:nvSpPr>
        <p:spPr>
          <a:xfrm>
            <a:off x="548640" y="1645920"/>
            <a:ext cx="5440680" cy="502920"/>
          </a:xfrm>
          <a:prstGeom prst="roundRect">
            <a:avLst>
              <a:gd name="adj" fmla="val 14545"/>
            </a:avLst>
          </a:prstGeom>
          <a:solidFill>
            <a:srgbClr val="1FAE6B"/>
          </a:solidFill>
          <a:ln/>
        </p:spPr>
      </p:sp>
      <p:sp>
        <p:nvSpPr>
          <p:cNvPr id="6" name="Text 4"/>
          <p:cNvSpPr/>
          <p:nvPr/>
        </p:nvSpPr>
        <p:spPr>
          <a:xfrm>
            <a:off x="548640" y="1645920"/>
            <a:ext cx="54406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IN SCOPE</a:t>
            </a:r>
            <a:endParaRPr lang="en-US" sz="1500" dirty="0"/>
          </a:p>
        </p:txBody>
      </p:sp>
      <p:sp>
        <p:nvSpPr>
          <p:cNvPr id="7" name="Text 5"/>
          <p:cNvSpPr/>
          <p:nvPr/>
        </p:nvSpPr>
        <p:spPr>
          <a:xfrm>
            <a:off x="777240" y="2331720"/>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097280" y="2331720"/>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Aplikasi mobile untuk sopir ambulans.</a:t>
            </a:r>
            <a:endParaRPr lang="en-US" sz="1100" dirty="0"/>
          </a:p>
        </p:txBody>
      </p:sp>
      <p:sp>
        <p:nvSpPr>
          <p:cNvPr id="9" name="Text 7"/>
          <p:cNvSpPr/>
          <p:nvPr/>
        </p:nvSpPr>
        <p:spPr>
          <a:xfrm>
            <a:off x="777240" y="2843784"/>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097280" y="2843784"/>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Pengiriman lokasi GPS ke server secara berkala.</a:t>
            </a:r>
            <a:endParaRPr lang="en-US" sz="1100" dirty="0"/>
          </a:p>
        </p:txBody>
      </p:sp>
      <p:sp>
        <p:nvSpPr>
          <p:cNvPr id="11" name="Text 9"/>
          <p:cNvSpPr/>
          <p:nvPr/>
        </p:nvSpPr>
        <p:spPr>
          <a:xfrm>
            <a:off x="777240" y="3355848"/>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097280" y="3355848"/>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Dashboard web untuk operator.</a:t>
            </a:r>
            <a:endParaRPr lang="en-US" sz="1100" dirty="0"/>
          </a:p>
        </p:txBody>
      </p:sp>
      <p:sp>
        <p:nvSpPr>
          <p:cNvPr id="13" name="Text 11"/>
          <p:cNvSpPr/>
          <p:nvPr/>
        </p:nvSpPr>
        <p:spPr>
          <a:xfrm>
            <a:off x="777240" y="3867912"/>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1097280" y="3867912"/>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Monitoring lokasi ambulans secara real-time.</a:t>
            </a:r>
            <a:endParaRPr lang="en-US" sz="1100" dirty="0"/>
          </a:p>
        </p:txBody>
      </p:sp>
      <p:sp>
        <p:nvSpPr>
          <p:cNvPr id="15" name="Text 13"/>
          <p:cNvSpPr/>
          <p:nvPr/>
        </p:nvSpPr>
        <p:spPr>
          <a:xfrm>
            <a:off x="777240" y="4379976"/>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097280" y="4379976"/>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Manajemen status operasional ambulans.</a:t>
            </a:r>
            <a:endParaRPr lang="en-US" sz="1100" dirty="0"/>
          </a:p>
        </p:txBody>
      </p:sp>
      <p:sp>
        <p:nvSpPr>
          <p:cNvPr id="17" name="Text 15"/>
          <p:cNvSpPr/>
          <p:nvPr/>
        </p:nvSpPr>
        <p:spPr>
          <a:xfrm>
            <a:off x="777240" y="4892040"/>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097280" y="4892040"/>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Rekomendasi ambulans terdekat berdasarkan lokasi pasien dan status armada.</a:t>
            </a:r>
            <a:endParaRPr lang="en-US" sz="1100" dirty="0"/>
          </a:p>
        </p:txBody>
      </p:sp>
      <p:sp>
        <p:nvSpPr>
          <p:cNvPr id="19" name="Text 17"/>
          <p:cNvSpPr/>
          <p:nvPr/>
        </p:nvSpPr>
        <p:spPr>
          <a:xfrm>
            <a:off x="777240" y="5404104"/>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1097280" y="5404104"/>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Riwayat perjalanan ambulans.</a:t>
            </a:r>
            <a:endParaRPr lang="en-US" sz="1100" dirty="0"/>
          </a:p>
        </p:txBody>
      </p:sp>
      <p:sp>
        <p:nvSpPr>
          <p:cNvPr id="21" name="Text 19"/>
          <p:cNvSpPr/>
          <p:nvPr/>
        </p:nvSpPr>
        <p:spPr>
          <a:xfrm>
            <a:off x="777240" y="5916168"/>
            <a:ext cx="274320" cy="457200"/>
          </a:xfrm>
          <a:prstGeom prst="rect">
            <a:avLst/>
          </a:prstGeom>
          <a:noFill/>
          <a:ln/>
        </p:spPr>
        <p:txBody>
          <a:bodyPr wrap="square" lIns="0" tIns="0" rIns="0" bIns="0" rtlCol="0" anchor="ctr"/>
          <a:lstStyle/>
          <a:p>
            <a:pPr marL="0" indent="0">
              <a:buNone/>
            </a:pPr>
            <a:r>
              <a:rPr lang="en-US" sz="1300" b="1" dirty="0">
                <a:solidFill>
                  <a:srgbClr val="1FAE6B"/>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097280" y="5916168"/>
            <a:ext cx="480060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Informasi waktu pembaruan lokasi terakhir (Last Seen).</a:t>
            </a:r>
            <a:endParaRPr lang="en-US" sz="1100" dirty="0"/>
          </a:p>
        </p:txBody>
      </p:sp>
      <p:sp>
        <p:nvSpPr>
          <p:cNvPr id="23" name="Shape 21"/>
          <p:cNvSpPr/>
          <p:nvPr/>
        </p:nvSpPr>
        <p:spPr>
          <a:xfrm>
            <a:off x="6199632" y="1645920"/>
            <a:ext cx="5440680" cy="4846320"/>
          </a:xfrm>
          <a:prstGeom prst="roundRect">
            <a:avLst>
              <a:gd name="adj" fmla="val 1509"/>
            </a:avLst>
          </a:prstGeom>
          <a:solidFill>
            <a:srgbClr val="F2F6FB"/>
          </a:solidFill>
          <a:ln/>
          <a:effectLst>
            <a:outerShdw blurRad="101600" dist="25400" dir="5400000" algn="bl" rotWithShape="0">
              <a:srgbClr val="9AAFC9">
                <a:alpha val="35000"/>
              </a:srgbClr>
            </a:outerShdw>
          </a:effectLst>
        </p:spPr>
      </p:sp>
      <p:sp>
        <p:nvSpPr>
          <p:cNvPr id="24" name="Shape 22"/>
          <p:cNvSpPr/>
          <p:nvPr/>
        </p:nvSpPr>
        <p:spPr>
          <a:xfrm>
            <a:off x="6199632" y="1645920"/>
            <a:ext cx="5440680" cy="502920"/>
          </a:xfrm>
          <a:prstGeom prst="roundRect">
            <a:avLst>
              <a:gd name="adj" fmla="val 14545"/>
            </a:avLst>
          </a:prstGeom>
          <a:solidFill>
            <a:srgbClr val="E4392B"/>
          </a:solidFill>
          <a:ln/>
        </p:spPr>
      </p:sp>
      <p:sp>
        <p:nvSpPr>
          <p:cNvPr id="25" name="Text 23"/>
          <p:cNvSpPr/>
          <p:nvPr/>
        </p:nvSpPr>
        <p:spPr>
          <a:xfrm>
            <a:off x="6199632" y="1645920"/>
            <a:ext cx="54406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OUT OF SCOPE</a:t>
            </a:r>
            <a:endParaRPr lang="en-US" sz="1500" dirty="0"/>
          </a:p>
        </p:txBody>
      </p:sp>
      <p:sp>
        <p:nvSpPr>
          <p:cNvPr id="26" name="Text 24"/>
          <p:cNvSpPr/>
          <p:nvPr/>
        </p:nvSpPr>
        <p:spPr>
          <a:xfrm>
            <a:off x="6428232" y="2331720"/>
            <a:ext cx="274320" cy="457200"/>
          </a:xfrm>
          <a:prstGeom prst="rect">
            <a:avLst/>
          </a:prstGeom>
          <a:noFill/>
          <a:ln/>
        </p:spPr>
        <p:txBody>
          <a:bodyPr wrap="square" lIns="0" tIns="0" rIns="0" bIns="0" rtlCol="0" anchor="ctr"/>
          <a:lstStyle/>
          <a:p>
            <a:pPr marL="0" indent="0">
              <a:buNone/>
            </a:pPr>
            <a:r>
              <a:rPr lang="en-US" sz="1300" b="1" dirty="0">
                <a:solidFill>
                  <a:srgbClr val="E4392B"/>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748272" y="2331720"/>
            <a:ext cx="461772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Rekam medis pasien.</a:t>
            </a:r>
            <a:endParaRPr lang="en-US" sz="1100" dirty="0"/>
          </a:p>
        </p:txBody>
      </p:sp>
      <p:sp>
        <p:nvSpPr>
          <p:cNvPr id="28" name="Text 26"/>
          <p:cNvSpPr/>
          <p:nvPr/>
        </p:nvSpPr>
        <p:spPr>
          <a:xfrm>
            <a:off x="6428232" y="2971800"/>
            <a:ext cx="274320" cy="457200"/>
          </a:xfrm>
          <a:prstGeom prst="rect">
            <a:avLst/>
          </a:prstGeom>
          <a:noFill/>
          <a:ln/>
        </p:spPr>
        <p:txBody>
          <a:bodyPr wrap="square" lIns="0" tIns="0" rIns="0" bIns="0" rtlCol="0" anchor="ctr"/>
          <a:lstStyle/>
          <a:p>
            <a:pPr marL="0" indent="0">
              <a:buNone/>
            </a:pPr>
            <a:r>
              <a:rPr lang="en-US" sz="1300" b="1" dirty="0">
                <a:solidFill>
                  <a:srgbClr val="E4392B"/>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6748272" y="2971800"/>
            <a:ext cx="461772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Sistem pembayaran rumah sakit.</a:t>
            </a:r>
            <a:endParaRPr lang="en-US" sz="1100" dirty="0"/>
          </a:p>
        </p:txBody>
      </p:sp>
      <p:sp>
        <p:nvSpPr>
          <p:cNvPr id="30" name="Text 28"/>
          <p:cNvSpPr/>
          <p:nvPr/>
        </p:nvSpPr>
        <p:spPr>
          <a:xfrm>
            <a:off x="6428232" y="3611880"/>
            <a:ext cx="274320" cy="457200"/>
          </a:xfrm>
          <a:prstGeom prst="rect">
            <a:avLst/>
          </a:prstGeom>
          <a:noFill/>
          <a:ln/>
        </p:spPr>
        <p:txBody>
          <a:bodyPr wrap="square" lIns="0" tIns="0" rIns="0" bIns="0" rtlCol="0" anchor="ctr"/>
          <a:lstStyle/>
          <a:p>
            <a:pPr marL="0" indent="0">
              <a:buNone/>
            </a:pPr>
            <a:r>
              <a:rPr lang="en-US" sz="1300" b="1" dirty="0">
                <a:solidFill>
                  <a:srgbClr val="E4392B"/>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6748272" y="3611880"/>
            <a:ext cx="461772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Manajemen jadwal dokter.</a:t>
            </a:r>
            <a:endParaRPr lang="en-US" sz="1100" dirty="0"/>
          </a:p>
        </p:txBody>
      </p:sp>
      <p:sp>
        <p:nvSpPr>
          <p:cNvPr id="32" name="Text 30"/>
          <p:cNvSpPr/>
          <p:nvPr/>
        </p:nvSpPr>
        <p:spPr>
          <a:xfrm>
            <a:off x="6428232" y="4251960"/>
            <a:ext cx="274320" cy="457200"/>
          </a:xfrm>
          <a:prstGeom prst="rect">
            <a:avLst/>
          </a:prstGeom>
          <a:noFill/>
          <a:ln/>
        </p:spPr>
        <p:txBody>
          <a:bodyPr wrap="square" lIns="0" tIns="0" rIns="0" bIns="0" rtlCol="0" anchor="ctr"/>
          <a:lstStyle/>
          <a:p>
            <a:pPr marL="0" indent="0">
              <a:buNone/>
            </a:pPr>
            <a:r>
              <a:rPr lang="en-US" sz="1300" b="1" dirty="0">
                <a:solidFill>
                  <a:srgbClr val="E4392B"/>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6748272" y="4251960"/>
            <a:ext cx="461772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Integrasi dengan BPJS atau SIMRS.</a:t>
            </a:r>
            <a:endParaRPr lang="en-US" sz="1100" dirty="0"/>
          </a:p>
        </p:txBody>
      </p:sp>
      <p:sp>
        <p:nvSpPr>
          <p:cNvPr id="34" name="Text 32"/>
          <p:cNvSpPr/>
          <p:nvPr/>
        </p:nvSpPr>
        <p:spPr>
          <a:xfrm>
            <a:off x="6428232" y="4892040"/>
            <a:ext cx="274320" cy="457200"/>
          </a:xfrm>
          <a:prstGeom prst="rect">
            <a:avLst/>
          </a:prstGeom>
          <a:noFill/>
          <a:ln/>
        </p:spPr>
        <p:txBody>
          <a:bodyPr wrap="square" lIns="0" tIns="0" rIns="0" bIns="0" rtlCol="0" anchor="ctr"/>
          <a:lstStyle/>
          <a:p>
            <a:pPr marL="0" indent="0">
              <a:buNone/>
            </a:pPr>
            <a:r>
              <a:rPr lang="en-US" sz="1300" b="1" dirty="0">
                <a:solidFill>
                  <a:srgbClr val="E4392B"/>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6748272" y="4892040"/>
            <a:ext cx="4617720" cy="457200"/>
          </a:xfrm>
          <a:prstGeom prst="rect">
            <a:avLst/>
          </a:prstGeom>
          <a:noFill/>
          <a:ln/>
        </p:spPr>
        <p:txBody>
          <a:bodyPr wrap="square" lIns="0" tIns="0" rIns="0" bIns="0" rtlCol="0" anchor="t"/>
          <a:lstStyle/>
          <a:p>
            <a:pPr marL="0" indent="0">
              <a:lnSpc>
                <a:spcPct val="115000"/>
              </a:lnSpc>
              <a:buNone/>
            </a:pPr>
            <a:r>
              <a:rPr lang="en-US" sz="1100" dirty="0">
                <a:solidFill>
                  <a:srgbClr val="0B1E3D"/>
                </a:solidFill>
                <a:latin typeface="Calibri" pitchFamily="34" charset="0"/>
                <a:ea typeface="Calibri" pitchFamily="34" charset="-122"/>
                <a:cs typeface="Calibri" pitchFamily="34" charset="-120"/>
              </a:rPr>
              <a:t>Navigasi rute otomatis seperti Google Maps.</a:t>
            </a:r>
            <a:endParaRPr lang="en-US" sz="1100" dirty="0"/>
          </a:p>
        </p:txBody>
      </p:sp>
      <p:sp>
        <p:nvSpPr>
          <p:cNvPr id="36" name="Text 34"/>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SCOPE</a:t>
            </a:r>
            <a:endParaRPr lang="en-US" sz="900" dirty="0"/>
          </a:p>
        </p:txBody>
      </p:sp>
      <p:sp>
        <p:nvSpPr>
          <p:cNvPr id="37" name="Text 35"/>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14 / 20</a:t>
            </a:r>
            <a:endParaRPr lang="en-US" sz="9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BUSINESS VALUE</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Business Value</a:t>
            </a:r>
            <a:endParaRPr lang="en-US" sz="3200" dirty="0"/>
          </a:p>
        </p:txBody>
      </p:sp>
      <p:sp>
        <p:nvSpPr>
          <p:cNvPr id="4" name="Shape 2"/>
          <p:cNvSpPr/>
          <p:nvPr/>
        </p:nvSpPr>
        <p:spPr>
          <a:xfrm>
            <a:off x="548640" y="1691640"/>
            <a:ext cx="2651760" cy="2148840"/>
          </a:xfrm>
          <a:prstGeom prst="roundRect">
            <a:avLst>
              <a:gd name="adj" fmla="val 3404"/>
            </a:avLst>
          </a:prstGeom>
          <a:solidFill>
            <a:srgbClr val="F2F6FB"/>
          </a:solidFill>
          <a:ln/>
          <a:effectLst>
            <a:outerShdw blurRad="101600" dist="25400" dir="5400000" algn="bl" rotWithShape="0">
              <a:srgbClr val="9AAFC9">
                <a:alpha val="35000"/>
              </a:srgbClr>
            </a:outerShdw>
          </a:effectLst>
        </p:spPr>
      </p:sp>
      <p:sp>
        <p:nvSpPr>
          <p:cNvPr id="5" name="Shape 3"/>
          <p:cNvSpPr/>
          <p:nvPr/>
        </p:nvSpPr>
        <p:spPr>
          <a:xfrm>
            <a:off x="1554480" y="1947672"/>
            <a:ext cx="640080" cy="640080"/>
          </a:xfrm>
          <a:prstGeom prst="ellipse">
            <a:avLst/>
          </a:prstGeom>
          <a:solidFill>
            <a:srgbClr val="1B5FAE"/>
          </a:solidFill>
          <a:ln/>
        </p:spPr>
      </p:sp>
      <p:sp>
        <p:nvSpPr>
          <p:cNvPr id="6" name="Text 4"/>
          <p:cNvSpPr/>
          <p:nvPr/>
        </p:nvSpPr>
        <p:spPr>
          <a:xfrm>
            <a:off x="1554480" y="1947672"/>
            <a:ext cx="640080" cy="64008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731520" y="2743200"/>
            <a:ext cx="2286000" cy="457200"/>
          </a:xfrm>
          <a:prstGeom prst="rect">
            <a:avLst/>
          </a:prstGeom>
          <a:noFill/>
          <a:ln/>
        </p:spPr>
        <p:txBody>
          <a:bodyPr wrap="square" lIns="0" tIns="0" rIns="0" bIns="0" rtlCol="0" anchor="ctr"/>
          <a:lstStyle/>
          <a:p>
            <a:pPr marL="0" indent="0" algn="ctr">
              <a:lnSpc>
                <a:spcPct val="110000"/>
              </a:lnSpc>
              <a:buNone/>
            </a:pPr>
            <a:r>
              <a:rPr lang="en-US" sz="1250" b="1" dirty="0">
                <a:solidFill>
                  <a:srgbClr val="0B1E3D"/>
                </a:solidFill>
                <a:latin typeface="Montserrat" pitchFamily="34" charset="0"/>
                <a:ea typeface="Montserrat" pitchFamily="34" charset="-122"/>
                <a:cs typeface="Montserrat" pitchFamily="34" charset="-120"/>
              </a:rPr>
              <a:t>Efisiensi Dispatch</a:t>
            </a:r>
            <a:endParaRPr lang="en-US" sz="1250" dirty="0"/>
          </a:p>
        </p:txBody>
      </p:sp>
      <p:sp>
        <p:nvSpPr>
          <p:cNvPr id="8" name="Text 6"/>
          <p:cNvSpPr/>
          <p:nvPr/>
        </p:nvSpPr>
        <p:spPr>
          <a:xfrm>
            <a:off x="777240" y="3172968"/>
            <a:ext cx="2194560" cy="594360"/>
          </a:xfrm>
          <a:prstGeom prst="rect">
            <a:avLst/>
          </a:prstGeom>
          <a:noFill/>
          <a:ln/>
        </p:spPr>
        <p:txBody>
          <a:bodyPr wrap="square" lIns="0" tIns="0" rIns="0" bIns="0" rtlCol="0" anchor="ctr"/>
          <a:lstStyle/>
          <a:p>
            <a:pPr marL="0" indent="0" algn="ctr">
              <a:lnSpc>
                <a:spcPct val="120000"/>
              </a:lnSpc>
              <a:buNone/>
            </a:pPr>
            <a:r>
              <a:rPr lang="en-US" sz="1000" dirty="0">
                <a:solidFill>
                  <a:srgbClr val="5B6B82"/>
                </a:solidFill>
                <a:latin typeface="Calibri" pitchFamily="34" charset="0"/>
                <a:ea typeface="Calibri" pitchFamily="34" charset="-122"/>
                <a:cs typeface="Calibri" pitchFamily="34" charset="-120"/>
              </a:rPr>
              <a:t>Membantu mempercepat proses penentuan ambulans.</a:t>
            </a:r>
            <a:endParaRPr lang="en-US" sz="1000" dirty="0"/>
          </a:p>
        </p:txBody>
      </p:sp>
      <p:sp>
        <p:nvSpPr>
          <p:cNvPr id="9" name="Shape 7"/>
          <p:cNvSpPr/>
          <p:nvPr/>
        </p:nvSpPr>
        <p:spPr>
          <a:xfrm>
            <a:off x="3401568" y="1691640"/>
            <a:ext cx="2651760" cy="2148840"/>
          </a:xfrm>
          <a:prstGeom prst="roundRect">
            <a:avLst>
              <a:gd name="adj" fmla="val 3404"/>
            </a:avLst>
          </a:prstGeom>
          <a:solidFill>
            <a:srgbClr val="F2F6FB"/>
          </a:solidFill>
          <a:ln/>
          <a:effectLst>
            <a:outerShdw blurRad="101600" dist="25400" dir="5400000" algn="bl" rotWithShape="0">
              <a:srgbClr val="9AAFC9">
                <a:alpha val="35000"/>
              </a:srgbClr>
            </a:outerShdw>
          </a:effectLst>
        </p:spPr>
      </p:sp>
      <p:sp>
        <p:nvSpPr>
          <p:cNvPr id="10" name="Shape 8"/>
          <p:cNvSpPr/>
          <p:nvPr/>
        </p:nvSpPr>
        <p:spPr>
          <a:xfrm>
            <a:off x="4407408" y="1947672"/>
            <a:ext cx="640080" cy="640080"/>
          </a:xfrm>
          <a:prstGeom prst="ellipse">
            <a:avLst/>
          </a:prstGeom>
          <a:solidFill>
            <a:srgbClr val="1B5FAE"/>
          </a:solidFill>
          <a:ln/>
        </p:spPr>
      </p:sp>
      <p:sp>
        <p:nvSpPr>
          <p:cNvPr id="11" name="Text 9"/>
          <p:cNvSpPr/>
          <p:nvPr/>
        </p:nvSpPr>
        <p:spPr>
          <a:xfrm>
            <a:off x="4407408" y="1947672"/>
            <a:ext cx="640080" cy="64008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3584448" y="2743200"/>
            <a:ext cx="2286000" cy="457200"/>
          </a:xfrm>
          <a:prstGeom prst="rect">
            <a:avLst/>
          </a:prstGeom>
          <a:noFill/>
          <a:ln/>
        </p:spPr>
        <p:txBody>
          <a:bodyPr wrap="square" lIns="0" tIns="0" rIns="0" bIns="0" rtlCol="0" anchor="ctr"/>
          <a:lstStyle/>
          <a:p>
            <a:pPr marL="0" indent="0" algn="ctr">
              <a:lnSpc>
                <a:spcPct val="110000"/>
              </a:lnSpc>
              <a:buNone/>
            </a:pPr>
            <a:r>
              <a:rPr lang="en-US" sz="1250" b="1" dirty="0">
                <a:solidFill>
                  <a:srgbClr val="0B1E3D"/>
                </a:solidFill>
                <a:latin typeface="Montserrat" pitchFamily="34" charset="0"/>
                <a:ea typeface="Montserrat" pitchFamily="34" charset="-122"/>
                <a:cs typeface="Montserrat" pitchFamily="34" charset="-120"/>
              </a:rPr>
              <a:t>Fleet Visibility</a:t>
            </a:r>
            <a:endParaRPr lang="en-US" sz="1250" dirty="0"/>
          </a:p>
        </p:txBody>
      </p:sp>
      <p:sp>
        <p:nvSpPr>
          <p:cNvPr id="13" name="Text 11"/>
          <p:cNvSpPr/>
          <p:nvPr/>
        </p:nvSpPr>
        <p:spPr>
          <a:xfrm>
            <a:off x="3630168" y="3172968"/>
            <a:ext cx="2194560" cy="594360"/>
          </a:xfrm>
          <a:prstGeom prst="rect">
            <a:avLst/>
          </a:prstGeom>
          <a:noFill/>
          <a:ln/>
        </p:spPr>
        <p:txBody>
          <a:bodyPr wrap="square" lIns="0" tIns="0" rIns="0" bIns="0" rtlCol="0" anchor="ctr"/>
          <a:lstStyle/>
          <a:p>
            <a:pPr marL="0" indent="0" algn="ctr">
              <a:lnSpc>
                <a:spcPct val="120000"/>
              </a:lnSpc>
              <a:buNone/>
            </a:pPr>
            <a:r>
              <a:rPr lang="en-US" sz="1000" dirty="0">
                <a:solidFill>
                  <a:srgbClr val="5B6B82"/>
                </a:solidFill>
                <a:latin typeface="Calibri" pitchFamily="34" charset="0"/>
                <a:ea typeface="Calibri" pitchFamily="34" charset="-122"/>
                <a:cs typeface="Calibri" pitchFamily="34" charset="-120"/>
              </a:rPr>
              <a:t>Operator dapat melihat posisi dan kondisi armada.</a:t>
            </a:r>
            <a:endParaRPr lang="en-US" sz="1000" dirty="0"/>
          </a:p>
        </p:txBody>
      </p:sp>
      <p:sp>
        <p:nvSpPr>
          <p:cNvPr id="14" name="Shape 12"/>
          <p:cNvSpPr/>
          <p:nvPr/>
        </p:nvSpPr>
        <p:spPr>
          <a:xfrm>
            <a:off x="6254496" y="1691640"/>
            <a:ext cx="2651760" cy="2148840"/>
          </a:xfrm>
          <a:prstGeom prst="roundRect">
            <a:avLst>
              <a:gd name="adj" fmla="val 3404"/>
            </a:avLst>
          </a:prstGeom>
          <a:solidFill>
            <a:srgbClr val="F2F6FB"/>
          </a:solidFill>
          <a:ln/>
          <a:effectLst>
            <a:outerShdw blurRad="101600" dist="25400" dir="5400000" algn="bl" rotWithShape="0">
              <a:srgbClr val="9AAFC9">
                <a:alpha val="35000"/>
              </a:srgbClr>
            </a:outerShdw>
          </a:effectLst>
        </p:spPr>
      </p:sp>
      <p:sp>
        <p:nvSpPr>
          <p:cNvPr id="15" name="Shape 13"/>
          <p:cNvSpPr/>
          <p:nvPr/>
        </p:nvSpPr>
        <p:spPr>
          <a:xfrm>
            <a:off x="7260336" y="1947672"/>
            <a:ext cx="640080" cy="640080"/>
          </a:xfrm>
          <a:prstGeom prst="ellipse">
            <a:avLst/>
          </a:prstGeom>
          <a:solidFill>
            <a:srgbClr val="1B5FAE"/>
          </a:solidFill>
          <a:ln/>
        </p:spPr>
      </p:sp>
      <p:sp>
        <p:nvSpPr>
          <p:cNvPr id="16" name="Text 14"/>
          <p:cNvSpPr/>
          <p:nvPr/>
        </p:nvSpPr>
        <p:spPr>
          <a:xfrm>
            <a:off x="7260336" y="1947672"/>
            <a:ext cx="640080" cy="64008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a:t>
            </a:r>
            <a:endParaRPr lang="en-US" sz="2600" dirty="0"/>
          </a:p>
        </p:txBody>
      </p:sp>
      <p:sp>
        <p:nvSpPr>
          <p:cNvPr id="17" name="Text 15"/>
          <p:cNvSpPr/>
          <p:nvPr/>
        </p:nvSpPr>
        <p:spPr>
          <a:xfrm>
            <a:off x="6437376" y="2743200"/>
            <a:ext cx="2286000" cy="457200"/>
          </a:xfrm>
          <a:prstGeom prst="rect">
            <a:avLst/>
          </a:prstGeom>
          <a:noFill/>
          <a:ln/>
        </p:spPr>
        <p:txBody>
          <a:bodyPr wrap="square" lIns="0" tIns="0" rIns="0" bIns="0" rtlCol="0" anchor="ctr"/>
          <a:lstStyle/>
          <a:p>
            <a:pPr marL="0" indent="0" algn="ctr">
              <a:lnSpc>
                <a:spcPct val="110000"/>
              </a:lnSpc>
              <a:buNone/>
            </a:pPr>
            <a:r>
              <a:rPr lang="en-US" sz="1250" b="1" dirty="0">
                <a:solidFill>
                  <a:srgbClr val="0B1E3D"/>
                </a:solidFill>
                <a:latin typeface="Montserrat" pitchFamily="34" charset="0"/>
                <a:ea typeface="Montserrat" pitchFamily="34" charset="-122"/>
                <a:cs typeface="Montserrat" pitchFamily="34" charset="-120"/>
              </a:rPr>
              <a:t>Data Operasional</a:t>
            </a:r>
            <a:endParaRPr lang="en-US" sz="1250" dirty="0"/>
          </a:p>
        </p:txBody>
      </p:sp>
      <p:sp>
        <p:nvSpPr>
          <p:cNvPr id="18" name="Text 16"/>
          <p:cNvSpPr/>
          <p:nvPr/>
        </p:nvSpPr>
        <p:spPr>
          <a:xfrm>
            <a:off x="6483096" y="3172968"/>
            <a:ext cx="2194560" cy="594360"/>
          </a:xfrm>
          <a:prstGeom prst="rect">
            <a:avLst/>
          </a:prstGeom>
          <a:noFill/>
          <a:ln/>
        </p:spPr>
        <p:txBody>
          <a:bodyPr wrap="square" lIns="0" tIns="0" rIns="0" bIns="0" rtlCol="0" anchor="ctr"/>
          <a:lstStyle/>
          <a:p>
            <a:pPr marL="0" indent="0" algn="ctr">
              <a:lnSpc>
                <a:spcPct val="120000"/>
              </a:lnSpc>
              <a:buNone/>
            </a:pPr>
            <a:r>
              <a:rPr lang="en-US" sz="1000" dirty="0">
                <a:solidFill>
                  <a:srgbClr val="5B6B82"/>
                </a:solidFill>
                <a:latin typeface="Calibri" pitchFamily="34" charset="0"/>
                <a:ea typeface="Calibri" pitchFamily="34" charset="-122"/>
                <a:cs typeface="Calibri" pitchFamily="34" charset="-120"/>
              </a:rPr>
              <a:t>Riwayat perjalanan dapat digunakan untuk evaluasi.</a:t>
            </a:r>
            <a:endParaRPr lang="en-US" sz="1000" dirty="0"/>
          </a:p>
        </p:txBody>
      </p:sp>
      <p:sp>
        <p:nvSpPr>
          <p:cNvPr id="19" name="Shape 17"/>
          <p:cNvSpPr/>
          <p:nvPr/>
        </p:nvSpPr>
        <p:spPr>
          <a:xfrm>
            <a:off x="9107424" y="1691640"/>
            <a:ext cx="2651760" cy="2148840"/>
          </a:xfrm>
          <a:prstGeom prst="roundRect">
            <a:avLst>
              <a:gd name="adj" fmla="val 3404"/>
            </a:avLst>
          </a:prstGeom>
          <a:solidFill>
            <a:srgbClr val="F2F6FB"/>
          </a:solidFill>
          <a:ln/>
          <a:effectLst>
            <a:outerShdw blurRad="101600" dist="25400" dir="5400000" algn="bl" rotWithShape="0">
              <a:srgbClr val="9AAFC9">
                <a:alpha val="35000"/>
              </a:srgbClr>
            </a:outerShdw>
          </a:effectLst>
        </p:spPr>
      </p:sp>
      <p:sp>
        <p:nvSpPr>
          <p:cNvPr id="20" name="Shape 18"/>
          <p:cNvSpPr/>
          <p:nvPr/>
        </p:nvSpPr>
        <p:spPr>
          <a:xfrm>
            <a:off x="10113264" y="1947672"/>
            <a:ext cx="640080" cy="640080"/>
          </a:xfrm>
          <a:prstGeom prst="ellipse">
            <a:avLst/>
          </a:prstGeom>
          <a:solidFill>
            <a:srgbClr val="1B5FAE"/>
          </a:solidFill>
          <a:ln/>
        </p:spPr>
      </p:sp>
      <p:sp>
        <p:nvSpPr>
          <p:cNvPr id="21" name="Text 19"/>
          <p:cNvSpPr/>
          <p:nvPr/>
        </p:nvSpPr>
        <p:spPr>
          <a:xfrm>
            <a:off x="10113264" y="1947672"/>
            <a:ext cx="640080" cy="64008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a:t>
            </a:r>
            <a:endParaRPr lang="en-US" sz="2600" dirty="0"/>
          </a:p>
        </p:txBody>
      </p:sp>
      <p:sp>
        <p:nvSpPr>
          <p:cNvPr id="22" name="Text 20"/>
          <p:cNvSpPr/>
          <p:nvPr/>
        </p:nvSpPr>
        <p:spPr>
          <a:xfrm>
            <a:off x="9290304" y="2743200"/>
            <a:ext cx="2286000" cy="457200"/>
          </a:xfrm>
          <a:prstGeom prst="rect">
            <a:avLst/>
          </a:prstGeom>
          <a:noFill/>
          <a:ln/>
        </p:spPr>
        <p:txBody>
          <a:bodyPr wrap="square" lIns="0" tIns="0" rIns="0" bIns="0" rtlCol="0" anchor="ctr"/>
          <a:lstStyle/>
          <a:p>
            <a:pPr marL="0" indent="0" algn="ctr">
              <a:lnSpc>
                <a:spcPct val="110000"/>
              </a:lnSpc>
              <a:buNone/>
            </a:pPr>
            <a:r>
              <a:rPr lang="en-US" sz="1250" b="1" dirty="0">
                <a:solidFill>
                  <a:srgbClr val="0B1E3D"/>
                </a:solidFill>
                <a:latin typeface="Montserrat" pitchFamily="34" charset="0"/>
                <a:ea typeface="Montserrat" pitchFamily="34" charset="-122"/>
                <a:cs typeface="Montserrat" pitchFamily="34" charset="-120"/>
              </a:rPr>
              <a:t>Koordinasi Lebih Baik</a:t>
            </a:r>
            <a:endParaRPr lang="en-US" sz="1250" dirty="0"/>
          </a:p>
        </p:txBody>
      </p:sp>
      <p:sp>
        <p:nvSpPr>
          <p:cNvPr id="23" name="Text 21"/>
          <p:cNvSpPr/>
          <p:nvPr/>
        </p:nvSpPr>
        <p:spPr>
          <a:xfrm>
            <a:off x="9336024" y="3172968"/>
            <a:ext cx="2194560" cy="594360"/>
          </a:xfrm>
          <a:prstGeom prst="rect">
            <a:avLst/>
          </a:prstGeom>
          <a:noFill/>
          <a:ln/>
        </p:spPr>
        <p:txBody>
          <a:bodyPr wrap="square" lIns="0" tIns="0" rIns="0" bIns="0" rtlCol="0" anchor="ctr"/>
          <a:lstStyle/>
          <a:p>
            <a:pPr marL="0" indent="0" algn="ctr">
              <a:lnSpc>
                <a:spcPct val="120000"/>
              </a:lnSpc>
              <a:buNone/>
            </a:pPr>
            <a:r>
              <a:rPr lang="en-US" sz="1000" dirty="0">
                <a:solidFill>
                  <a:srgbClr val="5B6B82"/>
                </a:solidFill>
                <a:latin typeface="Calibri" pitchFamily="34" charset="0"/>
                <a:ea typeface="Calibri" pitchFamily="34" charset="-122"/>
                <a:cs typeface="Calibri" pitchFamily="34" charset="-120"/>
              </a:rPr>
              <a:t>Meningkatkan koordinasi antara operator dan sopir.</a:t>
            </a:r>
            <a:endParaRPr lang="en-US" sz="1000" dirty="0"/>
          </a:p>
        </p:txBody>
      </p:sp>
      <p:sp>
        <p:nvSpPr>
          <p:cNvPr id="24" name="Shape 22"/>
          <p:cNvSpPr/>
          <p:nvPr/>
        </p:nvSpPr>
        <p:spPr>
          <a:xfrm>
            <a:off x="548640" y="4251960"/>
            <a:ext cx="3520440" cy="1463040"/>
          </a:xfrm>
          <a:prstGeom prst="roundRect">
            <a:avLst>
              <a:gd name="adj" fmla="val 5625"/>
            </a:avLst>
          </a:prstGeom>
          <a:solidFill>
            <a:srgbClr val="13294B"/>
          </a:solidFill>
          <a:ln/>
        </p:spPr>
      </p:sp>
      <p:sp>
        <p:nvSpPr>
          <p:cNvPr id="25" name="Text 23"/>
          <p:cNvSpPr/>
          <p:nvPr/>
        </p:nvSpPr>
        <p:spPr>
          <a:xfrm>
            <a:off x="777240" y="4416552"/>
            <a:ext cx="3063240" cy="365760"/>
          </a:xfrm>
          <a:prstGeom prst="rect">
            <a:avLst/>
          </a:prstGeom>
          <a:noFill/>
          <a:ln/>
        </p:spPr>
        <p:txBody>
          <a:bodyPr wrap="square" lIns="0" tIns="0" rIns="0" bIns="0" rtlCol="0" anchor="ctr"/>
          <a:lstStyle/>
          <a:p>
            <a:pPr marL="0" indent="0">
              <a:buNone/>
            </a:pPr>
            <a:r>
              <a:rPr lang="en-US" sz="1350" b="1" dirty="0">
                <a:solidFill>
                  <a:srgbClr val="FFFFFF"/>
                </a:solidFill>
                <a:latin typeface="Montserrat" pitchFamily="34" charset="0"/>
                <a:ea typeface="Montserrat" pitchFamily="34" charset="-122"/>
                <a:cs typeface="Montserrat" pitchFamily="34" charset="-120"/>
              </a:rPr>
              <a:t>Before</a:t>
            </a:r>
            <a:endParaRPr lang="en-US" sz="1350" dirty="0"/>
          </a:p>
        </p:txBody>
      </p:sp>
      <p:sp>
        <p:nvSpPr>
          <p:cNvPr id="26" name="Text 24"/>
          <p:cNvSpPr/>
          <p:nvPr/>
        </p:nvSpPr>
        <p:spPr>
          <a:xfrm>
            <a:off x="777240" y="4818888"/>
            <a:ext cx="3063240" cy="822960"/>
          </a:xfrm>
          <a:prstGeom prst="rect">
            <a:avLst/>
          </a:prstGeom>
          <a:noFill/>
          <a:ln/>
        </p:spPr>
        <p:txBody>
          <a:bodyPr wrap="square" lIns="0" tIns="0" rIns="0" bIns="0" rtlCol="0" anchor="t"/>
          <a:lstStyle/>
          <a:p>
            <a:pPr marL="0" indent="0">
              <a:lnSpc>
                <a:spcPct val="120000"/>
              </a:lnSpc>
              <a:buNone/>
            </a:pPr>
            <a:r>
              <a:rPr lang="en-US" sz="1000" dirty="0">
                <a:solidFill>
                  <a:srgbClr val="AFC2DC"/>
                </a:solidFill>
                <a:latin typeface="Calibri" pitchFamily="34" charset="0"/>
                <a:ea typeface="Calibri" pitchFamily="34" charset="-122"/>
                <a:cs typeface="Calibri" pitchFamily="34" charset="-120"/>
              </a:rPr>
              <a:t>Monitoring manual, dispatch lambat, minim visibilitas armada.</a:t>
            </a:r>
            <a:endParaRPr lang="en-US" sz="1000" dirty="0"/>
          </a:p>
        </p:txBody>
      </p:sp>
      <p:sp>
        <p:nvSpPr>
          <p:cNvPr id="27" name="Text 25"/>
          <p:cNvSpPr/>
          <p:nvPr/>
        </p:nvSpPr>
        <p:spPr>
          <a:xfrm>
            <a:off x="4069080" y="4251960"/>
            <a:ext cx="320040" cy="1463040"/>
          </a:xfrm>
          <a:prstGeom prst="rect">
            <a:avLst/>
          </a:prstGeom>
          <a:noFill/>
          <a:ln/>
        </p:spPr>
        <p:txBody>
          <a:bodyPr wrap="square" lIns="0" tIns="0" rIns="0" bIns="0" rtlCol="0" anchor="ctr"/>
          <a:lstStyle/>
          <a:p>
            <a:pPr marL="0" indent="0" algn="ctr">
              <a:buNone/>
            </a:pPr>
            <a:r>
              <a:rPr lang="en-US" sz="2000" b="1" dirty="0">
                <a:solidFill>
                  <a:srgbClr val="5B6B82"/>
                </a:solidFill>
              </a:rPr>
              <a:t>→</a:t>
            </a:r>
            <a:endParaRPr lang="en-US" sz="2000" dirty="0"/>
          </a:p>
        </p:txBody>
      </p:sp>
      <p:sp>
        <p:nvSpPr>
          <p:cNvPr id="28" name="Shape 26"/>
          <p:cNvSpPr/>
          <p:nvPr/>
        </p:nvSpPr>
        <p:spPr>
          <a:xfrm>
            <a:off x="4389120" y="4251960"/>
            <a:ext cx="3520440" cy="1463040"/>
          </a:xfrm>
          <a:prstGeom prst="roundRect">
            <a:avLst>
              <a:gd name="adj" fmla="val 5625"/>
            </a:avLst>
          </a:prstGeom>
          <a:solidFill>
            <a:srgbClr val="00C2D1"/>
          </a:solidFill>
          <a:ln/>
        </p:spPr>
      </p:sp>
      <p:sp>
        <p:nvSpPr>
          <p:cNvPr id="29" name="Text 27"/>
          <p:cNvSpPr/>
          <p:nvPr/>
        </p:nvSpPr>
        <p:spPr>
          <a:xfrm>
            <a:off x="4617720" y="4416552"/>
            <a:ext cx="3063240" cy="365760"/>
          </a:xfrm>
          <a:prstGeom prst="rect">
            <a:avLst/>
          </a:prstGeom>
          <a:noFill/>
          <a:ln/>
        </p:spPr>
        <p:txBody>
          <a:bodyPr wrap="square" lIns="0" tIns="0" rIns="0" bIns="0" rtlCol="0" anchor="ctr"/>
          <a:lstStyle/>
          <a:p>
            <a:pPr marL="0" indent="0">
              <a:buNone/>
            </a:pPr>
            <a:r>
              <a:rPr lang="en-US" sz="1350" b="1" dirty="0">
                <a:solidFill>
                  <a:srgbClr val="0B1E3D"/>
                </a:solidFill>
                <a:latin typeface="Montserrat" pitchFamily="34" charset="0"/>
                <a:ea typeface="Montserrat" pitchFamily="34" charset="-122"/>
                <a:cs typeface="Montserrat" pitchFamily="34" charset="-120"/>
              </a:rPr>
              <a:t>Smart Nearest Ambulance</a:t>
            </a:r>
            <a:endParaRPr lang="en-US" sz="1350" dirty="0"/>
          </a:p>
        </p:txBody>
      </p:sp>
      <p:sp>
        <p:nvSpPr>
          <p:cNvPr id="30" name="Text 28"/>
          <p:cNvSpPr/>
          <p:nvPr/>
        </p:nvSpPr>
        <p:spPr>
          <a:xfrm>
            <a:off x="4617720" y="4818888"/>
            <a:ext cx="3063240" cy="822960"/>
          </a:xfrm>
          <a:prstGeom prst="rect">
            <a:avLst/>
          </a:prstGeom>
          <a:noFill/>
          <a:ln/>
        </p:spPr>
        <p:txBody>
          <a:bodyPr wrap="square" lIns="0" tIns="0" rIns="0" bIns="0" rtlCol="0" anchor="t"/>
          <a:lstStyle/>
          <a:p>
            <a:pPr marL="0" indent="0">
              <a:lnSpc>
                <a:spcPct val="120000"/>
              </a:lnSpc>
              <a:buNone/>
            </a:pPr>
            <a:r>
              <a:rPr lang="en-US" sz="1000" dirty="0">
                <a:solidFill>
                  <a:srgbClr val="2E4A66"/>
                </a:solidFill>
                <a:latin typeface="Calibri" pitchFamily="34" charset="0"/>
                <a:ea typeface="Calibri" pitchFamily="34" charset="-122"/>
                <a:cs typeface="Calibri" pitchFamily="34" charset="-120"/>
              </a:rPr>
              <a:t>GPS real-time, rekomendasi ambulans terdekat, koordinasi lebih baik.</a:t>
            </a:r>
            <a:endParaRPr lang="en-US" sz="1000" dirty="0"/>
          </a:p>
        </p:txBody>
      </p:sp>
      <p:sp>
        <p:nvSpPr>
          <p:cNvPr id="31" name="Text 29"/>
          <p:cNvSpPr/>
          <p:nvPr/>
        </p:nvSpPr>
        <p:spPr>
          <a:xfrm>
            <a:off x="7909560" y="4251960"/>
            <a:ext cx="320040" cy="1463040"/>
          </a:xfrm>
          <a:prstGeom prst="rect">
            <a:avLst/>
          </a:prstGeom>
          <a:noFill/>
          <a:ln/>
        </p:spPr>
        <p:txBody>
          <a:bodyPr wrap="square" lIns="0" tIns="0" rIns="0" bIns="0" rtlCol="0" anchor="ctr"/>
          <a:lstStyle/>
          <a:p>
            <a:pPr marL="0" indent="0" algn="ctr">
              <a:buNone/>
            </a:pPr>
            <a:r>
              <a:rPr lang="en-US" sz="2000" b="1" dirty="0">
                <a:solidFill>
                  <a:srgbClr val="5B6B82"/>
                </a:solidFill>
              </a:rPr>
              <a:t>→</a:t>
            </a:r>
            <a:endParaRPr lang="en-US" sz="2000" dirty="0"/>
          </a:p>
        </p:txBody>
      </p:sp>
      <p:sp>
        <p:nvSpPr>
          <p:cNvPr id="32" name="Shape 30"/>
          <p:cNvSpPr/>
          <p:nvPr/>
        </p:nvSpPr>
        <p:spPr>
          <a:xfrm>
            <a:off x="8229600" y="4251960"/>
            <a:ext cx="3520440" cy="1463040"/>
          </a:xfrm>
          <a:prstGeom prst="roundRect">
            <a:avLst>
              <a:gd name="adj" fmla="val 5625"/>
            </a:avLst>
          </a:prstGeom>
          <a:solidFill>
            <a:srgbClr val="13294B"/>
          </a:solidFill>
          <a:ln/>
        </p:spPr>
      </p:sp>
      <p:sp>
        <p:nvSpPr>
          <p:cNvPr id="33" name="Text 31"/>
          <p:cNvSpPr/>
          <p:nvPr/>
        </p:nvSpPr>
        <p:spPr>
          <a:xfrm>
            <a:off x="8458200" y="4416552"/>
            <a:ext cx="3063240" cy="365760"/>
          </a:xfrm>
          <a:prstGeom prst="rect">
            <a:avLst/>
          </a:prstGeom>
          <a:noFill/>
          <a:ln/>
        </p:spPr>
        <p:txBody>
          <a:bodyPr wrap="square" lIns="0" tIns="0" rIns="0" bIns="0" rtlCol="0" anchor="ctr"/>
          <a:lstStyle/>
          <a:p>
            <a:pPr marL="0" indent="0">
              <a:buNone/>
            </a:pPr>
            <a:r>
              <a:rPr lang="en-US" sz="1350" b="1" dirty="0">
                <a:solidFill>
                  <a:srgbClr val="FFFFFF"/>
                </a:solidFill>
                <a:latin typeface="Montserrat" pitchFamily="34" charset="0"/>
                <a:ea typeface="Montserrat" pitchFamily="34" charset="-122"/>
                <a:cs typeface="Montserrat" pitchFamily="34" charset="-120"/>
              </a:rPr>
              <a:t>After</a:t>
            </a:r>
            <a:endParaRPr lang="en-US" sz="1350" dirty="0"/>
          </a:p>
        </p:txBody>
      </p:sp>
      <p:sp>
        <p:nvSpPr>
          <p:cNvPr id="34" name="Text 32"/>
          <p:cNvSpPr/>
          <p:nvPr/>
        </p:nvSpPr>
        <p:spPr>
          <a:xfrm>
            <a:off x="8458200" y="4818888"/>
            <a:ext cx="3063240" cy="822960"/>
          </a:xfrm>
          <a:prstGeom prst="rect">
            <a:avLst/>
          </a:prstGeom>
          <a:noFill/>
          <a:ln/>
        </p:spPr>
        <p:txBody>
          <a:bodyPr wrap="square" lIns="0" tIns="0" rIns="0" bIns="0" rtlCol="0" anchor="t"/>
          <a:lstStyle/>
          <a:p>
            <a:pPr marL="0" indent="0">
              <a:lnSpc>
                <a:spcPct val="120000"/>
              </a:lnSpc>
              <a:buNone/>
            </a:pPr>
            <a:r>
              <a:rPr lang="en-US" sz="1000" dirty="0">
                <a:solidFill>
                  <a:srgbClr val="AFC2DC"/>
                </a:solidFill>
                <a:latin typeface="Calibri" pitchFamily="34" charset="0"/>
                <a:ea typeface="Calibri" pitchFamily="34" charset="-122"/>
                <a:cs typeface="Calibri" pitchFamily="34" charset="-120"/>
              </a:rPr>
              <a:t>Dispatch lebih cepat, armada lebih terpantau, evaluasi lebih mudah.</a:t>
            </a:r>
            <a:endParaRPr lang="en-US" sz="100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BUSINESS VALUE</a:t>
            </a:r>
            <a:endParaRPr lang="en-US" sz="900" dirty="0"/>
          </a:p>
        </p:txBody>
      </p:sp>
      <p:sp>
        <p:nvSpPr>
          <p:cNvPr id="36" name="Text 34"/>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15 / 20</a:t>
            </a:r>
            <a:endParaRPr lang="en-US" sz="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00C2D1"/>
                </a:solidFill>
                <a:latin typeface="Calibri" pitchFamily="34" charset="0"/>
                <a:ea typeface="Calibri" pitchFamily="34" charset="-122"/>
                <a:cs typeface="Calibri" pitchFamily="34" charset="-120"/>
              </a:rPr>
              <a:t>SUCCESS CRITERIA</a:t>
            </a:r>
            <a:endParaRPr lang="en-US" sz="1200" dirty="0"/>
          </a:p>
        </p:txBody>
      </p:sp>
      <p:sp>
        <p:nvSpPr>
          <p:cNvPr id="3" name="Text 1"/>
          <p:cNvSpPr/>
          <p:nvPr/>
        </p:nvSpPr>
        <p:spPr>
          <a:xfrm>
            <a:off x="548640" y="749808"/>
            <a:ext cx="82296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FFFFFF"/>
                </a:solidFill>
                <a:latin typeface="Montserrat" pitchFamily="34" charset="0"/>
                <a:ea typeface="Montserrat" pitchFamily="34" charset="-122"/>
                <a:cs typeface="Montserrat" pitchFamily="34" charset="-120"/>
              </a:rPr>
              <a:t>Indikator Keberhasilan</a:t>
            </a:r>
            <a:endParaRPr lang="en-US" sz="3200" dirty="0"/>
          </a:p>
        </p:txBody>
      </p:sp>
      <p:sp>
        <p:nvSpPr>
          <p:cNvPr id="4" name="Shape 2"/>
          <p:cNvSpPr/>
          <p:nvPr/>
        </p:nvSpPr>
        <p:spPr>
          <a:xfrm>
            <a:off x="548640" y="1691640"/>
            <a:ext cx="5440680" cy="1234440"/>
          </a:xfrm>
          <a:prstGeom prst="roundRect">
            <a:avLst>
              <a:gd name="adj" fmla="val 5926"/>
            </a:avLst>
          </a:prstGeom>
          <a:solidFill>
            <a:srgbClr val="13294B"/>
          </a:solidFill>
          <a:ln/>
          <a:effectLst>
            <a:outerShdw blurRad="101600" dist="25400" dir="5400000" algn="bl" rotWithShape="0">
              <a:srgbClr val="9AAFC9">
                <a:alpha val="35000"/>
              </a:srgbClr>
            </a:outerShdw>
          </a:effectLst>
        </p:spPr>
      </p:sp>
      <p:sp>
        <p:nvSpPr>
          <p:cNvPr id="5" name="Shape 3"/>
          <p:cNvSpPr/>
          <p:nvPr/>
        </p:nvSpPr>
        <p:spPr>
          <a:xfrm>
            <a:off x="777240" y="2034540"/>
            <a:ext cx="548640" cy="548640"/>
          </a:xfrm>
          <a:prstGeom prst="ellipse">
            <a:avLst/>
          </a:prstGeom>
          <a:solidFill>
            <a:srgbClr val="00C2D1"/>
          </a:solidFill>
          <a:ln/>
        </p:spPr>
      </p:sp>
      <p:sp>
        <p:nvSpPr>
          <p:cNvPr id="6" name="Text 4"/>
          <p:cNvSpPr/>
          <p:nvPr/>
        </p:nvSpPr>
        <p:spPr>
          <a:xfrm>
            <a:off x="777240" y="2034540"/>
            <a:ext cx="548640" cy="548640"/>
          </a:xfrm>
          <a:prstGeom prst="rect">
            <a:avLst/>
          </a:prstGeom>
          <a:noFill/>
          <a:ln/>
        </p:spPr>
        <p:txBody>
          <a:bodyPr wrap="square" lIns="0" tIns="0" rIns="0" bIns="0" rtlCol="0" anchor="ctr"/>
          <a:lstStyle/>
          <a:p>
            <a:pPr marL="0" indent="0" algn="ctr">
              <a:buNone/>
            </a:pPr>
            <a:r>
              <a:rPr lang="en-US" sz="2200" dirty="0">
                <a:solidFill>
                  <a:srgbClr val="0B1E3D"/>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508760" y="1691640"/>
            <a:ext cx="4251960" cy="12344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Operator dapat mengetahui lokasi ambulans yang aktif secara real-time.</a:t>
            </a:r>
            <a:endParaRPr lang="en-US" sz="1200" dirty="0"/>
          </a:p>
        </p:txBody>
      </p:sp>
      <p:sp>
        <p:nvSpPr>
          <p:cNvPr id="8" name="Shape 6"/>
          <p:cNvSpPr/>
          <p:nvPr/>
        </p:nvSpPr>
        <p:spPr>
          <a:xfrm>
            <a:off x="6263640" y="1691640"/>
            <a:ext cx="5440680" cy="1234440"/>
          </a:xfrm>
          <a:prstGeom prst="roundRect">
            <a:avLst>
              <a:gd name="adj" fmla="val 5926"/>
            </a:avLst>
          </a:prstGeom>
          <a:solidFill>
            <a:srgbClr val="13294B"/>
          </a:solidFill>
          <a:ln/>
          <a:effectLst>
            <a:outerShdw blurRad="101600" dist="25400" dir="5400000" algn="bl" rotWithShape="0">
              <a:srgbClr val="9AAFC9">
                <a:alpha val="35000"/>
              </a:srgbClr>
            </a:outerShdw>
          </a:effectLst>
        </p:spPr>
      </p:sp>
      <p:sp>
        <p:nvSpPr>
          <p:cNvPr id="9" name="Shape 7"/>
          <p:cNvSpPr/>
          <p:nvPr/>
        </p:nvSpPr>
        <p:spPr>
          <a:xfrm>
            <a:off x="6492240" y="2034540"/>
            <a:ext cx="548640" cy="548640"/>
          </a:xfrm>
          <a:prstGeom prst="ellipse">
            <a:avLst/>
          </a:prstGeom>
          <a:solidFill>
            <a:srgbClr val="00C2D1"/>
          </a:solidFill>
          <a:ln/>
        </p:spPr>
      </p:sp>
      <p:sp>
        <p:nvSpPr>
          <p:cNvPr id="10" name="Text 8"/>
          <p:cNvSpPr/>
          <p:nvPr/>
        </p:nvSpPr>
        <p:spPr>
          <a:xfrm>
            <a:off x="6492240" y="2034540"/>
            <a:ext cx="548640" cy="548640"/>
          </a:xfrm>
          <a:prstGeom prst="rect">
            <a:avLst/>
          </a:prstGeom>
          <a:noFill/>
          <a:ln/>
        </p:spPr>
        <p:txBody>
          <a:bodyPr wrap="square" lIns="0" tIns="0" rIns="0" bIns="0" rtlCol="0" anchor="ctr"/>
          <a:lstStyle/>
          <a:p>
            <a:pPr marL="0" indent="0" algn="ctr">
              <a:buNone/>
            </a:pPr>
            <a:r>
              <a:rPr lang="en-US" sz="2200" dirty="0">
                <a:solidFill>
                  <a:srgbClr val="0B1E3D"/>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7223760" y="1691640"/>
            <a:ext cx="4251960" cy="12344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Waktu penentuan ambulans yang akan ditugaskan menjadi lebih cepat dibandingkan proses manual.</a:t>
            </a:r>
            <a:endParaRPr lang="en-US" sz="1200" dirty="0"/>
          </a:p>
        </p:txBody>
      </p:sp>
      <p:sp>
        <p:nvSpPr>
          <p:cNvPr id="12" name="Shape 10"/>
          <p:cNvSpPr/>
          <p:nvPr/>
        </p:nvSpPr>
        <p:spPr>
          <a:xfrm>
            <a:off x="548640" y="3200400"/>
            <a:ext cx="5440680" cy="1234440"/>
          </a:xfrm>
          <a:prstGeom prst="roundRect">
            <a:avLst>
              <a:gd name="adj" fmla="val 5926"/>
            </a:avLst>
          </a:prstGeom>
          <a:solidFill>
            <a:srgbClr val="13294B"/>
          </a:solidFill>
          <a:ln/>
          <a:effectLst>
            <a:outerShdw blurRad="101600" dist="25400" dir="5400000" algn="bl" rotWithShape="0">
              <a:srgbClr val="9AAFC9">
                <a:alpha val="35000"/>
              </a:srgbClr>
            </a:outerShdw>
          </a:effectLst>
        </p:spPr>
      </p:sp>
      <p:sp>
        <p:nvSpPr>
          <p:cNvPr id="13" name="Shape 11"/>
          <p:cNvSpPr/>
          <p:nvPr/>
        </p:nvSpPr>
        <p:spPr>
          <a:xfrm>
            <a:off x="777240" y="3543300"/>
            <a:ext cx="548640" cy="548640"/>
          </a:xfrm>
          <a:prstGeom prst="ellipse">
            <a:avLst/>
          </a:prstGeom>
          <a:solidFill>
            <a:srgbClr val="00C2D1"/>
          </a:solidFill>
          <a:ln/>
        </p:spPr>
      </p:sp>
      <p:sp>
        <p:nvSpPr>
          <p:cNvPr id="14" name="Text 12"/>
          <p:cNvSpPr/>
          <p:nvPr/>
        </p:nvSpPr>
        <p:spPr>
          <a:xfrm>
            <a:off x="777240" y="3543300"/>
            <a:ext cx="548640" cy="548640"/>
          </a:xfrm>
          <a:prstGeom prst="rect">
            <a:avLst/>
          </a:prstGeom>
          <a:noFill/>
          <a:ln/>
        </p:spPr>
        <p:txBody>
          <a:bodyPr wrap="square" lIns="0" tIns="0" rIns="0" bIns="0" rtlCol="0" anchor="ctr"/>
          <a:lstStyle/>
          <a:p>
            <a:pPr marL="0" indent="0" algn="ctr">
              <a:buNone/>
            </a:pPr>
            <a:r>
              <a:rPr lang="en-US" sz="2200" dirty="0">
                <a:solidFill>
                  <a:srgbClr val="0B1E3D"/>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1508760" y="3200400"/>
            <a:ext cx="4251960" cy="12344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Seluruh aktivitas perjalanan ambulans tercatat secara otomatis.</a:t>
            </a:r>
            <a:endParaRPr lang="en-US" sz="1200" dirty="0"/>
          </a:p>
        </p:txBody>
      </p:sp>
      <p:sp>
        <p:nvSpPr>
          <p:cNvPr id="16" name="Shape 14"/>
          <p:cNvSpPr/>
          <p:nvPr/>
        </p:nvSpPr>
        <p:spPr>
          <a:xfrm>
            <a:off x="6263640" y="3200400"/>
            <a:ext cx="5440680" cy="1234440"/>
          </a:xfrm>
          <a:prstGeom prst="roundRect">
            <a:avLst>
              <a:gd name="adj" fmla="val 5926"/>
            </a:avLst>
          </a:prstGeom>
          <a:solidFill>
            <a:srgbClr val="13294B"/>
          </a:solidFill>
          <a:ln/>
          <a:effectLst>
            <a:outerShdw blurRad="101600" dist="25400" dir="5400000" algn="bl" rotWithShape="0">
              <a:srgbClr val="9AAFC9">
                <a:alpha val="35000"/>
              </a:srgbClr>
            </a:outerShdw>
          </a:effectLst>
        </p:spPr>
      </p:sp>
      <p:sp>
        <p:nvSpPr>
          <p:cNvPr id="17" name="Shape 15"/>
          <p:cNvSpPr/>
          <p:nvPr/>
        </p:nvSpPr>
        <p:spPr>
          <a:xfrm>
            <a:off x="6492240" y="3543300"/>
            <a:ext cx="548640" cy="548640"/>
          </a:xfrm>
          <a:prstGeom prst="ellipse">
            <a:avLst/>
          </a:prstGeom>
          <a:solidFill>
            <a:srgbClr val="00C2D1"/>
          </a:solidFill>
          <a:ln/>
        </p:spPr>
      </p:sp>
      <p:sp>
        <p:nvSpPr>
          <p:cNvPr id="18" name="Text 16"/>
          <p:cNvSpPr/>
          <p:nvPr/>
        </p:nvSpPr>
        <p:spPr>
          <a:xfrm>
            <a:off x="6492240" y="3543300"/>
            <a:ext cx="548640" cy="548640"/>
          </a:xfrm>
          <a:prstGeom prst="rect">
            <a:avLst/>
          </a:prstGeom>
          <a:noFill/>
          <a:ln/>
        </p:spPr>
        <p:txBody>
          <a:bodyPr wrap="square" lIns="0" tIns="0" rIns="0" bIns="0" rtlCol="0" anchor="ctr"/>
          <a:lstStyle/>
          <a:p>
            <a:pPr marL="0" indent="0" algn="ctr">
              <a:buNone/>
            </a:pPr>
            <a:r>
              <a:rPr lang="en-US" sz="2200" dirty="0">
                <a:solidFill>
                  <a:srgbClr val="0B1E3D"/>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7223760" y="3200400"/>
            <a:ext cx="4251960" cy="12344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Operator dapat mengetahui ambulans yang paling dekat dengan lokasi pasien hanya dalam beberapa detik.</a:t>
            </a:r>
            <a:endParaRPr lang="en-US" sz="1200" dirty="0"/>
          </a:p>
        </p:txBody>
      </p:sp>
      <p:sp>
        <p:nvSpPr>
          <p:cNvPr id="20" name="Shape 18"/>
          <p:cNvSpPr/>
          <p:nvPr/>
        </p:nvSpPr>
        <p:spPr>
          <a:xfrm>
            <a:off x="548640" y="4709160"/>
            <a:ext cx="11704320" cy="1234440"/>
          </a:xfrm>
          <a:prstGeom prst="roundRect">
            <a:avLst>
              <a:gd name="adj" fmla="val 5926"/>
            </a:avLst>
          </a:prstGeom>
          <a:solidFill>
            <a:srgbClr val="13294B"/>
          </a:solidFill>
          <a:ln/>
          <a:effectLst>
            <a:outerShdw blurRad="101600" dist="25400" dir="5400000" algn="bl" rotWithShape="0">
              <a:srgbClr val="9AAFC9">
                <a:alpha val="35000"/>
              </a:srgbClr>
            </a:outerShdw>
          </a:effectLst>
        </p:spPr>
      </p:sp>
      <p:sp>
        <p:nvSpPr>
          <p:cNvPr id="21" name="Shape 19"/>
          <p:cNvSpPr/>
          <p:nvPr/>
        </p:nvSpPr>
        <p:spPr>
          <a:xfrm>
            <a:off x="777240" y="5052060"/>
            <a:ext cx="548640" cy="548640"/>
          </a:xfrm>
          <a:prstGeom prst="ellipse">
            <a:avLst/>
          </a:prstGeom>
          <a:solidFill>
            <a:srgbClr val="00C2D1"/>
          </a:solidFill>
          <a:ln/>
        </p:spPr>
      </p:sp>
      <p:sp>
        <p:nvSpPr>
          <p:cNvPr id="22" name="Text 20"/>
          <p:cNvSpPr/>
          <p:nvPr/>
        </p:nvSpPr>
        <p:spPr>
          <a:xfrm>
            <a:off x="777240" y="5052060"/>
            <a:ext cx="548640" cy="548640"/>
          </a:xfrm>
          <a:prstGeom prst="rect">
            <a:avLst/>
          </a:prstGeom>
          <a:noFill/>
          <a:ln/>
        </p:spPr>
        <p:txBody>
          <a:bodyPr wrap="square" lIns="0" tIns="0" rIns="0" bIns="0" rtlCol="0" anchor="ctr"/>
          <a:lstStyle/>
          <a:p>
            <a:pPr marL="0" indent="0" algn="ctr">
              <a:buNone/>
            </a:pPr>
            <a:r>
              <a:rPr lang="en-US" sz="2200" dirty="0">
                <a:solidFill>
                  <a:srgbClr val="0B1E3D"/>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1508760" y="4709160"/>
            <a:ext cx="10515600" cy="123444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Sistem mampu meningkatkan efektivitas koordinasi antara operator dan sopir ambulans.</a:t>
            </a:r>
            <a:endParaRPr lang="en-US" sz="1300" dirty="0"/>
          </a:p>
        </p:txBody>
      </p:sp>
      <p:sp>
        <p:nvSpPr>
          <p:cNvPr id="24" name="Text 2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AFC2DC"/>
                </a:solidFill>
                <a:latin typeface="Calibri" pitchFamily="34" charset="0"/>
                <a:ea typeface="Calibri" pitchFamily="34" charset="-122"/>
                <a:cs typeface="Calibri" pitchFamily="34" charset="-120"/>
              </a:rPr>
              <a:t>SUCCESS CRITERIA</a:t>
            </a:r>
            <a:endParaRPr lang="en-US" sz="900" dirty="0"/>
          </a:p>
        </p:txBody>
      </p:sp>
      <p:sp>
        <p:nvSpPr>
          <p:cNvPr id="25" name="Text 23"/>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AFC2DC"/>
                </a:solidFill>
                <a:latin typeface="Calibri" pitchFamily="34" charset="0"/>
                <a:ea typeface="Calibri" pitchFamily="34" charset="-122"/>
                <a:cs typeface="Calibri" pitchFamily="34" charset="-120"/>
              </a:rPr>
              <a:t>16 / 20</a:t>
            </a:r>
            <a:endParaRPr lang="en-US" sz="9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SUSTAINABLE DEVELOPMENT GOALS</a:t>
            </a:r>
            <a:endParaRPr lang="en-US" sz="1200" dirty="0"/>
          </a:p>
        </p:txBody>
      </p:sp>
      <p:sp>
        <p:nvSpPr>
          <p:cNvPr id="3" name="Text 1"/>
          <p:cNvSpPr/>
          <p:nvPr/>
        </p:nvSpPr>
        <p:spPr>
          <a:xfrm>
            <a:off x="548640" y="749808"/>
            <a:ext cx="10515600" cy="822960"/>
          </a:xfrm>
          <a:prstGeom prst="rect">
            <a:avLst/>
          </a:prstGeom>
          <a:noFill/>
          <a:ln/>
        </p:spPr>
        <p:txBody>
          <a:bodyPr wrap="square" lIns="0" tIns="0" rIns="0" bIns="0" rtlCol="0" anchor="ctr"/>
          <a:lstStyle/>
          <a:p>
            <a:pPr marL="0" indent="0" algn="l">
              <a:lnSpc>
                <a:spcPct val="102000"/>
              </a:lnSpc>
              <a:buNone/>
            </a:pPr>
            <a:r>
              <a:rPr lang="en-US" sz="2600" b="1" dirty="0">
                <a:solidFill>
                  <a:srgbClr val="0B1E3D"/>
                </a:solidFill>
                <a:latin typeface="Montserrat" pitchFamily="34" charset="0"/>
                <a:ea typeface="Montserrat" pitchFamily="34" charset="-122"/>
                <a:cs typeface="Montserrat" pitchFamily="34" charset="-120"/>
              </a:rPr>
              <a:t>Supporting SDG 3 — Good Health and Well-Being</a:t>
            </a:r>
            <a:endParaRPr lang="en-US" sz="2600" dirty="0"/>
          </a:p>
        </p:txBody>
      </p:sp>
      <p:sp>
        <p:nvSpPr>
          <p:cNvPr id="4" name="Shape 2"/>
          <p:cNvSpPr/>
          <p:nvPr/>
        </p:nvSpPr>
        <p:spPr>
          <a:xfrm>
            <a:off x="8778240" y="1783080"/>
            <a:ext cx="2377440" cy="2377440"/>
          </a:xfrm>
          <a:prstGeom prst="roundRect">
            <a:avLst>
              <a:gd name="adj" fmla="val 6923"/>
            </a:avLst>
          </a:prstGeom>
          <a:solidFill>
            <a:srgbClr val="C5192D"/>
          </a:solidFill>
          <a:ln/>
        </p:spPr>
      </p:sp>
      <p:sp>
        <p:nvSpPr>
          <p:cNvPr id="5" name="Text 3"/>
          <p:cNvSpPr/>
          <p:nvPr/>
        </p:nvSpPr>
        <p:spPr>
          <a:xfrm>
            <a:off x="8778240" y="2286000"/>
            <a:ext cx="237744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Montserrat" pitchFamily="34" charset="0"/>
                <a:ea typeface="Montserrat" pitchFamily="34" charset="-122"/>
                <a:cs typeface="Montserrat" pitchFamily="34" charset="-120"/>
              </a:rPr>
              <a:t>SDG</a:t>
            </a:r>
            <a:endParaRPr lang="en-US" sz="2400" dirty="0"/>
          </a:p>
        </p:txBody>
      </p:sp>
      <p:sp>
        <p:nvSpPr>
          <p:cNvPr id="6" name="Text 4"/>
          <p:cNvSpPr/>
          <p:nvPr/>
        </p:nvSpPr>
        <p:spPr>
          <a:xfrm>
            <a:off x="8778240" y="2697480"/>
            <a:ext cx="2377440" cy="914400"/>
          </a:xfrm>
          <a:prstGeom prst="rect">
            <a:avLst/>
          </a:prstGeom>
          <a:noFill/>
          <a:ln/>
        </p:spPr>
        <p:txBody>
          <a:bodyPr wrap="square" lIns="0" tIns="0" rIns="0" bIns="0" rtlCol="0" anchor="ctr"/>
          <a:lstStyle/>
          <a:p>
            <a:pPr marL="0" indent="0" algn="ctr">
              <a:buNone/>
            </a:pPr>
            <a:r>
              <a:rPr lang="en-US" sz="6000" b="1" dirty="0">
                <a:solidFill>
                  <a:srgbClr val="FFFFFF"/>
                </a:solidFill>
                <a:latin typeface="Montserrat" pitchFamily="34" charset="0"/>
                <a:ea typeface="Montserrat" pitchFamily="34" charset="-122"/>
                <a:cs typeface="Montserrat" pitchFamily="34" charset="-120"/>
              </a:rPr>
              <a:t>3</a:t>
            </a:r>
            <a:endParaRPr lang="en-US" sz="6000" dirty="0"/>
          </a:p>
        </p:txBody>
      </p:sp>
      <p:sp>
        <p:nvSpPr>
          <p:cNvPr id="7" name="Text 5"/>
          <p:cNvSpPr/>
          <p:nvPr/>
        </p:nvSpPr>
        <p:spPr>
          <a:xfrm>
            <a:off x="8915400" y="3520440"/>
            <a:ext cx="2103120" cy="548640"/>
          </a:xfrm>
          <a:prstGeom prst="rect">
            <a:avLst/>
          </a:prstGeom>
          <a:noFill/>
          <a:ln/>
        </p:spPr>
        <p:txBody>
          <a:bodyPr wrap="square" lIns="0" tIns="0" rIns="0" bIns="0" rtlCol="0" anchor="ctr"/>
          <a:lstStyle/>
          <a:p>
            <a:pPr marL="0" indent="0" algn="ctr">
              <a:lnSpc>
                <a:spcPct val="110000"/>
              </a:lnSpc>
              <a:buNone/>
            </a:pPr>
            <a:r>
              <a:rPr lang="en-US" sz="950" b="1" dirty="0">
                <a:solidFill>
                  <a:srgbClr val="FFFFFF"/>
                </a:solidFill>
                <a:latin typeface="Calibri" pitchFamily="34" charset="0"/>
                <a:ea typeface="Calibri" pitchFamily="34" charset="-122"/>
                <a:cs typeface="Calibri" pitchFamily="34" charset="-120"/>
              </a:rPr>
              <a:t>GOOD HEALTH</a:t>
            </a:r>
            <a:endParaRPr lang="en-US" sz="950" dirty="0"/>
          </a:p>
          <a:p>
            <a:pPr marL="0" indent="0" algn="ctr">
              <a:lnSpc>
                <a:spcPct val="110000"/>
              </a:lnSpc>
              <a:buNone/>
            </a:pPr>
            <a:r>
              <a:rPr lang="en-US" sz="950" b="1" dirty="0">
                <a:solidFill>
                  <a:srgbClr val="FFFFFF"/>
                </a:solidFill>
                <a:latin typeface="Calibri" pitchFamily="34" charset="0"/>
                <a:ea typeface="Calibri" pitchFamily="34" charset="-122"/>
                <a:cs typeface="Calibri" pitchFamily="34" charset="-120"/>
              </a:rPr>
              <a:t>AND WELL-BEING</a:t>
            </a:r>
            <a:endParaRPr lang="en-US" sz="950" dirty="0"/>
          </a:p>
        </p:txBody>
      </p:sp>
      <p:sp>
        <p:nvSpPr>
          <p:cNvPr id="8" name="Shape 6"/>
          <p:cNvSpPr/>
          <p:nvPr/>
        </p:nvSpPr>
        <p:spPr>
          <a:xfrm>
            <a:off x="548640" y="1783080"/>
            <a:ext cx="7818120"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9" name="Text 7"/>
          <p:cNvSpPr/>
          <p:nvPr/>
        </p:nvSpPr>
        <p:spPr>
          <a:xfrm>
            <a:off x="822960" y="2011680"/>
            <a:ext cx="7269480" cy="1554480"/>
          </a:xfrm>
          <a:prstGeom prst="rect">
            <a:avLst/>
          </a:prstGeom>
          <a:noFill/>
          <a:ln/>
        </p:spPr>
        <p:txBody>
          <a:bodyPr wrap="square" lIns="0" tIns="0" rIns="0" bIns="0" rtlCol="0" anchor="t"/>
          <a:lstStyle/>
          <a:p>
            <a:pPr marL="0" indent="0">
              <a:lnSpc>
                <a:spcPct val="130000"/>
              </a:lnSpc>
              <a:buNone/>
            </a:pPr>
            <a:r>
              <a:rPr lang="en-US" sz="1350" dirty="0">
                <a:solidFill>
                  <a:srgbClr val="0B1E3D"/>
                </a:solidFill>
                <a:latin typeface="Calibri" pitchFamily="34" charset="0"/>
                <a:ea typeface="Calibri" pitchFamily="34" charset="-122"/>
                <a:cs typeface="Calibri" pitchFamily="34" charset="-120"/>
              </a:rPr>
              <a:t>Proyek Smart Nearest Ambulance mendukung SDG 3 dengan meningkatkan efektivitas layanan ambulans melalui pemantauan lokasi secara real-time dan rekomendasi ambulans terdekat.</a:t>
            </a:r>
            <a:endParaRPr lang="en-US" sz="1350" dirty="0"/>
          </a:p>
        </p:txBody>
      </p:sp>
      <p:sp>
        <p:nvSpPr>
          <p:cNvPr id="10" name="Shape 8"/>
          <p:cNvSpPr/>
          <p:nvPr/>
        </p:nvSpPr>
        <p:spPr>
          <a:xfrm>
            <a:off x="548640" y="3977640"/>
            <a:ext cx="7818120" cy="1965960"/>
          </a:xfrm>
          <a:prstGeom prst="roundRect">
            <a:avLst>
              <a:gd name="adj" fmla="val 3721"/>
            </a:avLst>
          </a:prstGeom>
          <a:solidFill>
            <a:srgbClr val="F2F6FB"/>
          </a:solidFill>
          <a:ln/>
          <a:effectLst>
            <a:outerShdw blurRad="101600" dist="25400" dir="5400000" algn="bl" rotWithShape="0">
              <a:srgbClr val="9AAFC9">
                <a:alpha val="35000"/>
              </a:srgbClr>
            </a:outerShdw>
          </a:effectLst>
        </p:spPr>
      </p:sp>
      <p:sp>
        <p:nvSpPr>
          <p:cNvPr id="11" name="Text 9"/>
          <p:cNvSpPr/>
          <p:nvPr/>
        </p:nvSpPr>
        <p:spPr>
          <a:xfrm>
            <a:off x="822960" y="4206240"/>
            <a:ext cx="7269480" cy="1554480"/>
          </a:xfrm>
          <a:prstGeom prst="rect">
            <a:avLst/>
          </a:prstGeom>
          <a:noFill/>
          <a:ln/>
        </p:spPr>
        <p:txBody>
          <a:bodyPr wrap="square" lIns="0" tIns="0" rIns="0" bIns="0" rtlCol="0" anchor="t"/>
          <a:lstStyle/>
          <a:p>
            <a:pPr marL="0" indent="0">
              <a:lnSpc>
                <a:spcPct val="130000"/>
              </a:lnSpc>
              <a:buNone/>
            </a:pPr>
            <a:r>
              <a:rPr lang="en-US" sz="1350" dirty="0">
                <a:solidFill>
                  <a:srgbClr val="0B1E3D"/>
                </a:solidFill>
                <a:latin typeface="Calibri" pitchFamily="34" charset="0"/>
                <a:ea typeface="Calibri" pitchFamily="34" charset="-122"/>
                <a:cs typeface="Calibri" pitchFamily="34" charset="-120"/>
              </a:rPr>
              <a:t>Dengan proses dispatch yang lebih cepat dan koordinasi yang lebih baik, diharapkan waktu respons terhadap keadaan darurat dapat dipersingkat sehingga meningkatkan peluang pasien memperoleh penanganan medis tepat waktu.</a:t>
            </a:r>
            <a:endParaRPr lang="en-US" sz="1350" dirty="0"/>
          </a:p>
        </p:txBody>
      </p:sp>
      <p:sp>
        <p:nvSpPr>
          <p:cNvPr id="12" name="Shape 10"/>
          <p:cNvSpPr/>
          <p:nvPr/>
        </p:nvSpPr>
        <p:spPr>
          <a:xfrm>
            <a:off x="8778240" y="4572000"/>
            <a:ext cx="2377440" cy="731520"/>
          </a:xfrm>
          <a:prstGeom prst="roundRect">
            <a:avLst>
              <a:gd name="adj" fmla="val 50000"/>
            </a:avLst>
          </a:prstGeom>
          <a:solidFill>
            <a:srgbClr val="0B1E3D"/>
          </a:solidFill>
          <a:ln/>
        </p:spPr>
      </p:sp>
      <p:sp>
        <p:nvSpPr>
          <p:cNvPr id="13" name="Text 11"/>
          <p:cNvSpPr/>
          <p:nvPr/>
        </p:nvSpPr>
        <p:spPr>
          <a:xfrm>
            <a:off x="8778240" y="4572000"/>
            <a:ext cx="2377440" cy="731520"/>
          </a:xfrm>
          <a:prstGeom prst="rect">
            <a:avLst/>
          </a:prstGeom>
          <a:noFill/>
          <a:ln/>
        </p:spPr>
        <p:txBody>
          <a:bodyPr wrap="square" lIns="0" tIns="0" rIns="0" bIns="0" rtlCol="0" anchor="ctr"/>
          <a:lstStyle/>
          <a:p>
            <a:pPr marL="0" indent="0" algn="ctr">
              <a:lnSpc>
                <a:spcPct val="110000"/>
              </a:lnSpc>
              <a:buNone/>
            </a:pPr>
            <a:r>
              <a:rPr lang="en-US" sz="1100" b="1" dirty="0">
                <a:solidFill>
                  <a:srgbClr val="00C2D1"/>
                </a:solidFill>
                <a:latin typeface="Calibri" pitchFamily="34" charset="0"/>
                <a:ea typeface="Calibri" pitchFamily="34" charset="-122"/>
                <a:cs typeface="Calibri" pitchFamily="34" charset="-120"/>
              </a:rPr>
              <a:t>Improved Emergency</a:t>
            </a:r>
            <a:endParaRPr lang="en-US" sz="1100" dirty="0"/>
          </a:p>
          <a:p>
            <a:pPr marL="0" indent="0" algn="ctr">
              <a:lnSpc>
                <a:spcPct val="110000"/>
              </a:lnSpc>
              <a:buNone/>
            </a:pPr>
            <a:r>
              <a:rPr lang="en-US" sz="1100" b="1" dirty="0">
                <a:solidFill>
                  <a:srgbClr val="00C2D1"/>
                </a:solidFill>
                <a:latin typeface="Calibri" pitchFamily="34" charset="0"/>
                <a:ea typeface="Calibri" pitchFamily="34" charset="-122"/>
                <a:cs typeface="Calibri" pitchFamily="34" charset="-120"/>
              </a:rPr>
              <a:t>Response</a:t>
            </a:r>
            <a:endParaRPr lang="en-US" sz="110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SDG 3</a:t>
            </a:r>
            <a:endParaRPr lang="en-US" sz="900" dirty="0"/>
          </a:p>
        </p:txBody>
      </p:sp>
      <p:sp>
        <p:nvSpPr>
          <p:cNvPr id="15" name="Text 13"/>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17 / 20</a:t>
            </a:r>
            <a:endParaRPr lang="en-US" sz="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1B5FAE"/>
                </a:solidFill>
                <a:latin typeface="Calibri" pitchFamily="34" charset="0"/>
                <a:ea typeface="Calibri" pitchFamily="34" charset="-122"/>
                <a:cs typeface="Calibri" pitchFamily="34" charset="-120"/>
              </a:rPr>
              <a:t>FUTURE DEVELOPMENT</a:t>
            </a:r>
            <a:endParaRPr lang="en-US" sz="1200" dirty="0"/>
          </a:p>
        </p:txBody>
      </p:sp>
      <p:sp>
        <p:nvSpPr>
          <p:cNvPr id="3" name="Text 1"/>
          <p:cNvSpPr/>
          <p:nvPr/>
        </p:nvSpPr>
        <p:spPr>
          <a:xfrm>
            <a:off x="548640" y="749808"/>
            <a:ext cx="7315200" cy="822960"/>
          </a:xfrm>
          <a:prstGeom prst="rect">
            <a:avLst/>
          </a:prstGeom>
          <a:noFill/>
          <a:ln/>
        </p:spPr>
        <p:txBody>
          <a:bodyPr wrap="square" lIns="0" tIns="0" rIns="0" bIns="0" rtlCol="0" anchor="ctr"/>
          <a:lstStyle/>
          <a:p>
            <a:pPr marL="0" indent="0" algn="l">
              <a:lnSpc>
                <a:spcPct val="102000"/>
              </a:lnSpc>
              <a:buNone/>
            </a:pPr>
            <a:r>
              <a:rPr lang="en-US" sz="3200" b="1" dirty="0">
                <a:solidFill>
                  <a:srgbClr val="0B1E3D"/>
                </a:solidFill>
                <a:latin typeface="Montserrat" pitchFamily="34" charset="0"/>
                <a:ea typeface="Montserrat" pitchFamily="34" charset="-122"/>
                <a:cs typeface="Montserrat" pitchFamily="34" charset="-120"/>
              </a:rPr>
              <a:t>Potensi Pengembangan</a:t>
            </a:r>
            <a:endParaRPr lang="en-US" sz="3200" dirty="0"/>
          </a:p>
        </p:txBody>
      </p:sp>
      <p:sp>
        <p:nvSpPr>
          <p:cNvPr id="4" name="Text 2"/>
          <p:cNvSpPr/>
          <p:nvPr/>
        </p:nvSpPr>
        <p:spPr>
          <a:xfrm>
            <a:off x="548640" y="1298448"/>
            <a:ext cx="9144000" cy="320040"/>
          </a:xfrm>
          <a:prstGeom prst="rect">
            <a:avLst/>
          </a:prstGeom>
          <a:noFill/>
          <a:ln/>
        </p:spPr>
        <p:txBody>
          <a:bodyPr wrap="square" lIns="0" tIns="0" rIns="0" bIns="0" rtlCol="0" anchor="ctr"/>
          <a:lstStyle/>
          <a:p>
            <a:pPr marL="0" indent="0">
              <a:buNone/>
            </a:pPr>
            <a:r>
              <a:rPr lang="en-US" sz="1150" i="1" dirty="0">
                <a:solidFill>
                  <a:srgbClr val="5B6B82"/>
                </a:solidFill>
                <a:latin typeface="Calibri" pitchFamily="34" charset="0"/>
                <a:ea typeface="Calibri" pitchFamily="34" charset="-122"/>
                <a:cs typeface="Calibri" pitchFamily="34" charset="-120"/>
              </a:rPr>
              <a:t>Rencana / potensi pengembangan — belum menjadi fitur yang tersedia saat ini.</a:t>
            </a:r>
            <a:endParaRPr lang="en-US" sz="1150" dirty="0"/>
          </a:p>
        </p:txBody>
      </p:sp>
      <p:sp>
        <p:nvSpPr>
          <p:cNvPr id="5" name="Shape 3"/>
          <p:cNvSpPr/>
          <p:nvPr/>
        </p:nvSpPr>
        <p:spPr>
          <a:xfrm>
            <a:off x="822960" y="3749040"/>
            <a:ext cx="10515600" cy="0"/>
          </a:xfrm>
          <a:prstGeom prst="line">
            <a:avLst/>
          </a:prstGeom>
          <a:noFill/>
          <a:ln w="25400">
            <a:solidFill>
              <a:srgbClr val="DCE6F2"/>
            </a:solidFill>
            <a:prstDash val="solid"/>
          </a:ln>
        </p:spPr>
      </p:sp>
      <p:sp>
        <p:nvSpPr>
          <p:cNvPr id="6" name="Shape 4"/>
          <p:cNvSpPr/>
          <p:nvPr/>
        </p:nvSpPr>
        <p:spPr>
          <a:xfrm>
            <a:off x="1604772" y="3547872"/>
            <a:ext cx="402336" cy="402336"/>
          </a:xfrm>
          <a:prstGeom prst="ellipse">
            <a:avLst/>
          </a:prstGeom>
          <a:solidFill>
            <a:srgbClr val="1B5FAE"/>
          </a:solidFill>
          <a:ln w="38100">
            <a:solidFill>
              <a:srgbClr val="FFFFFF"/>
            </a:solidFill>
            <a:prstDash val="solid"/>
          </a:ln>
        </p:spPr>
      </p:sp>
      <p:sp>
        <p:nvSpPr>
          <p:cNvPr id="7" name="Shape 5"/>
          <p:cNvSpPr/>
          <p:nvPr/>
        </p:nvSpPr>
        <p:spPr>
          <a:xfrm>
            <a:off x="822960" y="2057400"/>
            <a:ext cx="1965960" cy="1325880"/>
          </a:xfrm>
          <a:prstGeom prst="roundRect">
            <a:avLst>
              <a:gd name="adj" fmla="val 5517"/>
            </a:avLst>
          </a:prstGeom>
          <a:solidFill>
            <a:srgbClr val="F2F6FB"/>
          </a:solidFill>
          <a:ln/>
          <a:effectLst>
            <a:outerShdw blurRad="101600" dist="25400" dir="5400000" algn="bl" rotWithShape="0">
              <a:srgbClr val="9AAFC9">
                <a:alpha val="35000"/>
              </a:srgbClr>
            </a:outerShdw>
          </a:effectLst>
        </p:spPr>
      </p:sp>
      <p:sp>
        <p:nvSpPr>
          <p:cNvPr id="8" name="Text 6"/>
          <p:cNvSpPr/>
          <p:nvPr/>
        </p:nvSpPr>
        <p:spPr>
          <a:xfrm>
            <a:off x="960120" y="2194560"/>
            <a:ext cx="1691640" cy="274320"/>
          </a:xfrm>
          <a:prstGeom prst="rect">
            <a:avLst/>
          </a:prstGeom>
          <a:noFill/>
          <a:ln/>
        </p:spPr>
        <p:txBody>
          <a:bodyPr wrap="square" lIns="0" tIns="0" rIns="0" bIns="0" rtlCol="0" anchor="ctr"/>
          <a:lstStyle/>
          <a:p>
            <a:pPr marL="0" indent="0">
              <a:buNone/>
            </a:pPr>
            <a:r>
              <a:rPr lang="en-US" sz="1000" b="1" dirty="0">
                <a:solidFill>
                  <a:srgbClr val="1B5FAE"/>
                </a:solidFill>
                <a:latin typeface="Calibri" pitchFamily="34" charset="0"/>
                <a:ea typeface="Calibri" pitchFamily="34" charset="-122"/>
                <a:cs typeface="Calibri" pitchFamily="34" charset="-120"/>
              </a:rPr>
              <a:t>PHASE 1</a:t>
            </a:r>
            <a:endParaRPr lang="en-US" sz="1000" dirty="0"/>
          </a:p>
        </p:txBody>
      </p:sp>
      <p:sp>
        <p:nvSpPr>
          <p:cNvPr id="9" name="Text 7"/>
          <p:cNvSpPr/>
          <p:nvPr/>
        </p:nvSpPr>
        <p:spPr>
          <a:xfrm>
            <a:off x="960120" y="2487168"/>
            <a:ext cx="1691640" cy="868680"/>
          </a:xfrm>
          <a:prstGeom prst="rect">
            <a:avLst/>
          </a:prstGeom>
          <a:noFill/>
          <a:ln/>
        </p:spPr>
        <p:txBody>
          <a:bodyPr wrap="square" lIns="0" tIns="0" rIns="0" bIns="0" rtlCol="0" anchor="t"/>
          <a:lstStyle/>
          <a:p>
            <a:pPr marL="0" indent="0">
              <a:lnSpc>
                <a:spcPct val="115000"/>
              </a:lnSpc>
              <a:buNone/>
            </a:pPr>
            <a:r>
              <a:rPr lang="en-US" sz="1150" b="1" dirty="0">
                <a:solidFill>
                  <a:srgbClr val="0B1E3D"/>
                </a:solidFill>
                <a:latin typeface="Montserrat" pitchFamily="34" charset="0"/>
                <a:ea typeface="Montserrat" pitchFamily="34" charset="-122"/>
                <a:cs typeface="Montserrat" pitchFamily="34" charset="-120"/>
              </a:rPr>
              <a:t>Real-Time GPS Monitoring</a:t>
            </a:r>
            <a:endParaRPr lang="en-US" sz="1150" dirty="0"/>
          </a:p>
        </p:txBody>
      </p:sp>
      <p:sp>
        <p:nvSpPr>
          <p:cNvPr id="10" name="Shape 8"/>
          <p:cNvSpPr/>
          <p:nvPr/>
        </p:nvSpPr>
        <p:spPr>
          <a:xfrm>
            <a:off x="3742182" y="3547872"/>
            <a:ext cx="402336" cy="402336"/>
          </a:xfrm>
          <a:prstGeom prst="ellipse">
            <a:avLst/>
          </a:prstGeom>
          <a:solidFill>
            <a:srgbClr val="00C2D1"/>
          </a:solidFill>
          <a:ln w="38100">
            <a:solidFill>
              <a:srgbClr val="FFFFFF"/>
            </a:solidFill>
            <a:prstDash val="solid"/>
          </a:ln>
        </p:spPr>
      </p:sp>
      <p:sp>
        <p:nvSpPr>
          <p:cNvPr id="11" name="Shape 9"/>
          <p:cNvSpPr/>
          <p:nvPr/>
        </p:nvSpPr>
        <p:spPr>
          <a:xfrm>
            <a:off x="2960370" y="4114800"/>
            <a:ext cx="1965960" cy="1325880"/>
          </a:xfrm>
          <a:prstGeom prst="roundRect">
            <a:avLst>
              <a:gd name="adj" fmla="val 5517"/>
            </a:avLst>
          </a:prstGeom>
          <a:solidFill>
            <a:srgbClr val="F2F6FB"/>
          </a:solidFill>
          <a:ln/>
          <a:effectLst>
            <a:outerShdw blurRad="101600" dist="25400" dir="5400000" algn="bl" rotWithShape="0">
              <a:srgbClr val="9AAFC9">
                <a:alpha val="35000"/>
              </a:srgbClr>
            </a:outerShdw>
          </a:effectLst>
        </p:spPr>
      </p:sp>
      <p:sp>
        <p:nvSpPr>
          <p:cNvPr id="12" name="Text 10"/>
          <p:cNvSpPr/>
          <p:nvPr/>
        </p:nvSpPr>
        <p:spPr>
          <a:xfrm>
            <a:off x="3097530" y="4251960"/>
            <a:ext cx="1691640" cy="274320"/>
          </a:xfrm>
          <a:prstGeom prst="rect">
            <a:avLst/>
          </a:prstGeom>
          <a:noFill/>
          <a:ln/>
        </p:spPr>
        <p:txBody>
          <a:bodyPr wrap="square" lIns="0" tIns="0" rIns="0" bIns="0" rtlCol="0" anchor="ctr"/>
          <a:lstStyle/>
          <a:p>
            <a:pPr marL="0" indent="0">
              <a:buNone/>
            </a:pPr>
            <a:r>
              <a:rPr lang="en-US" sz="1000" b="1" dirty="0">
                <a:solidFill>
                  <a:srgbClr val="1B5FAE"/>
                </a:solidFill>
                <a:latin typeface="Calibri" pitchFamily="34" charset="0"/>
                <a:ea typeface="Calibri" pitchFamily="34" charset="-122"/>
                <a:cs typeface="Calibri" pitchFamily="34" charset="-120"/>
              </a:rPr>
              <a:t>PHASE 2</a:t>
            </a:r>
            <a:endParaRPr lang="en-US" sz="1000" dirty="0"/>
          </a:p>
        </p:txBody>
      </p:sp>
      <p:sp>
        <p:nvSpPr>
          <p:cNvPr id="13" name="Text 11"/>
          <p:cNvSpPr/>
          <p:nvPr/>
        </p:nvSpPr>
        <p:spPr>
          <a:xfrm>
            <a:off x="3097530" y="4544568"/>
            <a:ext cx="1691640" cy="868680"/>
          </a:xfrm>
          <a:prstGeom prst="rect">
            <a:avLst/>
          </a:prstGeom>
          <a:noFill/>
          <a:ln/>
        </p:spPr>
        <p:txBody>
          <a:bodyPr wrap="square" lIns="0" tIns="0" rIns="0" bIns="0" rtlCol="0" anchor="t"/>
          <a:lstStyle/>
          <a:p>
            <a:pPr marL="0" indent="0">
              <a:lnSpc>
                <a:spcPct val="115000"/>
              </a:lnSpc>
              <a:buNone/>
            </a:pPr>
            <a:r>
              <a:rPr lang="en-US" sz="1150" b="1" dirty="0">
                <a:solidFill>
                  <a:srgbClr val="0B1E3D"/>
                </a:solidFill>
                <a:latin typeface="Montserrat" pitchFamily="34" charset="0"/>
                <a:ea typeface="Montserrat" pitchFamily="34" charset="-122"/>
                <a:cs typeface="Montserrat" pitchFamily="34" charset="-120"/>
              </a:rPr>
              <a:t>Fleet Status &amp; Dispatch Recommendation</a:t>
            </a:r>
            <a:endParaRPr lang="en-US" sz="1150" dirty="0"/>
          </a:p>
        </p:txBody>
      </p:sp>
      <p:sp>
        <p:nvSpPr>
          <p:cNvPr id="14" name="Shape 12"/>
          <p:cNvSpPr/>
          <p:nvPr/>
        </p:nvSpPr>
        <p:spPr>
          <a:xfrm>
            <a:off x="5879592" y="3547872"/>
            <a:ext cx="402336" cy="402336"/>
          </a:xfrm>
          <a:prstGeom prst="ellipse">
            <a:avLst/>
          </a:prstGeom>
          <a:solidFill>
            <a:srgbClr val="1B5FAE"/>
          </a:solidFill>
          <a:ln w="38100">
            <a:solidFill>
              <a:srgbClr val="FFFFFF"/>
            </a:solidFill>
            <a:prstDash val="solid"/>
          </a:ln>
        </p:spPr>
      </p:sp>
      <p:sp>
        <p:nvSpPr>
          <p:cNvPr id="15" name="Shape 13"/>
          <p:cNvSpPr/>
          <p:nvPr/>
        </p:nvSpPr>
        <p:spPr>
          <a:xfrm>
            <a:off x="5097780" y="2057400"/>
            <a:ext cx="1965960" cy="1325880"/>
          </a:xfrm>
          <a:prstGeom prst="roundRect">
            <a:avLst>
              <a:gd name="adj" fmla="val 5517"/>
            </a:avLst>
          </a:prstGeom>
          <a:solidFill>
            <a:srgbClr val="F2F6FB"/>
          </a:solidFill>
          <a:ln/>
          <a:effectLst>
            <a:outerShdw blurRad="101600" dist="25400" dir="5400000" algn="bl" rotWithShape="0">
              <a:srgbClr val="9AAFC9">
                <a:alpha val="35000"/>
              </a:srgbClr>
            </a:outerShdw>
          </a:effectLst>
        </p:spPr>
      </p:sp>
      <p:sp>
        <p:nvSpPr>
          <p:cNvPr id="16" name="Text 14"/>
          <p:cNvSpPr/>
          <p:nvPr/>
        </p:nvSpPr>
        <p:spPr>
          <a:xfrm>
            <a:off x="5234940" y="2194560"/>
            <a:ext cx="1691640" cy="274320"/>
          </a:xfrm>
          <a:prstGeom prst="rect">
            <a:avLst/>
          </a:prstGeom>
          <a:noFill/>
          <a:ln/>
        </p:spPr>
        <p:txBody>
          <a:bodyPr wrap="square" lIns="0" tIns="0" rIns="0" bIns="0" rtlCol="0" anchor="ctr"/>
          <a:lstStyle/>
          <a:p>
            <a:pPr marL="0" indent="0">
              <a:buNone/>
            </a:pPr>
            <a:r>
              <a:rPr lang="en-US" sz="1000" b="1" dirty="0">
                <a:solidFill>
                  <a:srgbClr val="1B5FAE"/>
                </a:solidFill>
                <a:latin typeface="Calibri" pitchFamily="34" charset="0"/>
                <a:ea typeface="Calibri" pitchFamily="34" charset="-122"/>
                <a:cs typeface="Calibri" pitchFamily="34" charset="-120"/>
              </a:rPr>
              <a:t>PHASE 3</a:t>
            </a:r>
            <a:endParaRPr lang="en-US" sz="1000" dirty="0"/>
          </a:p>
        </p:txBody>
      </p:sp>
      <p:sp>
        <p:nvSpPr>
          <p:cNvPr id="17" name="Text 15"/>
          <p:cNvSpPr/>
          <p:nvPr/>
        </p:nvSpPr>
        <p:spPr>
          <a:xfrm>
            <a:off x="5234940" y="2487168"/>
            <a:ext cx="1691640" cy="868680"/>
          </a:xfrm>
          <a:prstGeom prst="rect">
            <a:avLst/>
          </a:prstGeom>
          <a:noFill/>
          <a:ln/>
        </p:spPr>
        <p:txBody>
          <a:bodyPr wrap="square" lIns="0" tIns="0" rIns="0" bIns="0" rtlCol="0" anchor="t"/>
          <a:lstStyle/>
          <a:p>
            <a:pPr marL="0" indent="0">
              <a:lnSpc>
                <a:spcPct val="115000"/>
              </a:lnSpc>
              <a:buNone/>
            </a:pPr>
            <a:r>
              <a:rPr lang="en-US" sz="1150" b="1" dirty="0">
                <a:solidFill>
                  <a:srgbClr val="0B1E3D"/>
                </a:solidFill>
                <a:latin typeface="Montserrat" pitchFamily="34" charset="0"/>
                <a:ea typeface="Montserrat" pitchFamily="34" charset="-122"/>
                <a:cs typeface="Montserrat" pitchFamily="34" charset="-120"/>
              </a:rPr>
              <a:t>Operational Analytics</a:t>
            </a:r>
            <a:endParaRPr lang="en-US" sz="1150" dirty="0"/>
          </a:p>
        </p:txBody>
      </p:sp>
      <p:sp>
        <p:nvSpPr>
          <p:cNvPr id="18" name="Shape 16"/>
          <p:cNvSpPr/>
          <p:nvPr/>
        </p:nvSpPr>
        <p:spPr>
          <a:xfrm>
            <a:off x="8017002" y="3547872"/>
            <a:ext cx="402336" cy="402336"/>
          </a:xfrm>
          <a:prstGeom prst="ellipse">
            <a:avLst/>
          </a:prstGeom>
          <a:solidFill>
            <a:srgbClr val="00C2D1"/>
          </a:solidFill>
          <a:ln w="38100">
            <a:solidFill>
              <a:srgbClr val="FFFFFF"/>
            </a:solidFill>
            <a:prstDash val="solid"/>
          </a:ln>
        </p:spPr>
      </p:sp>
      <p:sp>
        <p:nvSpPr>
          <p:cNvPr id="19" name="Shape 17"/>
          <p:cNvSpPr/>
          <p:nvPr/>
        </p:nvSpPr>
        <p:spPr>
          <a:xfrm>
            <a:off x="7235190" y="4114800"/>
            <a:ext cx="1965960" cy="1325880"/>
          </a:xfrm>
          <a:prstGeom prst="roundRect">
            <a:avLst>
              <a:gd name="adj" fmla="val 5517"/>
            </a:avLst>
          </a:prstGeom>
          <a:solidFill>
            <a:srgbClr val="F2F6FB"/>
          </a:solidFill>
          <a:ln/>
          <a:effectLst>
            <a:outerShdw blurRad="101600" dist="25400" dir="5400000" algn="bl" rotWithShape="0">
              <a:srgbClr val="9AAFC9">
                <a:alpha val="35000"/>
              </a:srgbClr>
            </a:outerShdw>
          </a:effectLst>
        </p:spPr>
      </p:sp>
      <p:sp>
        <p:nvSpPr>
          <p:cNvPr id="20" name="Text 18"/>
          <p:cNvSpPr/>
          <p:nvPr/>
        </p:nvSpPr>
        <p:spPr>
          <a:xfrm>
            <a:off x="7372350" y="4251960"/>
            <a:ext cx="1691640" cy="274320"/>
          </a:xfrm>
          <a:prstGeom prst="rect">
            <a:avLst/>
          </a:prstGeom>
          <a:noFill/>
          <a:ln/>
        </p:spPr>
        <p:txBody>
          <a:bodyPr wrap="square" lIns="0" tIns="0" rIns="0" bIns="0" rtlCol="0" anchor="ctr"/>
          <a:lstStyle/>
          <a:p>
            <a:pPr marL="0" indent="0">
              <a:buNone/>
            </a:pPr>
            <a:r>
              <a:rPr lang="en-US" sz="1000" b="1" dirty="0">
                <a:solidFill>
                  <a:srgbClr val="1B5FAE"/>
                </a:solidFill>
                <a:latin typeface="Calibri" pitchFamily="34" charset="0"/>
                <a:ea typeface="Calibri" pitchFamily="34" charset="-122"/>
                <a:cs typeface="Calibri" pitchFamily="34" charset="-120"/>
              </a:rPr>
              <a:t>PHASE 4</a:t>
            </a:r>
            <a:endParaRPr lang="en-US" sz="1000" dirty="0"/>
          </a:p>
        </p:txBody>
      </p:sp>
      <p:sp>
        <p:nvSpPr>
          <p:cNvPr id="21" name="Text 19"/>
          <p:cNvSpPr/>
          <p:nvPr/>
        </p:nvSpPr>
        <p:spPr>
          <a:xfrm>
            <a:off x="7372350" y="4544568"/>
            <a:ext cx="1691640" cy="868680"/>
          </a:xfrm>
          <a:prstGeom prst="rect">
            <a:avLst/>
          </a:prstGeom>
          <a:noFill/>
          <a:ln/>
        </p:spPr>
        <p:txBody>
          <a:bodyPr wrap="square" lIns="0" tIns="0" rIns="0" bIns="0" rtlCol="0" anchor="t"/>
          <a:lstStyle/>
          <a:p>
            <a:pPr marL="0" indent="0">
              <a:lnSpc>
                <a:spcPct val="115000"/>
              </a:lnSpc>
              <a:buNone/>
            </a:pPr>
            <a:r>
              <a:rPr lang="en-US" sz="1150" b="1" dirty="0">
                <a:solidFill>
                  <a:srgbClr val="0B1E3D"/>
                </a:solidFill>
                <a:latin typeface="Montserrat" pitchFamily="34" charset="0"/>
                <a:ea typeface="Montserrat" pitchFamily="34" charset="-122"/>
                <a:cs typeface="Montserrat" pitchFamily="34" charset="-120"/>
              </a:rPr>
              <a:t>Integrasi dengan Sistem Rumah Sakit</a:t>
            </a:r>
            <a:endParaRPr lang="en-US" sz="1150" dirty="0"/>
          </a:p>
        </p:txBody>
      </p:sp>
      <p:sp>
        <p:nvSpPr>
          <p:cNvPr id="22" name="Shape 20"/>
          <p:cNvSpPr/>
          <p:nvPr/>
        </p:nvSpPr>
        <p:spPr>
          <a:xfrm>
            <a:off x="10154412" y="3547872"/>
            <a:ext cx="402336" cy="402336"/>
          </a:xfrm>
          <a:prstGeom prst="ellipse">
            <a:avLst/>
          </a:prstGeom>
          <a:solidFill>
            <a:srgbClr val="1B5FAE"/>
          </a:solidFill>
          <a:ln w="38100">
            <a:solidFill>
              <a:srgbClr val="FFFFFF"/>
            </a:solidFill>
            <a:prstDash val="solid"/>
          </a:ln>
        </p:spPr>
      </p:sp>
      <p:sp>
        <p:nvSpPr>
          <p:cNvPr id="23" name="Shape 21"/>
          <p:cNvSpPr/>
          <p:nvPr/>
        </p:nvSpPr>
        <p:spPr>
          <a:xfrm>
            <a:off x="9372600" y="2057400"/>
            <a:ext cx="1965960" cy="1325880"/>
          </a:xfrm>
          <a:prstGeom prst="roundRect">
            <a:avLst>
              <a:gd name="adj" fmla="val 5517"/>
            </a:avLst>
          </a:prstGeom>
          <a:solidFill>
            <a:srgbClr val="F2F6FB"/>
          </a:solidFill>
          <a:ln/>
          <a:effectLst>
            <a:outerShdw blurRad="101600" dist="25400" dir="5400000" algn="bl" rotWithShape="0">
              <a:srgbClr val="9AAFC9">
                <a:alpha val="35000"/>
              </a:srgbClr>
            </a:outerShdw>
          </a:effectLst>
        </p:spPr>
      </p:sp>
      <p:sp>
        <p:nvSpPr>
          <p:cNvPr id="24" name="Text 22"/>
          <p:cNvSpPr/>
          <p:nvPr/>
        </p:nvSpPr>
        <p:spPr>
          <a:xfrm>
            <a:off x="9509760" y="2194560"/>
            <a:ext cx="1691640" cy="274320"/>
          </a:xfrm>
          <a:prstGeom prst="rect">
            <a:avLst/>
          </a:prstGeom>
          <a:noFill/>
          <a:ln/>
        </p:spPr>
        <p:txBody>
          <a:bodyPr wrap="square" lIns="0" tIns="0" rIns="0" bIns="0" rtlCol="0" anchor="ctr"/>
          <a:lstStyle/>
          <a:p>
            <a:pPr marL="0" indent="0">
              <a:buNone/>
            </a:pPr>
            <a:r>
              <a:rPr lang="en-US" sz="1000" b="1" dirty="0">
                <a:solidFill>
                  <a:srgbClr val="1B5FAE"/>
                </a:solidFill>
                <a:latin typeface="Calibri" pitchFamily="34" charset="0"/>
                <a:ea typeface="Calibri" pitchFamily="34" charset="-122"/>
                <a:cs typeface="Calibri" pitchFamily="34" charset="-120"/>
              </a:rPr>
              <a:t>PHASE 5</a:t>
            </a:r>
            <a:endParaRPr lang="en-US" sz="1000" dirty="0"/>
          </a:p>
        </p:txBody>
      </p:sp>
      <p:sp>
        <p:nvSpPr>
          <p:cNvPr id="25" name="Text 23"/>
          <p:cNvSpPr/>
          <p:nvPr/>
        </p:nvSpPr>
        <p:spPr>
          <a:xfrm>
            <a:off x="9509760" y="2487168"/>
            <a:ext cx="1691640" cy="868680"/>
          </a:xfrm>
          <a:prstGeom prst="rect">
            <a:avLst/>
          </a:prstGeom>
          <a:noFill/>
          <a:ln/>
        </p:spPr>
        <p:txBody>
          <a:bodyPr wrap="square" lIns="0" tIns="0" rIns="0" bIns="0" rtlCol="0" anchor="t"/>
          <a:lstStyle/>
          <a:p>
            <a:pPr marL="0" indent="0">
              <a:lnSpc>
                <a:spcPct val="115000"/>
              </a:lnSpc>
              <a:buNone/>
            </a:pPr>
            <a:r>
              <a:rPr lang="en-US" sz="1150" b="1" dirty="0">
                <a:solidFill>
                  <a:srgbClr val="0B1E3D"/>
                </a:solidFill>
                <a:latin typeface="Montserrat" pitchFamily="34" charset="0"/>
                <a:ea typeface="Montserrat" pitchFamily="34" charset="-122"/>
                <a:cs typeface="Montserrat" pitchFamily="34" charset="-120"/>
              </a:rPr>
              <a:t>Pengembangan Intelligent Emergency Response</a:t>
            </a:r>
            <a:endParaRPr lang="en-US" sz="1150" dirty="0"/>
          </a:p>
        </p:txBody>
      </p:sp>
      <p:sp>
        <p:nvSpPr>
          <p:cNvPr id="26" name="Text 24"/>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FUTURE DEVELOPMENT</a:t>
            </a:r>
            <a:endParaRPr lang="en-US" sz="900" dirty="0"/>
          </a:p>
        </p:txBody>
      </p:sp>
      <p:sp>
        <p:nvSpPr>
          <p:cNvPr id="27" name="Text 25"/>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18 / 20</a:t>
            </a:r>
            <a:endParaRPr lang="en-US" sz="9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00C2D1"/>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749808"/>
            <a:ext cx="9144000" cy="822960"/>
          </a:xfrm>
          <a:prstGeom prst="rect">
            <a:avLst/>
          </a:prstGeom>
          <a:noFill/>
          <a:ln/>
        </p:spPr>
        <p:txBody>
          <a:bodyPr wrap="square" lIns="0" tIns="0" rIns="0" bIns="0" rtlCol="0" anchor="ctr"/>
          <a:lstStyle/>
          <a:p>
            <a:pPr marL="0" indent="0" algn="l">
              <a:lnSpc>
                <a:spcPct val="102000"/>
              </a:lnSpc>
              <a:buNone/>
            </a:pPr>
            <a:r>
              <a:rPr lang="en-US" sz="3000" b="1" dirty="0">
                <a:solidFill>
                  <a:srgbClr val="FFFFFF"/>
                </a:solidFill>
                <a:latin typeface="Montserrat" pitchFamily="34" charset="0"/>
                <a:ea typeface="Montserrat" pitchFamily="34" charset="-122"/>
                <a:cs typeface="Montserrat" pitchFamily="34" charset="-120"/>
              </a:rPr>
              <a:t>Smart Nearest Ambulance in One View</a:t>
            </a:r>
            <a:endParaRPr lang="en-US" sz="3000" dirty="0"/>
          </a:p>
        </p:txBody>
      </p:sp>
      <p:sp>
        <p:nvSpPr>
          <p:cNvPr id="4" name="Shape 2"/>
          <p:cNvSpPr/>
          <p:nvPr/>
        </p:nvSpPr>
        <p:spPr>
          <a:xfrm>
            <a:off x="548640" y="1828800"/>
            <a:ext cx="2084832" cy="2834640"/>
          </a:xfrm>
          <a:prstGeom prst="roundRect">
            <a:avLst>
              <a:gd name="adj" fmla="val 3509"/>
            </a:avLst>
          </a:prstGeom>
          <a:solidFill>
            <a:srgbClr val="13294B"/>
          </a:solidFill>
          <a:ln/>
          <a:effectLst>
            <a:outerShdw blurRad="101600" dist="25400" dir="5400000" algn="bl" rotWithShape="0">
              <a:srgbClr val="9AAFC9">
                <a:alpha val="35000"/>
              </a:srgbClr>
            </a:outerShdw>
          </a:effectLst>
        </p:spPr>
      </p:sp>
      <p:sp>
        <p:nvSpPr>
          <p:cNvPr id="5" name="Text 3"/>
          <p:cNvSpPr/>
          <p:nvPr/>
        </p:nvSpPr>
        <p:spPr>
          <a:xfrm>
            <a:off x="685800" y="2103120"/>
            <a:ext cx="1810512" cy="365760"/>
          </a:xfrm>
          <a:prstGeom prst="rect">
            <a:avLst/>
          </a:prstGeom>
          <a:noFill/>
          <a:ln/>
        </p:spPr>
        <p:txBody>
          <a:bodyPr wrap="square" lIns="0" tIns="0" rIns="0" bIns="0" rtlCol="0" anchor="ctr"/>
          <a:lstStyle/>
          <a:p>
            <a:pPr marL="0" indent="0" algn="ctr">
              <a:buNone/>
            </a:pPr>
            <a:r>
              <a:rPr lang="en-US" sz="1250" b="1" dirty="0">
                <a:solidFill>
                  <a:srgbClr val="00C2D1"/>
                </a:solidFill>
                <a:latin typeface="Montserrat" pitchFamily="34" charset="0"/>
                <a:ea typeface="Montserrat" pitchFamily="34" charset="-122"/>
                <a:cs typeface="Montserrat" pitchFamily="34" charset="-120"/>
              </a:rPr>
              <a:t>PROBLEM</a:t>
            </a:r>
            <a:endParaRPr lang="en-US" sz="1250" dirty="0"/>
          </a:p>
        </p:txBody>
      </p:sp>
      <p:sp>
        <p:nvSpPr>
          <p:cNvPr id="6" name="Text 4"/>
          <p:cNvSpPr/>
          <p:nvPr/>
        </p:nvSpPr>
        <p:spPr>
          <a:xfrm>
            <a:off x="731520" y="2606040"/>
            <a:ext cx="1719072" cy="1737360"/>
          </a:xfrm>
          <a:prstGeom prst="rect">
            <a:avLst/>
          </a:prstGeom>
          <a:noFill/>
          <a:ln/>
        </p:spPr>
        <p:txBody>
          <a:bodyPr wrap="square" lIns="0" tIns="0" rIns="0" bIns="0" rtlCol="0" anchor="t"/>
          <a:lstStyle/>
          <a:p>
            <a:pPr marL="0" indent="0" algn="ctr">
              <a:lnSpc>
                <a:spcPct val="125000"/>
              </a:lnSpc>
              <a:buNone/>
            </a:pPr>
            <a:r>
              <a:rPr lang="en-US" sz="1050" dirty="0">
                <a:solidFill>
                  <a:srgbClr val="FFFFFF"/>
                </a:solidFill>
                <a:latin typeface="Calibri" pitchFamily="34" charset="0"/>
                <a:ea typeface="Calibri" pitchFamily="34" charset="-122"/>
                <a:cs typeface="Calibri" pitchFamily="34" charset="-120"/>
              </a:rPr>
              <a:t>Monitoring dan dispatch masih manual.</a:t>
            </a:r>
            <a:endParaRPr lang="en-US" sz="1050" dirty="0"/>
          </a:p>
        </p:txBody>
      </p:sp>
      <p:sp>
        <p:nvSpPr>
          <p:cNvPr id="7" name="Text 5"/>
          <p:cNvSpPr/>
          <p:nvPr/>
        </p:nvSpPr>
        <p:spPr>
          <a:xfrm>
            <a:off x="2633472" y="1828800"/>
            <a:ext cx="201168" cy="2834640"/>
          </a:xfrm>
          <a:prstGeom prst="rect">
            <a:avLst/>
          </a:prstGeom>
          <a:noFill/>
          <a:ln/>
        </p:spPr>
        <p:txBody>
          <a:bodyPr wrap="square" lIns="0" tIns="0" rIns="0" bIns="0" rtlCol="0" anchor="ctr"/>
          <a:lstStyle/>
          <a:p>
            <a:pPr marL="0" indent="0" algn="ctr">
              <a:buNone/>
            </a:pPr>
            <a:r>
              <a:rPr lang="en-US" sz="1600" dirty="0">
                <a:solidFill>
                  <a:srgbClr val="AFC2DC"/>
                </a:solidFill>
              </a:rPr>
              <a:t>→</a:t>
            </a:r>
            <a:endParaRPr lang="en-US" sz="1600" dirty="0"/>
          </a:p>
        </p:txBody>
      </p:sp>
      <p:sp>
        <p:nvSpPr>
          <p:cNvPr id="8" name="Shape 6"/>
          <p:cNvSpPr/>
          <p:nvPr/>
        </p:nvSpPr>
        <p:spPr>
          <a:xfrm>
            <a:off x="2834640" y="1828800"/>
            <a:ext cx="2084832" cy="2834640"/>
          </a:xfrm>
          <a:prstGeom prst="roundRect">
            <a:avLst>
              <a:gd name="adj" fmla="val 3509"/>
            </a:avLst>
          </a:prstGeom>
          <a:solidFill>
            <a:srgbClr val="13294B"/>
          </a:solidFill>
          <a:ln/>
          <a:effectLst>
            <a:outerShdw blurRad="101600" dist="25400" dir="5400000" algn="bl" rotWithShape="0">
              <a:srgbClr val="9AAFC9">
                <a:alpha val="35000"/>
              </a:srgbClr>
            </a:outerShdw>
          </a:effectLst>
        </p:spPr>
      </p:sp>
      <p:sp>
        <p:nvSpPr>
          <p:cNvPr id="9" name="Text 7"/>
          <p:cNvSpPr/>
          <p:nvPr/>
        </p:nvSpPr>
        <p:spPr>
          <a:xfrm>
            <a:off x="2971800" y="2103120"/>
            <a:ext cx="1810512" cy="365760"/>
          </a:xfrm>
          <a:prstGeom prst="rect">
            <a:avLst/>
          </a:prstGeom>
          <a:noFill/>
          <a:ln/>
        </p:spPr>
        <p:txBody>
          <a:bodyPr wrap="square" lIns="0" tIns="0" rIns="0" bIns="0" rtlCol="0" anchor="ctr"/>
          <a:lstStyle/>
          <a:p>
            <a:pPr marL="0" indent="0" algn="ctr">
              <a:buNone/>
            </a:pPr>
            <a:r>
              <a:rPr lang="en-US" sz="1250" b="1" dirty="0">
                <a:solidFill>
                  <a:srgbClr val="00C2D1"/>
                </a:solidFill>
                <a:latin typeface="Montserrat" pitchFamily="34" charset="0"/>
                <a:ea typeface="Montserrat" pitchFamily="34" charset="-122"/>
                <a:cs typeface="Montserrat" pitchFamily="34" charset="-120"/>
              </a:rPr>
              <a:t>SOLUTION</a:t>
            </a:r>
            <a:endParaRPr lang="en-US" sz="1250" dirty="0"/>
          </a:p>
        </p:txBody>
      </p:sp>
      <p:sp>
        <p:nvSpPr>
          <p:cNvPr id="10" name="Text 8"/>
          <p:cNvSpPr/>
          <p:nvPr/>
        </p:nvSpPr>
        <p:spPr>
          <a:xfrm>
            <a:off x="3017520" y="2606040"/>
            <a:ext cx="1719072" cy="1737360"/>
          </a:xfrm>
          <a:prstGeom prst="rect">
            <a:avLst/>
          </a:prstGeom>
          <a:noFill/>
          <a:ln/>
        </p:spPr>
        <p:txBody>
          <a:bodyPr wrap="square" lIns="0" tIns="0" rIns="0" bIns="0" rtlCol="0" anchor="t"/>
          <a:lstStyle/>
          <a:p>
            <a:pPr marL="0" indent="0" algn="ctr">
              <a:lnSpc>
                <a:spcPct val="125000"/>
              </a:lnSpc>
              <a:buNone/>
            </a:pPr>
            <a:r>
              <a:rPr lang="en-US" sz="1050" dirty="0">
                <a:solidFill>
                  <a:srgbClr val="FFFFFF"/>
                </a:solidFill>
                <a:latin typeface="Calibri" pitchFamily="34" charset="0"/>
                <a:ea typeface="Calibri" pitchFamily="34" charset="-122"/>
                <a:cs typeface="Calibri" pitchFamily="34" charset="-120"/>
              </a:rPr>
              <a:t>GPS-based ambulance monitoring.</a:t>
            </a:r>
            <a:endParaRPr lang="en-US" sz="1050" dirty="0"/>
          </a:p>
        </p:txBody>
      </p:sp>
      <p:sp>
        <p:nvSpPr>
          <p:cNvPr id="11" name="Text 9"/>
          <p:cNvSpPr/>
          <p:nvPr/>
        </p:nvSpPr>
        <p:spPr>
          <a:xfrm>
            <a:off x="4919472" y="1828800"/>
            <a:ext cx="201168" cy="2834640"/>
          </a:xfrm>
          <a:prstGeom prst="rect">
            <a:avLst/>
          </a:prstGeom>
          <a:noFill/>
          <a:ln/>
        </p:spPr>
        <p:txBody>
          <a:bodyPr wrap="square" lIns="0" tIns="0" rIns="0" bIns="0" rtlCol="0" anchor="ctr"/>
          <a:lstStyle/>
          <a:p>
            <a:pPr marL="0" indent="0" algn="ctr">
              <a:buNone/>
            </a:pPr>
            <a:r>
              <a:rPr lang="en-US" sz="1600" dirty="0">
                <a:solidFill>
                  <a:srgbClr val="AFC2DC"/>
                </a:solidFill>
              </a:rPr>
              <a:t>→</a:t>
            </a:r>
            <a:endParaRPr lang="en-US" sz="1600" dirty="0"/>
          </a:p>
        </p:txBody>
      </p:sp>
      <p:sp>
        <p:nvSpPr>
          <p:cNvPr id="12" name="Shape 10"/>
          <p:cNvSpPr/>
          <p:nvPr/>
        </p:nvSpPr>
        <p:spPr>
          <a:xfrm>
            <a:off x="5120640" y="1828800"/>
            <a:ext cx="2084832" cy="2834640"/>
          </a:xfrm>
          <a:prstGeom prst="roundRect">
            <a:avLst>
              <a:gd name="adj" fmla="val 3509"/>
            </a:avLst>
          </a:prstGeom>
          <a:solidFill>
            <a:srgbClr val="00C2D1"/>
          </a:solidFill>
          <a:ln/>
          <a:effectLst>
            <a:outerShdw blurRad="101600" dist="25400" dir="5400000" algn="bl" rotWithShape="0">
              <a:srgbClr val="9AAFC9">
                <a:alpha val="35000"/>
              </a:srgbClr>
            </a:outerShdw>
          </a:effectLst>
        </p:spPr>
      </p:sp>
      <p:sp>
        <p:nvSpPr>
          <p:cNvPr id="13" name="Text 11"/>
          <p:cNvSpPr/>
          <p:nvPr/>
        </p:nvSpPr>
        <p:spPr>
          <a:xfrm>
            <a:off x="5257800" y="2103120"/>
            <a:ext cx="1810512" cy="365760"/>
          </a:xfrm>
          <a:prstGeom prst="rect">
            <a:avLst/>
          </a:prstGeom>
          <a:noFill/>
          <a:ln/>
        </p:spPr>
        <p:txBody>
          <a:bodyPr wrap="square" lIns="0" tIns="0" rIns="0" bIns="0" rtlCol="0" anchor="ctr"/>
          <a:lstStyle/>
          <a:p>
            <a:pPr marL="0" indent="0" algn="ctr">
              <a:buNone/>
            </a:pPr>
            <a:r>
              <a:rPr lang="en-US" sz="1250" b="1" dirty="0">
                <a:solidFill>
                  <a:srgbClr val="0B1E3D"/>
                </a:solidFill>
                <a:latin typeface="Montserrat" pitchFamily="34" charset="0"/>
                <a:ea typeface="Montserrat" pitchFamily="34" charset="-122"/>
                <a:cs typeface="Montserrat" pitchFamily="34" charset="-120"/>
              </a:rPr>
              <a:t>SMART FEATURE</a:t>
            </a:r>
            <a:endParaRPr lang="en-US" sz="1250" dirty="0"/>
          </a:p>
        </p:txBody>
      </p:sp>
      <p:sp>
        <p:nvSpPr>
          <p:cNvPr id="14" name="Text 12"/>
          <p:cNvSpPr/>
          <p:nvPr/>
        </p:nvSpPr>
        <p:spPr>
          <a:xfrm>
            <a:off x="5303520" y="2606040"/>
            <a:ext cx="1719072" cy="1737360"/>
          </a:xfrm>
          <a:prstGeom prst="rect">
            <a:avLst/>
          </a:prstGeom>
          <a:noFill/>
          <a:ln/>
        </p:spPr>
        <p:txBody>
          <a:bodyPr wrap="square" lIns="0" tIns="0" rIns="0" bIns="0" rtlCol="0" anchor="t"/>
          <a:lstStyle/>
          <a:p>
            <a:pPr marL="0" indent="0" algn="ctr">
              <a:lnSpc>
                <a:spcPct val="125000"/>
              </a:lnSpc>
              <a:buNone/>
            </a:pPr>
            <a:r>
              <a:rPr lang="en-US" sz="1050" dirty="0">
                <a:solidFill>
                  <a:srgbClr val="13294B"/>
                </a:solidFill>
                <a:latin typeface="Calibri" pitchFamily="34" charset="0"/>
                <a:ea typeface="Calibri" pitchFamily="34" charset="-122"/>
                <a:cs typeface="Calibri" pitchFamily="34" charset="-120"/>
              </a:rPr>
              <a:t>Nearest ambulance recommendation.</a:t>
            </a:r>
            <a:endParaRPr lang="en-US" sz="1050" dirty="0"/>
          </a:p>
        </p:txBody>
      </p:sp>
      <p:sp>
        <p:nvSpPr>
          <p:cNvPr id="15" name="Text 13"/>
          <p:cNvSpPr/>
          <p:nvPr/>
        </p:nvSpPr>
        <p:spPr>
          <a:xfrm>
            <a:off x="7205472" y="1828800"/>
            <a:ext cx="201168" cy="2834640"/>
          </a:xfrm>
          <a:prstGeom prst="rect">
            <a:avLst/>
          </a:prstGeom>
          <a:noFill/>
          <a:ln/>
        </p:spPr>
        <p:txBody>
          <a:bodyPr wrap="square" lIns="0" tIns="0" rIns="0" bIns="0" rtlCol="0" anchor="ctr"/>
          <a:lstStyle/>
          <a:p>
            <a:pPr marL="0" indent="0" algn="ctr">
              <a:buNone/>
            </a:pPr>
            <a:r>
              <a:rPr lang="en-US" sz="1600" dirty="0">
                <a:solidFill>
                  <a:srgbClr val="AFC2DC"/>
                </a:solidFill>
              </a:rPr>
              <a:t>→</a:t>
            </a:r>
            <a:endParaRPr lang="en-US" sz="1600" dirty="0"/>
          </a:p>
        </p:txBody>
      </p:sp>
      <p:sp>
        <p:nvSpPr>
          <p:cNvPr id="16" name="Shape 14"/>
          <p:cNvSpPr/>
          <p:nvPr/>
        </p:nvSpPr>
        <p:spPr>
          <a:xfrm>
            <a:off x="7406640" y="1828800"/>
            <a:ext cx="2084832" cy="2834640"/>
          </a:xfrm>
          <a:prstGeom prst="roundRect">
            <a:avLst>
              <a:gd name="adj" fmla="val 3509"/>
            </a:avLst>
          </a:prstGeom>
          <a:solidFill>
            <a:srgbClr val="13294B"/>
          </a:solidFill>
          <a:ln/>
          <a:effectLst>
            <a:outerShdw blurRad="101600" dist="25400" dir="5400000" algn="bl" rotWithShape="0">
              <a:srgbClr val="9AAFC9">
                <a:alpha val="35000"/>
              </a:srgbClr>
            </a:outerShdw>
          </a:effectLst>
        </p:spPr>
      </p:sp>
      <p:sp>
        <p:nvSpPr>
          <p:cNvPr id="17" name="Text 15"/>
          <p:cNvSpPr/>
          <p:nvPr/>
        </p:nvSpPr>
        <p:spPr>
          <a:xfrm>
            <a:off x="7543800" y="2103120"/>
            <a:ext cx="1810512" cy="365760"/>
          </a:xfrm>
          <a:prstGeom prst="rect">
            <a:avLst/>
          </a:prstGeom>
          <a:noFill/>
          <a:ln/>
        </p:spPr>
        <p:txBody>
          <a:bodyPr wrap="square" lIns="0" tIns="0" rIns="0" bIns="0" rtlCol="0" anchor="ctr"/>
          <a:lstStyle/>
          <a:p>
            <a:pPr marL="0" indent="0" algn="ctr">
              <a:buNone/>
            </a:pPr>
            <a:r>
              <a:rPr lang="en-US" sz="1250" b="1" dirty="0">
                <a:solidFill>
                  <a:srgbClr val="00C2D1"/>
                </a:solidFill>
                <a:latin typeface="Montserrat" pitchFamily="34" charset="0"/>
                <a:ea typeface="Montserrat" pitchFamily="34" charset="-122"/>
                <a:cs typeface="Montserrat" pitchFamily="34" charset="-120"/>
              </a:rPr>
              <a:t>VALUE</a:t>
            </a:r>
            <a:endParaRPr lang="en-US" sz="1250" dirty="0"/>
          </a:p>
        </p:txBody>
      </p:sp>
      <p:sp>
        <p:nvSpPr>
          <p:cNvPr id="18" name="Text 16"/>
          <p:cNvSpPr/>
          <p:nvPr/>
        </p:nvSpPr>
        <p:spPr>
          <a:xfrm>
            <a:off x="7589520" y="2606040"/>
            <a:ext cx="1719072" cy="1737360"/>
          </a:xfrm>
          <a:prstGeom prst="rect">
            <a:avLst/>
          </a:prstGeom>
          <a:noFill/>
          <a:ln/>
        </p:spPr>
        <p:txBody>
          <a:bodyPr wrap="square" lIns="0" tIns="0" rIns="0" bIns="0" rtlCol="0" anchor="t"/>
          <a:lstStyle/>
          <a:p>
            <a:pPr marL="0" indent="0" algn="ctr">
              <a:lnSpc>
                <a:spcPct val="125000"/>
              </a:lnSpc>
              <a:buNone/>
            </a:pPr>
            <a:r>
              <a:rPr lang="en-US" sz="1050" dirty="0">
                <a:solidFill>
                  <a:srgbClr val="FFFFFF"/>
                </a:solidFill>
                <a:latin typeface="Calibri" pitchFamily="34" charset="0"/>
                <a:ea typeface="Calibri" pitchFamily="34" charset="-122"/>
                <a:cs typeface="Calibri" pitchFamily="34" charset="-120"/>
              </a:rPr>
              <a:t>Faster dispatch, better visibility, better coordination.</a:t>
            </a:r>
            <a:endParaRPr lang="en-US" sz="1050" dirty="0"/>
          </a:p>
        </p:txBody>
      </p:sp>
      <p:sp>
        <p:nvSpPr>
          <p:cNvPr id="19" name="Text 17"/>
          <p:cNvSpPr/>
          <p:nvPr/>
        </p:nvSpPr>
        <p:spPr>
          <a:xfrm>
            <a:off x="9491472" y="1828800"/>
            <a:ext cx="201168" cy="2834640"/>
          </a:xfrm>
          <a:prstGeom prst="rect">
            <a:avLst/>
          </a:prstGeom>
          <a:noFill/>
          <a:ln/>
        </p:spPr>
        <p:txBody>
          <a:bodyPr wrap="square" lIns="0" tIns="0" rIns="0" bIns="0" rtlCol="0" anchor="ctr"/>
          <a:lstStyle/>
          <a:p>
            <a:pPr marL="0" indent="0" algn="ctr">
              <a:buNone/>
            </a:pPr>
            <a:r>
              <a:rPr lang="en-US" sz="1600" dirty="0">
                <a:solidFill>
                  <a:srgbClr val="AFC2DC"/>
                </a:solidFill>
              </a:rPr>
              <a:t>→</a:t>
            </a:r>
            <a:endParaRPr lang="en-US" sz="1600" dirty="0"/>
          </a:p>
        </p:txBody>
      </p:sp>
      <p:sp>
        <p:nvSpPr>
          <p:cNvPr id="20" name="Shape 18"/>
          <p:cNvSpPr/>
          <p:nvPr/>
        </p:nvSpPr>
        <p:spPr>
          <a:xfrm>
            <a:off x="9692640" y="1828800"/>
            <a:ext cx="2084832" cy="2834640"/>
          </a:xfrm>
          <a:prstGeom prst="roundRect">
            <a:avLst>
              <a:gd name="adj" fmla="val 3509"/>
            </a:avLst>
          </a:prstGeom>
          <a:solidFill>
            <a:srgbClr val="13294B"/>
          </a:solidFill>
          <a:ln/>
          <a:effectLst>
            <a:outerShdw blurRad="101600" dist="25400" dir="5400000" algn="bl" rotWithShape="0">
              <a:srgbClr val="9AAFC9">
                <a:alpha val="35000"/>
              </a:srgbClr>
            </a:outerShdw>
          </a:effectLst>
        </p:spPr>
      </p:sp>
      <p:sp>
        <p:nvSpPr>
          <p:cNvPr id="21" name="Text 19"/>
          <p:cNvSpPr/>
          <p:nvPr/>
        </p:nvSpPr>
        <p:spPr>
          <a:xfrm>
            <a:off x="9829800" y="2103120"/>
            <a:ext cx="1810512" cy="365760"/>
          </a:xfrm>
          <a:prstGeom prst="rect">
            <a:avLst/>
          </a:prstGeom>
          <a:noFill/>
          <a:ln/>
        </p:spPr>
        <p:txBody>
          <a:bodyPr wrap="square" lIns="0" tIns="0" rIns="0" bIns="0" rtlCol="0" anchor="ctr"/>
          <a:lstStyle/>
          <a:p>
            <a:pPr marL="0" indent="0" algn="ctr">
              <a:buNone/>
            </a:pPr>
            <a:r>
              <a:rPr lang="en-US" sz="1250" b="1" dirty="0">
                <a:solidFill>
                  <a:srgbClr val="00C2D1"/>
                </a:solidFill>
                <a:latin typeface="Montserrat" pitchFamily="34" charset="0"/>
                <a:ea typeface="Montserrat" pitchFamily="34" charset="-122"/>
                <a:cs typeface="Montserrat" pitchFamily="34" charset="-120"/>
              </a:rPr>
              <a:t>IMPACT</a:t>
            </a:r>
            <a:endParaRPr lang="en-US" sz="1250" dirty="0"/>
          </a:p>
        </p:txBody>
      </p:sp>
      <p:sp>
        <p:nvSpPr>
          <p:cNvPr id="22" name="Text 20"/>
          <p:cNvSpPr/>
          <p:nvPr/>
        </p:nvSpPr>
        <p:spPr>
          <a:xfrm>
            <a:off x="9875520" y="2606040"/>
            <a:ext cx="1719072" cy="1737360"/>
          </a:xfrm>
          <a:prstGeom prst="rect">
            <a:avLst/>
          </a:prstGeom>
          <a:noFill/>
          <a:ln/>
        </p:spPr>
        <p:txBody>
          <a:bodyPr wrap="square" lIns="0" tIns="0" rIns="0" bIns="0" rtlCol="0" anchor="t"/>
          <a:lstStyle/>
          <a:p>
            <a:pPr marL="0" indent="0" algn="ctr">
              <a:lnSpc>
                <a:spcPct val="125000"/>
              </a:lnSpc>
              <a:buNone/>
            </a:pPr>
            <a:r>
              <a:rPr lang="en-US" sz="1050" dirty="0">
                <a:solidFill>
                  <a:srgbClr val="FFFFFF"/>
                </a:solidFill>
                <a:latin typeface="Calibri" pitchFamily="34" charset="0"/>
                <a:ea typeface="Calibri" pitchFamily="34" charset="-122"/>
                <a:cs typeface="Calibri" pitchFamily="34" charset="-120"/>
              </a:rPr>
              <a:t>Mendukung layanan ambulans yang lebih efektif.</a:t>
            </a:r>
            <a:endParaRPr lang="en-US" sz="1050" dirty="0"/>
          </a:p>
        </p:txBody>
      </p:sp>
      <p:sp>
        <p:nvSpPr>
          <p:cNvPr id="23" name="Shape 21"/>
          <p:cNvSpPr/>
          <p:nvPr/>
        </p:nvSpPr>
        <p:spPr>
          <a:xfrm>
            <a:off x="3200400" y="5074920"/>
            <a:ext cx="5760720" cy="0"/>
          </a:xfrm>
          <a:prstGeom prst="line">
            <a:avLst/>
          </a:prstGeom>
          <a:noFill/>
          <a:ln w="19050">
            <a:solidFill>
              <a:srgbClr val="00C2D1"/>
            </a:solidFill>
            <a:prstDash val="solid"/>
          </a:ln>
        </p:spPr>
      </p:sp>
      <p:sp>
        <p:nvSpPr>
          <p:cNvPr id="24" name="Text 22"/>
          <p:cNvSpPr/>
          <p:nvPr/>
        </p:nvSpPr>
        <p:spPr>
          <a:xfrm>
            <a:off x="548640" y="5257800"/>
            <a:ext cx="11064240" cy="548640"/>
          </a:xfrm>
          <a:prstGeom prst="rect">
            <a:avLst/>
          </a:prstGeom>
          <a:noFill/>
          <a:ln/>
        </p:spPr>
        <p:txBody>
          <a:bodyPr wrap="square" lIns="0" tIns="0" rIns="0" bIns="0" rtlCol="0" anchor="ctr"/>
          <a:lstStyle/>
          <a:p>
            <a:pPr marL="0" indent="0" algn="ctr">
              <a:buNone/>
            </a:pPr>
            <a:r>
              <a:rPr lang="en-US" sz="1700" i="1" dirty="0">
                <a:solidFill>
                  <a:srgbClr val="FFFFFF"/>
                </a:solidFill>
                <a:latin typeface="Montserrat" pitchFamily="34" charset="0"/>
                <a:ea typeface="Montserrat" pitchFamily="34" charset="-122"/>
                <a:cs typeface="Montserrat" pitchFamily="34" charset="-120"/>
              </a:rPr>
              <a:t>“From manual monitoring to smarter emergency response.”</a:t>
            </a:r>
            <a:endParaRPr lang="en-US" sz="1700" dirty="0"/>
          </a:p>
        </p:txBody>
      </p:sp>
      <p:sp>
        <p:nvSpPr>
          <p:cNvPr id="25" name="Text 2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AFC2DC"/>
                </a:solidFill>
                <a:latin typeface="Calibri" pitchFamily="34" charset="0"/>
                <a:ea typeface="Calibri" pitchFamily="34" charset="-122"/>
                <a:cs typeface="Calibri" pitchFamily="34" charset="-120"/>
              </a:rPr>
              <a:t>EXECUTIVE SUMMARY</a:t>
            </a:r>
            <a:endParaRPr lang="en-US" sz="900" dirty="0"/>
          </a:p>
        </p:txBody>
      </p:sp>
      <p:sp>
        <p:nvSpPr>
          <p:cNvPr id="26" name="Text 24"/>
          <p:cNvSpPr/>
          <p:nvPr/>
        </p:nvSpPr>
        <p:spPr>
          <a:xfrm>
            <a:off x="10820095" y="6510528"/>
            <a:ext cx="914400" cy="274320"/>
          </a:xfrm>
          <a:prstGeom prst="rect">
            <a:avLst/>
          </a:prstGeom>
          <a:noFill/>
          <a:ln/>
        </p:spPr>
        <p:txBody>
          <a:bodyPr wrap="square" lIns="0" tIns="0" rIns="0" bIns="0" rtlCol="0" anchor="ctr"/>
          <a:lstStyle/>
          <a:p>
            <a:pPr marL="0" indent="0" algn="r">
              <a:buNone/>
            </a:pPr>
            <a:r>
              <a:rPr lang="en-US" sz="900" dirty="0">
                <a:solidFill>
                  <a:srgbClr val="AFC2DC"/>
                </a:solidFill>
                <a:latin typeface="Calibri" pitchFamily="34" charset="0"/>
                <a:ea typeface="Calibri" pitchFamily="34" charset="-122"/>
                <a:cs typeface="Calibri" pitchFamily="34" charset="-120"/>
              </a:rPr>
              <a:t>19 / 20</a:t>
            </a:r>
            <a:endParaRPr lang="en-US" sz="9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E3D"/>
        </a:solidFill>
        <a:effectLst/>
      </p:bgPr>
    </p:bg>
    <p:spTree>
      <p:nvGrpSpPr>
        <p:cNvPr id="1" name=""/>
        <p:cNvGrpSpPr/>
        <p:nvPr/>
      </p:nvGrpSpPr>
      <p:grpSpPr>
        <a:xfrm>
          <a:off x="0" y="0"/>
          <a:ext cx="0" cy="0"/>
          <a:chOff x="0" y="0"/>
          <a:chExt cx="0" cy="0"/>
        </a:xfrm>
      </p:grpSpPr>
      <p:sp>
        <p:nvSpPr>
          <p:cNvPr id="2" name="Shape 0"/>
          <p:cNvSpPr/>
          <p:nvPr/>
        </p:nvSpPr>
        <p:spPr>
          <a:xfrm>
            <a:off x="8595360" y="-1645920"/>
            <a:ext cx="5303520" cy="5303520"/>
          </a:xfrm>
          <a:prstGeom prst="ellipse">
            <a:avLst/>
          </a:prstGeom>
          <a:solidFill>
            <a:srgbClr val="13294B"/>
          </a:solidFill>
          <a:ln/>
        </p:spPr>
      </p:sp>
      <p:sp>
        <p:nvSpPr>
          <p:cNvPr id="3" name="Shape 1"/>
          <p:cNvSpPr/>
          <p:nvPr/>
        </p:nvSpPr>
        <p:spPr>
          <a:xfrm>
            <a:off x="-1463040" y="4206240"/>
            <a:ext cx="4114800" cy="4114800"/>
          </a:xfrm>
          <a:prstGeom prst="ellipse">
            <a:avLst/>
          </a:prstGeom>
          <a:solidFill>
            <a:srgbClr val="13294B"/>
          </a:solidFill>
          <a:ln/>
        </p:spPr>
      </p:sp>
      <p:sp>
        <p:nvSpPr>
          <p:cNvPr id="4" name="Shape 2"/>
          <p:cNvSpPr/>
          <p:nvPr/>
        </p:nvSpPr>
        <p:spPr>
          <a:xfrm>
            <a:off x="5577840" y="1051560"/>
            <a:ext cx="640080" cy="640080"/>
          </a:xfrm>
          <a:prstGeom prst="ellipse">
            <a:avLst/>
          </a:prstGeom>
          <a:ln w="25400">
            <a:solidFill>
              <a:srgbClr val="00C2D1"/>
            </a:solidFill>
            <a:prstDash val="solid"/>
          </a:ln>
        </p:spPr>
      </p:sp>
      <p:sp>
        <p:nvSpPr>
          <p:cNvPr id="5" name="Shape 3"/>
          <p:cNvSpPr/>
          <p:nvPr/>
        </p:nvSpPr>
        <p:spPr>
          <a:xfrm>
            <a:off x="5742432" y="1216152"/>
            <a:ext cx="310896" cy="310896"/>
          </a:xfrm>
          <a:prstGeom prst="ellipse">
            <a:avLst/>
          </a:prstGeom>
          <a:solidFill>
            <a:srgbClr val="00C2D1"/>
          </a:solidFill>
          <a:ln/>
        </p:spPr>
      </p:sp>
      <p:sp>
        <p:nvSpPr>
          <p:cNvPr id="6" name="Text 4"/>
          <p:cNvSpPr/>
          <p:nvPr/>
        </p:nvSpPr>
        <p:spPr>
          <a:xfrm>
            <a:off x="548640" y="1965960"/>
            <a:ext cx="11064240" cy="1005840"/>
          </a:xfrm>
          <a:prstGeom prst="rect">
            <a:avLst/>
          </a:prstGeom>
          <a:noFill/>
          <a:ln/>
        </p:spPr>
        <p:txBody>
          <a:bodyPr wrap="square" lIns="0" tIns="0" rIns="0" bIns="0" rtlCol="0" anchor="ctr"/>
          <a:lstStyle/>
          <a:p>
            <a:pPr marL="0" indent="0" algn="ctr">
              <a:buNone/>
            </a:pPr>
            <a:r>
              <a:rPr lang="en-US" sz="4200" b="1" dirty="0">
                <a:solidFill>
                  <a:srgbClr val="FFFFFF"/>
                </a:solidFill>
                <a:latin typeface="Montserrat" pitchFamily="34" charset="0"/>
                <a:ea typeface="Montserrat" pitchFamily="34" charset="-122"/>
                <a:cs typeface="Montserrat" pitchFamily="34" charset="-120"/>
              </a:rPr>
              <a:t>EVERY SECOND MATTERS.</a:t>
            </a:r>
            <a:endParaRPr lang="en-US" sz="4200" dirty="0"/>
          </a:p>
        </p:txBody>
      </p:sp>
      <p:sp>
        <p:nvSpPr>
          <p:cNvPr id="7" name="Text 5"/>
          <p:cNvSpPr/>
          <p:nvPr/>
        </p:nvSpPr>
        <p:spPr>
          <a:xfrm>
            <a:off x="548640" y="2971800"/>
            <a:ext cx="11064240" cy="457200"/>
          </a:xfrm>
          <a:prstGeom prst="rect">
            <a:avLst/>
          </a:prstGeom>
          <a:noFill/>
          <a:ln/>
        </p:spPr>
        <p:txBody>
          <a:bodyPr wrap="square" lIns="0" tIns="0" rIns="0" bIns="0" rtlCol="0" anchor="ctr"/>
          <a:lstStyle/>
          <a:p>
            <a:pPr marL="0" indent="0" algn="ctr">
              <a:buNone/>
            </a:pPr>
            <a:r>
              <a:rPr lang="en-US" sz="1500" b="1" kern="0" spc="300" dirty="0">
                <a:solidFill>
                  <a:srgbClr val="00C2D1"/>
                </a:solidFill>
                <a:latin typeface="Calibri" pitchFamily="34" charset="0"/>
                <a:ea typeface="Calibri" pitchFamily="34" charset="-122"/>
                <a:cs typeface="Calibri" pitchFamily="34" charset="-120"/>
              </a:rPr>
              <a:t>SMART NEAREST AMBULANCE</a:t>
            </a:r>
            <a:endParaRPr lang="en-US" sz="1500" dirty="0"/>
          </a:p>
        </p:txBody>
      </p:sp>
      <p:sp>
        <p:nvSpPr>
          <p:cNvPr id="8" name="Text 6"/>
          <p:cNvSpPr/>
          <p:nvPr/>
        </p:nvSpPr>
        <p:spPr>
          <a:xfrm>
            <a:off x="548640" y="3474720"/>
            <a:ext cx="11064240" cy="365760"/>
          </a:xfrm>
          <a:prstGeom prst="rect">
            <a:avLst/>
          </a:prstGeom>
          <a:noFill/>
          <a:ln/>
        </p:spPr>
        <p:txBody>
          <a:bodyPr wrap="square" lIns="0" tIns="0" rIns="0" bIns="0" rtlCol="0" anchor="ctr"/>
          <a:lstStyle/>
          <a:p>
            <a:pPr marL="0" indent="0" algn="ctr">
              <a:buNone/>
            </a:pPr>
            <a:r>
              <a:rPr lang="en-US" sz="1300" dirty="0">
                <a:solidFill>
                  <a:srgbClr val="AFC2DC"/>
                </a:solidFill>
                <a:latin typeface="Calibri" pitchFamily="34" charset="0"/>
                <a:ea typeface="Calibri" pitchFamily="34" charset="-122"/>
                <a:cs typeface="Calibri" pitchFamily="34" charset="-120"/>
              </a:rPr>
              <a:t>Monitor  ·  Recommend  ·  Dispatch  ·  Respond</a:t>
            </a:r>
            <a:endParaRPr lang="en-US" sz="1300" dirty="0"/>
          </a:p>
        </p:txBody>
      </p:sp>
      <p:sp>
        <p:nvSpPr>
          <p:cNvPr id="9" name="Shape 7"/>
          <p:cNvSpPr/>
          <p:nvPr/>
        </p:nvSpPr>
        <p:spPr>
          <a:xfrm>
            <a:off x="4480560" y="4343400"/>
            <a:ext cx="3200400" cy="0"/>
          </a:xfrm>
          <a:prstGeom prst="line">
            <a:avLst/>
          </a:prstGeom>
          <a:noFill/>
          <a:ln w="19050">
            <a:solidFill>
              <a:srgbClr val="00C2D1"/>
            </a:solidFill>
            <a:prstDash val="solid"/>
          </a:ln>
        </p:spPr>
      </p:sp>
      <p:sp>
        <p:nvSpPr>
          <p:cNvPr id="10" name="Text 8"/>
          <p:cNvSpPr/>
          <p:nvPr/>
        </p:nvSpPr>
        <p:spPr>
          <a:xfrm>
            <a:off x="2011680" y="4572000"/>
            <a:ext cx="8138160" cy="1005840"/>
          </a:xfrm>
          <a:prstGeom prst="rect">
            <a:avLst/>
          </a:prstGeom>
          <a:noFill/>
          <a:ln/>
        </p:spPr>
        <p:txBody>
          <a:bodyPr wrap="square" lIns="0" tIns="0" rIns="0" bIns="0" rtlCol="0" anchor="ctr"/>
          <a:lstStyle/>
          <a:p>
            <a:pPr marL="0" indent="0" algn="ctr">
              <a:lnSpc>
                <a:spcPct val="130000"/>
              </a:lnSpc>
              <a:buNone/>
            </a:pPr>
            <a:r>
              <a:rPr lang="en-US" sz="1500" i="1" dirty="0">
                <a:solidFill>
                  <a:srgbClr val="FFFFFF"/>
                </a:solidFill>
                <a:latin typeface="Montserrat" pitchFamily="34" charset="0"/>
                <a:ea typeface="Montserrat" pitchFamily="34" charset="-122"/>
                <a:cs typeface="Montserrat" pitchFamily="34" charset="-120"/>
              </a:rPr>
              <a:t>“Ketika keadaan darurat terjadi, informasi yang cepat dan akurat dapat membantu operator menentukan tindakan dengan lebih baik.”</a:t>
            </a:r>
            <a:endParaRPr lang="en-US" sz="1500" dirty="0"/>
          </a:p>
        </p:txBody>
      </p:sp>
      <p:sp>
        <p:nvSpPr>
          <p:cNvPr id="11" name="Text 9"/>
          <p:cNvSpPr/>
          <p:nvPr/>
        </p:nvSpPr>
        <p:spPr>
          <a:xfrm>
            <a:off x="548640" y="6309360"/>
            <a:ext cx="11064240" cy="320040"/>
          </a:xfrm>
          <a:prstGeom prst="rect">
            <a:avLst/>
          </a:prstGeom>
          <a:noFill/>
          <a:ln/>
        </p:spPr>
        <p:txBody>
          <a:bodyPr wrap="square" lIns="0" tIns="0" rIns="0" bIns="0" rtlCol="0" anchor="ctr"/>
          <a:lstStyle/>
          <a:p>
            <a:pPr marL="0" indent="0" algn="ctr">
              <a:buNone/>
            </a:pPr>
            <a:r>
              <a:rPr lang="en-US" sz="1000" dirty="0">
                <a:solidFill>
                  <a:srgbClr val="AFC2DC"/>
                </a:solidFill>
                <a:latin typeface="Calibri" pitchFamily="34" charset="0"/>
                <a:ea typeface="Calibri" pitchFamily="34" charset="-122"/>
                <a:cs typeface="Calibri" pitchFamily="34" charset="-120"/>
              </a:rPr>
              <a:t>Academic Project Presentation — Based on Business Requirements Document</a:t>
            </a: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1585</Words>
  <Application>Microsoft Office PowerPoint</Application>
  <PresentationFormat>Widescreen</PresentationFormat>
  <Paragraphs>399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cp:revision>
  <dcterms:created xsi:type="dcterms:W3CDTF">2026-08-08T03:12:52Z</dcterms:created>
  <dcterms:modified xsi:type="dcterms:W3CDTF">2026-08-08T06:42:07Z</dcterms:modified>
</cp:coreProperties>
</file>